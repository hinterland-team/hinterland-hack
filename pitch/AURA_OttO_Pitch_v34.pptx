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embeddedFontLst>
    <p:embeddedFont>
      <p:font typeface="Segoe UI" panose="020B0502040204020203" pitchFamily="34" charset="0"/>
      <p:regular r:id="rId24"/>
      <p:bold r:id="rId25"/>
      <p:italic r:id="rId26"/>
      <p:boldItalic r:id="rId27"/>
    </p:embeddedFont>
    <p:embeddedFont>
      <p:font typeface="Segoe UI Semibold" panose="020B0702040204020203" pitchFamily="34" charset="0"/>
      <p:bold r:id="rId28"/>
      <p:boldItalic r:id="rId29"/>
    </p:embeddedFont>
    <p:embeddedFont>
      <p:font typeface="Segoe UI Semilight" panose="020B0402040204020203" pitchFamily="34" charset="0"/>
      <p:regular r:id="rId30"/>
      <p:italic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9" d="100"/>
          <a:sy n="149" d="100"/>
        </p:scale>
        <p:origin x="64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 per year</c:v>
                </c:pt>
              </c:strCache>
            </c:strRef>
          </c:tx>
          <c:spPr>
            <a:ln w="44450">
              <a:solidFill>
                <a:srgbClr val="0A0A0A"/>
              </a:solidFill>
            </a:ln>
          </c:spPr>
          <c:marker>
            <c:symbol val="circle"/>
            <c:size val="10"/>
            <c:spPr>
              <a:solidFill>
                <a:srgbClr val="0A0A0A"/>
              </a:solidFill>
              <a:ln>
                <a:solidFill>
                  <a:srgbClr val="FFFFFF"/>
                </a:solidFill>
              </a:ln>
            </c:spPr>
          </c:marker>
          <c:dLbls>
            <c:dLbl>
              <c:idx val="0"/>
              <c:tx>
                <c:rich>
                  <a:bodyPr/>
                  <a:lstStyle/>
                  <a:p>
                    <a:r>
                      <a:rPr sz="1300">
                        <a:solidFill>
                          <a:srgbClr val="0A0A0A"/>
                        </a:solidFill>
                        <a:latin typeface="Segoe UI Semibold"/>
                      </a:rPr>
                      <a:t>€24k</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6D1-44CE-B5AD-BEF58D167496}"/>
                </c:ext>
              </c:extLst>
            </c:dLbl>
            <c:dLbl>
              <c:idx val="1"/>
              <c:tx>
                <c:rich>
                  <a:bodyPr/>
                  <a:lstStyle/>
                  <a:p>
                    <a:r>
                      <a:rPr sz="1300">
                        <a:solidFill>
                          <a:srgbClr val="0A0A0A"/>
                        </a:solidFill>
                        <a:latin typeface="Segoe UI Semibold"/>
                      </a:rPr>
                      <a:t>€120k</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6D1-44CE-B5AD-BEF58D167496}"/>
                </c:ext>
              </c:extLst>
            </c:dLbl>
            <c:dLbl>
              <c:idx val="2"/>
              <c:tx>
                <c:rich>
                  <a:bodyPr/>
                  <a:lstStyle/>
                  <a:p>
                    <a:r>
                      <a:rPr sz="1300">
                        <a:solidFill>
                          <a:srgbClr val="0A0A0A"/>
                        </a:solidFill>
                        <a:latin typeface="Segoe UI Semibold"/>
                      </a:rPr>
                      <a:t>€420k</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6D1-44CE-B5AD-BEF58D167496}"/>
                </c:ext>
              </c:extLst>
            </c:dLbl>
            <c:dLbl>
              <c:idx val="3"/>
              <c:tx>
                <c:rich>
                  <a:bodyPr/>
                  <a:lstStyle/>
                  <a:p>
                    <a:r>
                      <a:rPr sz="1300">
                        <a:solidFill>
                          <a:srgbClr val="0A0A0A"/>
                        </a:solidFill>
                        <a:latin typeface="Segoe UI Semibold"/>
                      </a:rPr>
                      <a:t>€1.1M</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6D1-44CE-B5AD-BEF58D167496}"/>
                </c:ext>
              </c:extLst>
            </c:dLbl>
            <c:dLbl>
              <c:idx val="4"/>
              <c:tx>
                <c:rich>
                  <a:bodyPr/>
                  <a:lstStyle/>
                  <a:p>
                    <a:r>
                      <a:rPr sz="1300">
                        <a:solidFill>
                          <a:srgbClr val="0A0A0A"/>
                        </a:solidFill>
                        <a:latin typeface="Segoe UI Semibold"/>
                      </a:rPr>
                      <a:t>€2.2M</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6D1-44CE-B5AD-BEF58D16749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2027</c:v>
                </c:pt>
                <c:pt idx="1">
                  <c:v>2028</c:v>
                </c:pt>
                <c:pt idx="2">
                  <c:v>2029</c:v>
                </c:pt>
                <c:pt idx="3">
                  <c:v>2030</c:v>
                </c:pt>
                <c:pt idx="4">
                  <c:v>2031</c:v>
                </c:pt>
              </c:strCache>
            </c:strRef>
          </c:cat>
          <c:val>
            <c:numRef>
              <c:f>Sheet1!$B$2:$B$6</c:f>
              <c:numCache>
                <c:formatCode>General</c:formatCode>
                <c:ptCount val="5"/>
                <c:pt idx="0">
                  <c:v>2.4E-2</c:v>
                </c:pt>
                <c:pt idx="1">
                  <c:v>0.12</c:v>
                </c:pt>
                <c:pt idx="2">
                  <c:v>0.42</c:v>
                </c:pt>
                <c:pt idx="3">
                  <c:v>1.08</c:v>
                </c:pt>
                <c:pt idx="4">
                  <c:v>2.2200000000000002</c:v>
                </c:pt>
              </c:numCache>
            </c:numRef>
          </c:val>
          <c:smooth val="1"/>
          <c:extLst>
            <c:ext xmlns:c16="http://schemas.microsoft.com/office/drawing/2014/chart" uri="{C3380CC4-5D6E-409C-BE32-E72D297353CC}">
              <c16:uniqueId val="{00000005-C6D1-44CE-B5AD-BEF58D16749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7C7CC"/>
            </a:solidFill>
          </a:ln>
        </c:spPr>
        <c:txPr>
          <a:bodyPr/>
          <a:lstStyle/>
          <a:p>
            <a:pPr>
              <a:defRPr sz="1200"/>
            </a:pPr>
            <a:endParaRPr lang="en-US"/>
          </a:p>
        </c:txPr>
        <c:crossAx val="2140495176"/>
        <c:crosses val="autoZero"/>
        <c:auto val="1"/>
        <c:lblAlgn val="ctr"/>
        <c:lblOffset val="100"/>
        <c:noMultiLvlLbl val="0"/>
      </c:catAx>
      <c:valAx>
        <c:axId val="2140495176"/>
        <c:scaling>
          <c:orientation val="minMax"/>
          <c:max val="2.6"/>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200">
          <a:solidFill>
            <a:srgbClr val="6E6E73"/>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5371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s) Hi, we are AURA Robotics. Say hello to OttO, your personal hospital guide. Before we start, let's watch this video.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s) [Play it. Say nothing.]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 That was one story. But it's not just one: this happens every single day, in every hospital. Almost half of all patients are over 65. 29 percent of staff have to walk patients to the room themselves, or they get lost. That's about three days a year, per staff member, not spent on care. And the problem is only getting bigger: by 2049, Germany expects a shortage of up to 690,000 nurses. So we can't fix this with more staff. We need something different, something better.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s) Let's look at where exactly it goes wrong. Everything starts at arrival. Either you get very long instructions, or someone has to bring you to the room. If not, you get lost. If the patient is late, the doctor has to wait. And then it repeats, again and again, until you finally find the exit. The whole process is very unpleasant, for the patients and for the staff.</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 s) That's why we built OttO, your companion through the hospital. OttO walks with you, keeps an eye on you, and adjusts its speed to your pace, depending on how you feel. And it doesn't need any of your personal data. One important thing: the nurse at reception decides where you go. OttO only walks with you, like a buddy.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 s) Now the same process, with OttO. No more route to explain: OttO takes over. No nurse has to walk the patient. The doctor knows exactly where the patient is. Then OttO picks you up again for the next department, until you leave the hospital. A very unpleasant experience becomes a pleasant one.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s) And OttO is for everyone. Patients never get lost. Nurses and staff get time back to care for patients. And visitors: when you are sick, you want your family with you. OttO guides them to you.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see the live demo. [Start the robot. Once it's running, go to slide 9.]</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(while the robot runs) So this is how it looks in the hospital. At the information desk, staff assign your room and give you a ticket. Then OttO comes to greet you and guides you to the room at your own pace, the whole way. The doctor knows exactly where you are. After that, OttO guides you to the next department, or out of the hospital.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 s) So what's next? How do we go from hackathon to hospital? In three months, we are pilot-ready: the technology is ready and the regulations are approved. In six months, the first clinical pilot with potential local partners, the hospitals you see here. And then we scale: new regions, new use cases and new functions.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 s) Remember her from the film? With OttO, she isn't lost anymore. Let's make sure your loved ones never walk a hospital alone.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s) This is us. If you're interested, scan the code, and let's talk. Thank you.</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Q&amp;A: example situations. Key line: people decide, OttO walks. OttO never gets personal or clinical data.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Q&amp;A: market, bottom-up. We start in Niedersachsen: 165 hospitals, 2 robots each, 12,000 euros per robot per year: about 4 million euros a year. Germany: 1,841 hospitals, about 44 million euros a year. EU: about 158 million euros a year. Top-down check: hospital wayfinding robots are about one billion dollars worldwide (one market report).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Q&amp;A: growth plan. Illustrative, at 12,000 euros per robot per year: pilot in OWL and Hannover in 2027, first paying clinics in 2028, Niedersachsen and NRW in 2029, Germany in 2030.</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Q&amp;A: go-to-market. Land: in 2027 a pilot with one or two hospitals in OWL and Hannover, potential partners Bethel, Franziskus Hospital, HDZ NRW and MHH, with the nursing directors as champions. Expand: with the pilot results across Niedersachsen and NRW, through hospital associations and purchasing groups. Scale: Germany, then the EU, through sales and service through a robot partner. Robot-as-a-Service: about 1,000 euros per robot per month, no upfront cost.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Q&amp;A: competitor matrix. Signs and apps do not walk with you; escorts cost care time; delivery robots carry goods; guide robots lead the way. Our USP: only OttO walks with you like a person, fits into the clinic process, and needs no staff time and no personal data.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Q&amp;A: positioning. Escorts walk with you but cost care time; robots so far point or lead the way. OttO is top right: walks with you, inside the clinic process.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Q&amp;A: path to approval. There is no single approval for a guide robot. Six steps in three months: intended purpose and MDR qualification, data protection with the hospital's DPO, robot safety, AI Act transparency, hospital sign-off, pilot contract.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Q&amp;A: challenges and how we solve them. Approval: guiding only, six checks with experts. Privacy: no personal data, no video stored. Busy corridors: slow, gives way, takes a detour, calls staff. Acceptance: people decide, OttO walks. Budgets: pilot first, then Robot-as-a-Service.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Q&amp;A only: sources.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21.png"/><Relationship Id="rId3" Type="http://schemas.openxmlformats.org/officeDocument/2006/relationships/image" Target="../media/image17.jpg"/><Relationship Id="rId7" Type="http://schemas.openxmlformats.org/officeDocument/2006/relationships/image" Target="../media/image9.png"/><Relationship Id="rId12"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9.png"/><Relationship Id="rId5" Type="http://schemas.openxmlformats.org/officeDocument/2006/relationships/image" Target="../media/image7.png"/><Relationship Id="rId10" Type="http://schemas.openxmlformats.org/officeDocument/2006/relationships/image" Target="../media/image18.png"/><Relationship Id="rId4" Type="http://schemas.openxmlformats.org/officeDocument/2006/relationships/image" Target="../media/image2.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27.jpg"/><Relationship Id="rId3" Type="http://schemas.microsoft.com/office/2007/relationships/media" Target="../media/media4.mp4"/><Relationship Id="rId7" Type="http://schemas.openxmlformats.org/officeDocument/2006/relationships/image" Target="../media/image2.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video" Target="../media/media4.mp4"/><Relationship Id="rId9" Type="http://schemas.openxmlformats.org/officeDocument/2006/relationships/image" Target="../media/image28.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2.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png"/><Relationship Id="rId7"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16.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VIDEO_o_cover">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pic>
        <p:nvPicPr>
          <p:cNvPr id="3" name="!!navlogo" descr="aura_mark_ink.png"/>
          <p:cNvPicPr>
            <a:picLocks noChangeAspect="1"/>
          </p:cNvPicPr>
          <p:nvPr/>
        </p:nvPicPr>
        <p:blipFill>
          <a:blip r:embed="rId6"/>
          <a:stretch>
            <a:fillRect/>
          </a:stretch>
        </p:blipFill>
        <p:spPr>
          <a:xfrm>
            <a:off x="685800" y="384048"/>
            <a:ext cx="1254874" cy="182880"/>
          </a:xfrm>
          <a:prstGeom prst="rect">
            <a:avLst/>
          </a:prstGeom>
        </p:spPr>
      </p:pic>
      <p:sp>
        <p:nvSpPr>
          <p:cNvPr id="4"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5"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6"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7"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8" name="el1"/>
          <p:cNvSpPr txBox="1"/>
          <p:nvPr/>
        </p:nvSpPr>
        <p:spPr>
          <a:xfrm>
            <a:off x="685800" y="2148840"/>
            <a:ext cx="6400800" cy="274320"/>
          </a:xfrm>
          <a:prstGeom prst="rect">
            <a:avLst/>
          </a:prstGeom>
          <a:noFill/>
        </p:spPr>
        <p:txBody>
          <a:bodyPr wrap="square" lIns="0" tIns="0" rIns="0" bIns="0" anchor="t"/>
          <a:lstStyle/>
          <a:p>
            <a:pPr algn="l"/>
            <a:r>
              <a:rPr sz="1200" b="0">
                <a:solidFill>
                  <a:srgbClr val="6E6E73"/>
                </a:solidFill>
                <a:latin typeface="Segoe UI"/>
              </a:rPr>
              <a:t>AURA Robotics · Hinterland Hack 2026</a:t>
            </a:r>
          </a:p>
        </p:txBody>
      </p:sp>
      <p:sp>
        <p:nvSpPr>
          <p:cNvPr id="9" name="el2"/>
          <p:cNvSpPr txBox="1"/>
          <p:nvPr/>
        </p:nvSpPr>
        <p:spPr>
          <a:xfrm>
            <a:off x="640080" y="2468880"/>
            <a:ext cx="6858000" cy="1188720"/>
          </a:xfrm>
          <a:prstGeom prst="rect">
            <a:avLst/>
          </a:prstGeom>
          <a:noFill/>
        </p:spPr>
        <p:txBody>
          <a:bodyPr wrap="square" lIns="0" tIns="0" rIns="0" bIns="0" anchor="t"/>
          <a:lstStyle/>
          <a:p>
            <a:pPr algn="l">
              <a:lnSpc>
                <a:spcPct val="95000"/>
              </a:lnSpc>
            </a:pPr>
            <a:r>
              <a:rPr sz="8000" b="0">
                <a:solidFill>
                  <a:srgbClr val="0A0A0A"/>
                </a:solidFill>
                <a:latin typeface="Segoe UI"/>
              </a:rPr>
              <a:t>OttO</a:t>
            </a:r>
          </a:p>
        </p:txBody>
      </p:sp>
      <p:sp>
        <p:nvSpPr>
          <p:cNvPr id="10" name="el3"/>
          <p:cNvSpPr txBox="1"/>
          <p:nvPr/>
        </p:nvSpPr>
        <p:spPr>
          <a:xfrm>
            <a:off x="685800" y="3703320"/>
            <a:ext cx="5486400" cy="1097280"/>
          </a:xfrm>
          <a:prstGeom prst="rect">
            <a:avLst/>
          </a:prstGeom>
          <a:noFill/>
        </p:spPr>
        <p:txBody>
          <a:bodyPr wrap="square" lIns="0" tIns="0" rIns="0" bIns="0" anchor="t"/>
          <a:lstStyle/>
          <a:p>
            <a:pPr algn="l">
              <a:lnSpc>
                <a:spcPct val="102000"/>
              </a:lnSpc>
            </a:pPr>
            <a:r>
              <a:rPr sz="2600" b="0">
                <a:solidFill>
                  <a:srgbClr val="0A0A0A"/>
                </a:solidFill>
                <a:latin typeface="Segoe UI"/>
              </a:rPr>
              <a:t>Your personal</a:t>
            </a:r>
          </a:p>
          <a:p>
            <a:pPr algn="l">
              <a:lnSpc>
                <a:spcPct val="102000"/>
              </a:lnSpc>
            </a:pPr>
            <a:r>
              <a:rPr sz="2600" b="0">
                <a:solidFill>
                  <a:srgbClr val="8E8E93"/>
                </a:solidFill>
                <a:latin typeface="Segoe UI"/>
              </a:rPr>
              <a:t>hospital guide.</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000" fill="hold"/>
                                        <p:tgtEl>
                                          <p:spTgt spid="2"/>
                                        </p:tgtEl>
                                      </p:cBhvr>
                                    </p:cmd>
                                  </p:childTnLst>
                                </p:cTn>
                              </p:par>
                            </p:childTnLst>
                          </p:cTn>
                        </p:par>
                        <p:par>
                          <p:cTn id="7" fill="hold">
                            <p:stCondLst>
                              <p:cond delay="10000"/>
                            </p:stCondLst>
                            <p:childTnLst>
                              <p:par>
                                <p:cTn id="8" presetID="10" presetClass="entr" presetSubtype="0" fill="hold" grpId="0" nodeType="after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50"/>
                                        <p:tgtEl>
                                          <p:spTgt spid="8"/>
                                        </p:tgtEl>
                                      </p:cBhvr>
                                    </p:animEffect>
                                  </p:childTnLst>
                                </p:cTn>
                              </p:par>
                            </p:childTnLst>
                          </p:cTn>
                        </p:par>
                        <p:par>
                          <p:cTn id="11" fill="hold">
                            <p:stCondLst>
                              <p:cond delay="10500"/>
                            </p:stCondLst>
                            <p:childTnLst>
                              <p:par>
                                <p:cTn id="12" presetID="42" presetClass="entr" presetSubtype="0" fill="hold" grpId="0" nodeType="afterEffect">
                                  <p:stCondLst>
                                    <p:cond delay="5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250"/>
                                        <p:tgtEl>
                                          <p:spTgt spid="9"/>
                                        </p:tgtEl>
                                      </p:cBhvr>
                                    </p:animEffect>
                                    <p:anim calcmode="lin" valueType="num">
                                      <p:cBhvr>
                                        <p:cTn id="15" dur="250" fill="hold"/>
                                        <p:tgtEl>
                                          <p:spTgt spid="9"/>
                                        </p:tgtEl>
                                        <p:attrNameLst>
                                          <p:attrName>ppt_x</p:attrName>
                                        </p:attrNameLst>
                                      </p:cBhvr>
                                      <p:tavLst>
                                        <p:tav tm="0">
                                          <p:val>
                                            <p:strVal val="#ppt_x"/>
                                          </p:val>
                                        </p:tav>
                                        <p:tav tm="100000">
                                          <p:val>
                                            <p:strVal val="#ppt_x"/>
                                          </p:val>
                                        </p:tav>
                                      </p:tavLst>
                                    </p:anim>
                                    <p:anim calcmode="lin" valueType="num">
                                      <p:cBhvr>
                                        <p:cTn id="16" dur="250" fill="hold"/>
                                        <p:tgtEl>
                                          <p:spTgt spid="9"/>
                                        </p:tgtEl>
                                        <p:attrNameLst>
                                          <p:attrName>ppt_y</p:attrName>
                                        </p:attrNameLst>
                                      </p:cBhvr>
                                      <p:tavLst>
                                        <p:tav tm="0">
                                          <p:val>
                                            <p:strVal val="#ppt_y+.1"/>
                                          </p:val>
                                        </p:tav>
                                        <p:tav tm="100000">
                                          <p:val>
                                            <p:strVal val="#ppt_y"/>
                                          </p:val>
                                        </p:tav>
                                      </p:tavLst>
                                    </p:anim>
                                  </p:childTnLst>
                                </p:cTn>
                              </p:par>
                            </p:childTnLst>
                          </p:cTn>
                        </p:par>
                        <p:par>
                          <p:cTn id="17" fill="hold">
                            <p:stCondLst>
                              <p:cond delay="10800"/>
                            </p:stCondLst>
                            <p:childTnLst>
                              <p:par>
                                <p:cTn id="18" presetID="42" presetClass="entr" presetSubtype="0" fill="hold" grpId="0" nodeType="afterEffect">
                                  <p:stCondLst>
                                    <p:cond delay="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250"/>
                                        <p:tgtEl>
                                          <p:spTgt spid="10"/>
                                        </p:tgtEl>
                                      </p:cBhvr>
                                    </p:animEffect>
                                    <p:anim calcmode="lin" valueType="num">
                                      <p:cBhvr>
                                        <p:cTn id="21" dur="250" fill="hold"/>
                                        <p:tgtEl>
                                          <p:spTgt spid="10"/>
                                        </p:tgtEl>
                                        <p:attrNameLst>
                                          <p:attrName>ppt_x</p:attrName>
                                        </p:attrNameLst>
                                      </p:cBhvr>
                                      <p:tavLst>
                                        <p:tav tm="0">
                                          <p:val>
                                            <p:strVal val="#ppt_x"/>
                                          </p:val>
                                        </p:tav>
                                        <p:tav tm="100000">
                                          <p:val>
                                            <p:strVal val="#ppt_x"/>
                                          </p:val>
                                        </p:tav>
                                      </p:tavLst>
                                    </p:anim>
                                    <p:anim calcmode="lin" valueType="num">
                                      <p:cBhvr>
                                        <p:cTn id="22" dur="2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3" repeatCount="indefinite" fill="remove" display="0">
                  <p:stCondLst>
                    <p:cond delay="indefinite"/>
                  </p:stCondLst>
                </p:cTn>
                <p:tgtEl>
                  <p:spTgt spid="2"/>
                </p:tgtEl>
              </p:cMediaNode>
            </p:video>
            <p:seq concurrent="1" nextAc="seek">
              <p:cTn id="24" restart="whenNotActive" fill="hold" evtFilter="cancelBubble" nodeType="interactiveSeq">
                <p:stCondLst>
                  <p:cond evt="onClick" delay="0">
                    <p:tgtEl>
                      <p:spTgt spid="2"/>
                    </p:tgtEl>
                  </p:cond>
                </p:stCondLst>
                <p:endSync evt="end" delay="0">
                  <p:rtn val="all"/>
                </p:endSync>
                <p:childTnLst>
                  <p:par>
                    <p:cTn id="25" fill="hold">
                      <p:stCondLst>
                        <p:cond delay="0"/>
                      </p:stCondLst>
                      <p:childTnLst>
                        <p:par>
                          <p:cTn id="26" fill="hold">
                            <p:stCondLst>
                              <p:cond delay="0"/>
                            </p:stCondLst>
                            <p:childTnLst>
                              <p:par>
                                <p:cTn id="27" presetID="2" presetClass="mediacall" presetSubtype="0" fill="hold" nodeType="clickEffect">
                                  <p:stCondLst>
                                    <p:cond delay="0"/>
                                  </p:stCondLst>
                                  <p:childTnLst>
                                    <p:cmd type="call" cmd="togglePause">
                                      <p:cBhvr>
                                        <p:cTn id="28" dur="1" fill="hold"/>
                                        <p:tgtEl>
                                          <p:spTgt spid="2"/>
                                        </p:tgtEl>
                                      </p:cBhvr>
                                    </p:cmd>
                                  </p:childTnLst>
                                </p:cTn>
                              </p:par>
                            </p:childTnLst>
                          </p:cTn>
                        </p:par>
                      </p:childTnLst>
                    </p:cTn>
                  </p:par>
                </p:childTnLst>
              </p:cTn>
              <p:nextCondLst>
                <p:cond evt="onClick" delay="0">
                  <p:tgtEl>
                    <p:spTgt spid="2"/>
                  </p:tgtEl>
                </p:cond>
              </p:nextCondLst>
            </p:seq>
          </p:childTnLst>
        </p:cTn>
      </p:par>
    </p:tnLst>
    <p:bldLst>
      <p:bldP spid="8" grpId="0"/>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VIDEO_SOUND_intro_film">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6"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0A0A0A"/>
                </a:solidFill>
                <a:latin typeface="Segoe UI Semibold"/>
              </a:rPr>
              <a:t>Problem</a:t>
            </a:r>
          </a:p>
        </p:txBody>
      </p:sp>
      <p:sp>
        <p:nvSpPr>
          <p:cNvPr id="7" name="!!navline"/>
          <p:cNvSpPr/>
          <p:nvPr/>
        </p:nvSpPr>
        <p:spPr>
          <a:xfrm>
            <a:off x="8195767" y="621792"/>
            <a:ext cx="548640" cy="2286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age"/>
          <p:cNvSpPr txBox="1"/>
          <p:nvPr/>
        </p:nvSpPr>
        <p:spPr>
          <a:xfrm>
            <a:off x="10591495" y="6355080"/>
            <a:ext cx="914400" cy="228600"/>
          </a:xfrm>
          <a:prstGeom prst="rect">
            <a:avLst/>
          </a:prstGeom>
          <a:noFill/>
        </p:spPr>
        <p:txBody>
          <a:bodyPr wrap="square" lIns="0" tIns="0" rIns="0" bIns="0" anchor="t"/>
          <a:lstStyle/>
          <a:p>
            <a:pPr algn="r"/>
            <a:r>
              <a:rPr sz="900" b="0">
                <a:solidFill>
                  <a:srgbClr val="6E6E73"/>
                </a:solidFill>
                <a:latin typeface="Segoe UI"/>
              </a:rPr>
              <a:t>03</a:t>
            </a:r>
          </a:p>
        </p:txBody>
      </p:sp>
      <p:sp>
        <p:nvSpPr>
          <p:cNvPr id="9" name="el4"/>
          <p:cNvSpPr txBox="1"/>
          <p:nvPr/>
        </p:nvSpPr>
        <p:spPr>
          <a:xfrm>
            <a:off x="685800" y="914400"/>
            <a:ext cx="10515600" cy="548640"/>
          </a:xfrm>
          <a:prstGeom prst="rect">
            <a:avLst/>
          </a:prstGeom>
          <a:noFill/>
        </p:spPr>
        <p:txBody>
          <a:bodyPr wrap="square" lIns="0" tIns="0" rIns="0" bIns="0" anchor="t"/>
          <a:lstStyle/>
          <a:p>
            <a:pPr algn="l">
              <a:lnSpc>
                <a:spcPct val="102000"/>
              </a:lnSpc>
            </a:pPr>
            <a:r>
              <a:rPr sz="2800" b="0">
                <a:solidFill>
                  <a:srgbClr val="0A0A0A"/>
                </a:solidFill>
                <a:latin typeface="Segoe UI"/>
              </a:rPr>
              <a:t>Not just one story. </a:t>
            </a:r>
            <a:r>
              <a:rPr sz="2800" b="0">
                <a:solidFill>
                  <a:srgbClr val="8E8E93"/>
                </a:solidFill>
                <a:latin typeface="Segoe UI"/>
              </a:rPr>
              <a:t>It happens every day.</a:t>
            </a:r>
          </a:p>
        </p:txBody>
      </p:sp>
      <p:pic>
        <p:nvPicPr>
          <p:cNvPr id="10" name="el5" descr="donut47.png"/>
          <p:cNvPicPr>
            <a:picLocks noChangeAspect="1"/>
          </p:cNvPicPr>
          <p:nvPr/>
        </p:nvPicPr>
        <p:blipFill>
          <a:blip r:embed="rId4"/>
          <a:stretch>
            <a:fillRect/>
          </a:stretch>
        </p:blipFill>
        <p:spPr>
          <a:xfrm>
            <a:off x="777240" y="1691640"/>
            <a:ext cx="1874519" cy="1874519"/>
          </a:xfrm>
          <a:prstGeom prst="rect">
            <a:avLst/>
          </a:prstGeom>
        </p:spPr>
      </p:pic>
      <p:sp>
        <p:nvSpPr>
          <p:cNvPr id="11" name="el6"/>
          <p:cNvSpPr txBox="1"/>
          <p:nvPr/>
        </p:nvSpPr>
        <p:spPr>
          <a:xfrm>
            <a:off x="777240" y="1691640"/>
            <a:ext cx="1874519" cy="1874519"/>
          </a:xfrm>
          <a:prstGeom prst="rect">
            <a:avLst/>
          </a:prstGeom>
          <a:noFill/>
        </p:spPr>
        <p:txBody>
          <a:bodyPr wrap="square" lIns="0" tIns="0" rIns="0" bIns="0" anchor="ctr"/>
          <a:lstStyle/>
          <a:p>
            <a:pPr algn="ctr"/>
            <a:r>
              <a:rPr sz="2600" b="0">
                <a:solidFill>
                  <a:srgbClr val="8E8E93"/>
                </a:solidFill>
                <a:latin typeface="Segoe UI"/>
              </a:rPr>
              <a:t>65+</a:t>
            </a:r>
          </a:p>
        </p:txBody>
      </p:sp>
      <p:sp>
        <p:nvSpPr>
          <p:cNvPr id="12" name="el7"/>
          <p:cNvSpPr txBox="1"/>
          <p:nvPr/>
        </p:nvSpPr>
        <p:spPr>
          <a:xfrm>
            <a:off x="777240" y="3703320"/>
            <a:ext cx="3332378" cy="685800"/>
          </a:xfrm>
          <a:prstGeom prst="rect">
            <a:avLst/>
          </a:prstGeom>
          <a:noFill/>
        </p:spPr>
        <p:txBody>
          <a:bodyPr wrap="square" lIns="0" tIns="0" rIns="0" bIns="0" anchor="t"/>
          <a:lstStyle/>
          <a:p>
            <a:pPr algn="l"/>
            <a:r>
              <a:rPr sz="4400" b="0">
                <a:solidFill>
                  <a:srgbClr val="0A0A0A"/>
                </a:solidFill>
                <a:latin typeface="Segoe UI Semilight"/>
              </a:rPr>
              <a:t>47 %</a:t>
            </a:r>
          </a:p>
        </p:txBody>
      </p:sp>
      <p:sp>
        <p:nvSpPr>
          <p:cNvPr id="13" name="el8"/>
          <p:cNvSpPr txBox="1"/>
          <p:nvPr/>
        </p:nvSpPr>
        <p:spPr>
          <a:xfrm>
            <a:off x="777240" y="4416552"/>
            <a:ext cx="3240938" cy="640080"/>
          </a:xfrm>
          <a:prstGeom prst="rect">
            <a:avLst/>
          </a:prstGeom>
          <a:noFill/>
        </p:spPr>
        <p:txBody>
          <a:bodyPr wrap="square" lIns="0" tIns="0" rIns="0" bIns="0" anchor="t"/>
          <a:lstStyle/>
          <a:p>
            <a:pPr algn="l">
              <a:lnSpc>
                <a:spcPct val="110000"/>
              </a:lnSpc>
            </a:pPr>
            <a:r>
              <a:rPr sz="1300" b="0">
                <a:solidFill>
                  <a:srgbClr val="6E6E73"/>
                </a:solidFill>
                <a:latin typeface="Segoe UI"/>
              </a:rPr>
              <a:t>of hospital patients are over 65</a:t>
            </a:r>
          </a:p>
        </p:txBody>
      </p:sp>
      <p:sp>
        <p:nvSpPr>
          <p:cNvPr id="14" name="el9"/>
          <p:cNvSpPr/>
          <p:nvPr/>
        </p:nvSpPr>
        <p:spPr>
          <a:xfrm>
            <a:off x="4527133" y="1938528"/>
            <a:ext cx="243961" cy="243961"/>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el10"/>
          <p:cNvSpPr/>
          <p:nvPr/>
        </p:nvSpPr>
        <p:spPr>
          <a:xfrm>
            <a:off x="4383938" y="2214311"/>
            <a:ext cx="530352" cy="254568"/>
          </a:xfrm>
          <a:prstGeom prst="round2SameRect">
            <a:avLst>
              <a:gd name="adj1" fmla="val 50000"/>
              <a:gd name="adj2" fmla="val 0"/>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el11"/>
          <p:cNvSpPr/>
          <p:nvPr/>
        </p:nvSpPr>
        <p:spPr>
          <a:xfrm>
            <a:off x="5222077" y="1938528"/>
            <a:ext cx="243961" cy="243961"/>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el12"/>
          <p:cNvSpPr/>
          <p:nvPr/>
        </p:nvSpPr>
        <p:spPr>
          <a:xfrm>
            <a:off x="5078882" y="2214311"/>
            <a:ext cx="530352" cy="254568"/>
          </a:xfrm>
          <a:prstGeom prst="round2SameRect">
            <a:avLst>
              <a:gd name="adj1" fmla="val 50000"/>
              <a:gd name="adj2" fmla="val 0"/>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el13"/>
          <p:cNvSpPr/>
          <p:nvPr/>
        </p:nvSpPr>
        <p:spPr>
          <a:xfrm>
            <a:off x="5917021" y="1938528"/>
            <a:ext cx="243961" cy="243961"/>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el14"/>
          <p:cNvSpPr/>
          <p:nvPr/>
        </p:nvSpPr>
        <p:spPr>
          <a:xfrm>
            <a:off x="5773826" y="2214311"/>
            <a:ext cx="530352" cy="254568"/>
          </a:xfrm>
          <a:prstGeom prst="round2SameRect">
            <a:avLst>
              <a:gd name="adj1" fmla="val 50000"/>
              <a:gd name="adj2" fmla="val 0"/>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el15"/>
          <p:cNvSpPr/>
          <p:nvPr/>
        </p:nvSpPr>
        <p:spPr>
          <a:xfrm>
            <a:off x="6611965" y="1938528"/>
            <a:ext cx="243961" cy="243961"/>
          </a:xfrm>
          <a:prstGeom prst="ellipse">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el16"/>
          <p:cNvSpPr/>
          <p:nvPr/>
        </p:nvSpPr>
        <p:spPr>
          <a:xfrm>
            <a:off x="6468770" y="2214311"/>
            <a:ext cx="530352" cy="254568"/>
          </a:xfrm>
          <a:prstGeom prst="round2SameRect">
            <a:avLst>
              <a:gd name="adj1" fmla="val 50000"/>
              <a:gd name="adj2" fmla="val 0"/>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el17"/>
          <p:cNvSpPr/>
          <p:nvPr/>
        </p:nvSpPr>
        <p:spPr>
          <a:xfrm>
            <a:off x="7306909" y="1938528"/>
            <a:ext cx="243961" cy="243961"/>
          </a:xfrm>
          <a:prstGeom prst="ellipse">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el18"/>
          <p:cNvSpPr/>
          <p:nvPr/>
        </p:nvSpPr>
        <p:spPr>
          <a:xfrm>
            <a:off x="7163714" y="2214311"/>
            <a:ext cx="530352" cy="254568"/>
          </a:xfrm>
          <a:prstGeom prst="round2SameRect">
            <a:avLst>
              <a:gd name="adj1" fmla="val 50000"/>
              <a:gd name="adj2" fmla="val 0"/>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el19"/>
          <p:cNvSpPr/>
          <p:nvPr/>
        </p:nvSpPr>
        <p:spPr>
          <a:xfrm>
            <a:off x="4527133" y="2788920"/>
            <a:ext cx="243961" cy="243961"/>
          </a:xfrm>
          <a:prstGeom prst="ellipse">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el20"/>
          <p:cNvSpPr/>
          <p:nvPr/>
        </p:nvSpPr>
        <p:spPr>
          <a:xfrm>
            <a:off x="4383938" y="3064703"/>
            <a:ext cx="530352" cy="254568"/>
          </a:xfrm>
          <a:prstGeom prst="round2SameRect">
            <a:avLst>
              <a:gd name="adj1" fmla="val 50000"/>
              <a:gd name="adj2" fmla="val 0"/>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el21"/>
          <p:cNvSpPr/>
          <p:nvPr/>
        </p:nvSpPr>
        <p:spPr>
          <a:xfrm>
            <a:off x="5222077" y="2788920"/>
            <a:ext cx="243961" cy="243961"/>
          </a:xfrm>
          <a:prstGeom prst="ellipse">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el22"/>
          <p:cNvSpPr/>
          <p:nvPr/>
        </p:nvSpPr>
        <p:spPr>
          <a:xfrm>
            <a:off x="5078882" y="3064703"/>
            <a:ext cx="530352" cy="254568"/>
          </a:xfrm>
          <a:prstGeom prst="round2SameRect">
            <a:avLst>
              <a:gd name="adj1" fmla="val 50000"/>
              <a:gd name="adj2" fmla="val 0"/>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el23"/>
          <p:cNvSpPr/>
          <p:nvPr/>
        </p:nvSpPr>
        <p:spPr>
          <a:xfrm>
            <a:off x="5917021" y="2788920"/>
            <a:ext cx="243961" cy="243961"/>
          </a:xfrm>
          <a:prstGeom prst="ellipse">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el24"/>
          <p:cNvSpPr/>
          <p:nvPr/>
        </p:nvSpPr>
        <p:spPr>
          <a:xfrm>
            <a:off x="5773826" y="3064703"/>
            <a:ext cx="530352" cy="254568"/>
          </a:xfrm>
          <a:prstGeom prst="round2SameRect">
            <a:avLst>
              <a:gd name="adj1" fmla="val 50000"/>
              <a:gd name="adj2" fmla="val 0"/>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el25"/>
          <p:cNvSpPr/>
          <p:nvPr/>
        </p:nvSpPr>
        <p:spPr>
          <a:xfrm>
            <a:off x="6611965" y="2788920"/>
            <a:ext cx="243961" cy="243961"/>
          </a:xfrm>
          <a:prstGeom prst="ellipse">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el26"/>
          <p:cNvSpPr/>
          <p:nvPr/>
        </p:nvSpPr>
        <p:spPr>
          <a:xfrm>
            <a:off x="6468770" y="3064703"/>
            <a:ext cx="530352" cy="254568"/>
          </a:xfrm>
          <a:prstGeom prst="round2SameRect">
            <a:avLst>
              <a:gd name="adj1" fmla="val 50000"/>
              <a:gd name="adj2" fmla="val 0"/>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el27"/>
          <p:cNvSpPr/>
          <p:nvPr/>
        </p:nvSpPr>
        <p:spPr>
          <a:xfrm>
            <a:off x="7306909" y="2788920"/>
            <a:ext cx="243961" cy="243961"/>
          </a:xfrm>
          <a:prstGeom prst="ellipse">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el28"/>
          <p:cNvSpPr/>
          <p:nvPr/>
        </p:nvSpPr>
        <p:spPr>
          <a:xfrm>
            <a:off x="7163714" y="3064703"/>
            <a:ext cx="530352" cy="254568"/>
          </a:xfrm>
          <a:prstGeom prst="round2SameRect">
            <a:avLst>
              <a:gd name="adj1" fmla="val 50000"/>
              <a:gd name="adj2" fmla="val 0"/>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el29"/>
          <p:cNvSpPr txBox="1"/>
          <p:nvPr/>
        </p:nvSpPr>
        <p:spPr>
          <a:xfrm>
            <a:off x="4383938" y="3703320"/>
            <a:ext cx="3332378" cy="685800"/>
          </a:xfrm>
          <a:prstGeom prst="rect">
            <a:avLst/>
          </a:prstGeom>
          <a:noFill/>
        </p:spPr>
        <p:txBody>
          <a:bodyPr wrap="square" lIns="0" tIns="0" rIns="0" bIns="0" anchor="t"/>
          <a:lstStyle/>
          <a:p>
            <a:pPr algn="l"/>
            <a:r>
              <a:rPr sz="4400" b="0">
                <a:solidFill>
                  <a:srgbClr val="0A0A0A"/>
                </a:solidFill>
                <a:latin typeface="Segoe UI Semilight"/>
              </a:rPr>
              <a:t>29 %</a:t>
            </a:r>
          </a:p>
        </p:txBody>
      </p:sp>
      <p:sp>
        <p:nvSpPr>
          <p:cNvPr id="35" name="el30"/>
          <p:cNvSpPr txBox="1"/>
          <p:nvPr/>
        </p:nvSpPr>
        <p:spPr>
          <a:xfrm>
            <a:off x="4383938" y="4416552"/>
            <a:ext cx="3240938" cy="640080"/>
          </a:xfrm>
          <a:prstGeom prst="rect">
            <a:avLst/>
          </a:prstGeom>
          <a:noFill/>
        </p:spPr>
        <p:txBody>
          <a:bodyPr wrap="square" lIns="0" tIns="0" rIns="0" bIns="0" anchor="t"/>
          <a:lstStyle/>
          <a:p>
            <a:pPr algn="l">
              <a:lnSpc>
                <a:spcPct val="110000"/>
              </a:lnSpc>
            </a:pPr>
            <a:r>
              <a:rPr sz="1300" b="0">
                <a:solidFill>
                  <a:srgbClr val="6E6E73"/>
                </a:solidFill>
                <a:latin typeface="Segoe UI"/>
              </a:rPr>
              <a:t>of staff walk lost patients to the room</a:t>
            </a:r>
          </a:p>
        </p:txBody>
      </p:sp>
      <p:pic>
        <p:nvPicPr>
          <p:cNvPr id="36" name="el31" descr="clock30.png"/>
          <p:cNvPicPr>
            <a:picLocks noChangeAspect="1"/>
          </p:cNvPicPr>
          <p:nvPr/>
        </p:nvPicPr>
        <p:blipFill>
          <a:blip r:embed="rId5"/>
          <a:stretch>
            <a:fillRect/>
          </a:stretch>
        </p:blipFill>
        <p:spPr>
          <a:xfrm>
            <a:off x="7990636" y="1691640"/>
            <a:ext cx="1874519" cy="1874519"/>
          </a:xfrm>
          <a:prstGeom prst="rect">
            <a:avLst/>
          </a:prstGeom>
        </p:spPr>
      </p:pic>
      <p:sp>
        <p:nvSpPr>
          <p:cNvPr id="37" name="el32"/>
          <p:cNvSpPr txBox="1"/>
          <p:nvPr/>
        </p:nvSpPr>
        <p:spPr>
          <a:xfrm>
            <a:off x="7990636" y="3703320"/>
            <a:ext cx="3332378" cy="685800"/>
          </a:xfrm>
          <a:prstGeom prst="rect">
            <a:avLst/>
          </a:prstGeom>
          <a:noFill/>
        </p:spPr>
        <p:txBody>
          <a:bodyPr wrap="square" lIns="0" tIns="0" rIns="0" bIns="0" anchor="t"/>
          <a:lstStyle/>
          <a:p>
            <a:pPr algn="l"/>
            <a:r>
              <a:rPr sz="4400" b="0">
                <a:solidFill>
                  <a:srgbClr val="0A0A0A"/>
                </a:solidFill>
                <a:latin typeface="Segoe UI Semilight"/>
              </a:rPr>
              <a:t>3 days</a:t>
            </a:r>
          </a:p>
        </p:txBody>
      </p:sp>
      <p:sp>
        <p:nvSpPr>
          <p:cNvPr id="38" name="el33"/>
          <p:cNvSpPr txBox="1"/>
          <p:nvPr/>
        </p:nvSpPr>
        <p:spPr>
          <a:xfrm>
            <a:off x="7990636" y="4416552"/>
            <a:ext cx="3240938" cy="640080"/>
          </a:xfrm>
          <a:prstGeom prst="rect">
            <a:avLst/>
          </a:prstGeom>
          <a:noFill/>
        </p:spPr>
        <p:txBody>
          <a:bodyPr wrap="square" lIns="0" tIns="0" rIns="0" bIns="0" anchor="t"/>
          <a:lstStyle/>
          <a:p>
            <a:pPr algn="l">
              <a:lnSpc>
                <a:spcPct val="110000"/>
              </a:lnSpc>
            </a:pPr>
            <a:r>
              <a:rPr sz="1300" b="0">
                <a:solidFill>
                  <a:srgbClr val="6E6E73"/>
                </a:solidFill>
                <a:latin typeface="Segoe UI"/>
              </a:rPr>
              <a:t>a year per staff member, not spent on care</a:t>
            </a:r>
          </a:p>
        </p:txBody>
      </p:sp>
      <p:sp>
        <p:nvSpPr>
          <p:cNvPr id="39" name="el34"/>
          <p:cNvSpPr/>
          <p:nvPr/>
        </p:nvSpPr>
        <p:spPr>
          <a:xfrm>
            <a:off x="685800" y="5074920"/>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el35"/>
          <p:cNvSpPr txBox="1"/>
          <p:nvPr/>
        </p:nvSpPr>
        <p:spPr>
          <a:xfrm>
            <a:off x="685800" y="5138928"/>
            <a:ext cx="3840480" cy="960120"/>
          </a:xfrm>
          <a:prstGeom prst="rect">
            <a:avLst/>
          </a:prstGeom>
          <a:noFill/>
        </p:spPr>
        <p:txBody>
          <a:bodyPr wrap="square" lIns="0" tIns="0" rIns="0" bIns="0" anchor="ctr"/>
          <a:lstStyle/>
          <a:p>
            <a:pPr algn="l"/>
            <a:r>
              <a:rPr sz="2400" b="0">
                <a:solidFill>
                  <a:srgbClr val="0A0A0A"/>
                </a:solidFill>
                <a:latin typeface="Segoe UI Semilight"/>
              </a:rPr>
              <a:t>Up to </a:t>
            </a:r>
            <a:r>
              <a:rPr sz="6000" b="1">
                <a:solidFill>
                  <a:srgbClr val="E5484D"/>
                </a:solidFill>
                <a:latin typeface="Segoe UI"/>
              </a:rPr>
              <a:t>690,000</a:t>
            </a:r>
          </a:p>
        </p:txBody>
      </p:sp>
      <p:sp>
        <p:nvSpPr>
          <p:cNvPr id="41" name="el36"/>
          <p:cNvSpPr txBox="1"/>
          <p:nvPr/>
        </p:nvSpPr>
        <p:spPr>
          <a:xfrm>
            <a:off x="4526280" y="5138928"/>
            <a:ext cx="6979615" cy="960120"/>
          </a:xfrm>
          <a:prstGeom prst="rect">
            <a:avLst/>
          </a:prstGeom>
          <a:noFill/>
        </p:spPr>
        <p:txBody>
          <a:bodyPr wrap="square" lIns="0" tIns="0" rIns="0" bIns="0" anchor="ctr"/>
          <a:lstStyle/>
          <a:p>
            <a:pPr algn="l">
              <a:lnSpc>
                <a:spcPct val="100000"/>
              </a:lnSpc>
            </a:pPr>
            <a:r>
              <a:rPr sz="2400" b="0">
                <a:solidFill>
                  <a:srgbClr val="0A0A0A"/>
                </a:solidFill>
                <a:latin typeface="Segoe UI"/>
              </a:rPr>
              <a:t>nurses: the projected shortage</a:t>
            </a:r>
          </a:p>
          <a:p>
            <a:pPr algn="l">
              <a:lnSpc>
                <a:spcPct val="100000"/>
              </a:lnSpc>
            </a:pPr>
            <a:r>
              <a:rPr sz="2400" b="0">
                <a:solidFill>
                  <a:srgbClr val="8E8E93"/>
                </a:solidFill>
                <a:latin typeface="Segoe UI"/>
              </a:rPr>
              <a:t>in Germany by 2049.</a:t>
            </a:r>
          </a:p>
        </p:txBody>
      </p:sp>
      <p:sp>
        <p:nvSpPr>
          <p:cNvPr id="42" name="TextBox 41"/>
          <p:cNvSpPr txBox="1"/>
          <p:nvPr/>
        </p:nvSpPr>
        <p:spPr>
          <a:xfrm>
            <a:off x="685800" y="6355080"/>
            <a:ext cx="9784080" cy="320040"/>
          </a:xfrm>
          <a:prstGeom prst="rect">
            <a:avLst/>
          </a:prstGeom>
          <a:noFill/>
        </p:spPr>
        <p:txBody>
          <a:bodyPr wrap="square" lIns="0" tIns="0" rIns="0" bIns="0" anchor="t"/>
          <a:lstStyle/>
          <a:p>
            <a:pPr algn="l"/>
            <a:r>
              <a:rPr sz="800" b="0">
                <a:solidFill>
                  <a:srgbClr val="6E6E73"/>
                </a:solidFill>
                <a:latin typeface="Segoe UI"/>
              </a:rPr>
              <a:t>Destatis 2024 (65+: own calculation) · Jamshidi et al., HERD 2025, 301 US hospital staff (3 days: 31.8 min/week × 46 weeks ÷ 8 h, own calculation) · Destatis nursing projection 2024: 280,000–690,000, all care settings</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5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50"/>
                                        <p:tgtEl>
                                          <p:spTgt spid="12"/>
                                        </p:tgtEl>
                                      </p:cBhvr>
                                    </p:animEffect>
                                    <p:anim calcmode="lin" valueType="num">
                                      <p:cBhvr>
                                        <p:cTn id="14" dur="250" fill="hold"/>
                                        <p:tgtEl>
                                          <p:spTgt spid="12"/>
                                        </p:tgtEl>
                                        <p:attrNameLst>
                                          <p:attrName>ppt_x</p:attrName>
                                        </p:attrNameLst>
                                      </p:cBhvr>
                                      <p:tavLst>
                                        <p:tav tm="0">
                                          <p:val>
                                            <p:strVal val="#ppt_x"/>
                                          </p:val>
                                        </p:tav>
                                        <p:tav tm="100000">
                                          <p:val>
                                            <p:strVal val="#ppt_x"/>
                                          </p:val>
                                        </p:tav>
                                      </p:tavLst>
                                    </p:anim>
                                    <p:anim calcmode="lin" valueType="num">
                                      <p:cBhvr>
                                        <p:cTn id="15" dur="250" fill="hold"/>
                                        <p:tgtEl>
                                          <p:spTgt spid="12"/>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250"/>
                                        <p:tgtEl>
                                          <p:spTgt spid="13"/>
                                        </p:tgtEl>
                                      </p:cBhvr>
                                    </p:animEffect>
                                    <p:anim calcmode="lin" valueType="num">
                                      <p:cBhvr>
                                        <p:cTn id="19" dur="250" fill="hold"/>
                                        <p:tgtEl>
                                          <p:spTgt spid="13"/>
                                        </p:tgtEl>
                                        <p:attrNameLst>
                                          <p:attrName>ppt_x</p:attrName>
                                        </p:attrNameLst>
                                      </p:cBhvr>
                                      <p:tavLst>
                                        <p:tav tm="0">
                                          <p:val>
                                            <p:strVal val="#ppt_x"/>
                                          </p:val>
                                        </p:tav>
                                        <p:tav tm="100000">
                                          <p:val>
                                            <p:strVal val="#ppt_x"/>
                                          </p:val>
                                        </p:tav>
                                      </p:tavLst>
                                    </p:anim>
                                    <p:anim calcmode="lin" valueType="num">
                                      <p:cBhvr>
                                        <p:cTn id="20" dur="250" fill="hold"/>
                                        <p:tgtEl>
                                          <p:spTgt spid="13"/>
                                        </p:tgtEl>
                                        <p:attrNameLst>
                                          <p:attrName>ppt_y</p:attrName>
                                        </p:attrNameLst>
                                      </p:cBhvr>
                                      <p:tavLst>
                                        <p:tav tm="0">
                                          <p:val>
                                            <p:strVal val="#ppt_y+.1"/>
                                          </p:val>
                                        </p:tav>
                                        <p:tav tm="100000">
                                          <p:val>
                                            <p:strVal val="#ppt_y"/>
                                          </p:val>
                                        </p:tav>
                                      </p:tavLst>
                                    </p:anim>
                                  </p:childTnLst>
                                </p:cTn>
                              </p:par>
                              <p:par>
                                <p:cTn id="21" presetID="21" presetClass="entr" presetSubtype="1"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heel(1)">
                                      <p:cBhvr>
                                        <p:cTn id="23" dur="25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250"/>
                                        <p:tgtEl>
                                          <p:spTgt spid="11"/>
                                        </p:tgtEl>
                                      </p:cBhvr>
                                    </p:animEffect>
                                  </p:childTnLst>
                                </p:cTn>
                              </p:par>
                            </p:childTnLst>
                          </p:cTn>
                        </p:par>
                        <p:par>
                          <p:cTn id="27" fill="hold">
                            <p:stCondLst>
                              <p:cond delay="800"/>
                            </p:stCondLst>
                            <p:childTnLst>
                              <p:par>
                                <p:cTn id="28" presetID="53" presetClass="entr" presetSubtype="16" fill="hold" grpId="0" nodeType="afterEffect">
                                  <p:stCondLst>
                                    <p:cond delay="50"/>
                                  </p:stCondLst>
                                  <p:childTnLst>
                                    <p:set>
                                      <p:cBhvr>
                                        <p:cTn id="29" dur="1" fill="hold">
                                          <p:stCondLst>
                                            <p:cond delay="0"/>
                                          </p:stCondLst>
                                        </p:cTn>
                                        <p:tgtEl>
                                          <p:spTgt spid="28"/>
                                        </p:tgtEl>
                                        <p:attrNameLst>
                                          <p:attrName>style.visibility</p:attrName>
                                        </p:attrNameLst>
                                      </p:cBhvr>
                                      <p:to>
                                        <p:strVal val="visible"/>
                                      </p:to>
                                    </p:set>
                                    <p:anim calcmode="lin" valueType="num">
                                      <p:cBhvr>
                                        <p:cTn id="30" dur="250" fill="hold"/>
                                        <p:tgtEl>
                                          <p:spTgt spid="28"/>
                                        </p:tgtEl>
                                        <p:attrNameLst>
                                          <p:attrName>ppt_w</p:attrName>
                                        </p:attrNameLst>
                                      </p:cBhvr>
                                      <p:tavLst>
                                        <p:tav tm="0">
                                          <p:val>
                                            <p:fltVal val="0"/>
                                          </p:val>
                                        </p:tav>
                                        <p:tav tm="100000">
                                          <p:val>
                                            <p:strVal val="#ppt_w"/>
                                          </p:val>
                                        </p:tav>
                                      </p:tavLst>
                                    </p:anim>
                                    <p:anim calcmode="lin" valueType="num">
                                      <p:cBhvr>
                                        <p:cTn id="31" dur="250" fill="hold"/>
                                        <p:tgtEl>
                                          <p:spTgt spid="28"/>
                                        </p:tgtEl>
                                        <p:attrNameLst>
                                          <p:attrName>ppt_h</p:attrName>
                                        </p:attrNameLst>
                                      </p:cBhvr>
                                      <p:tavLst>
                                        <p:tav tm="0">
                                          <p:val>
                                            <p:fltVal val="0"/>
                                          </p:val>
                                        </p:tav>
                                        <p:tav tm="100000">
                                          <p:val>
                                            <p:strVal val="#ppt_h"/>
                                          </p:val>
                                        </p:tav>
                                      </p:tavLst>
                                    </p:anim>
                                    <p:animEffect transition="in" filter="fade">
                                      <p:cBhvr>
                                        <p:cTn id="32" dur="250"/>
                                        <p:tgtEl>
                                          <p:spTgt spid="28"/>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p:cTn id="35" dur="250" fill="hold"/>
                                        <p:tgtEl>
                                          <p:spTgt spid="29"/>
                                        </p:tgtEl>
                                        <p:attrNameLst>
                                          <p:attrName>ppt_w</p:attrName>
                                        </p:attrNameLst>
                                      </p:cBhvr>
                                      <p:tavLst>
                                        <p:tav tm="0">
                                          <p:val>
                                            <p:fltVal val="0"/>
                                          </p:val>
                                        </p:tav>
                                        <p:tav tm="100000">
                                          <p:val>
                                            <p:strVal val="#ppt_w"/>
                                          </p:val>
                                        </p:tav>
                                      </p:tavLst>
                                    </p:anim>
                                    <p:anim calcmode="lin" valueType="num">
                                      <p:cBhvr>
                                        <p:cTn id="36" dur="250" fill="hold"/>
                                        <p:tgtEl>
                                          <p:spTgt spid="29"/>
                                        </p:tgtEl>
                                        <p:attrNameLst>
                                          <p:attrName>ppt_h</p:attrName>
                                        </p:attrNameLst>
                                      </p:cBhvr>
                                      <p:tavLst>
                                        <p:tav tm="0">
                                          <p:val>
                                            <p:fltVal val="0"/>
                                          </p:val>
                                        </p:tav>
                                        <p:tav tm="100000">
                                          <p:val>
                                            <p:strVal val="#ppt_h"/>
                                          </p:val>
                                        </p:tav>
                                      </p:tavLst>
                                    </p:anim>
                                    <p:animEffect transition="in" filter="fade">
                                      <p:cBhvr>
                                        <p:cTn id="37" dur="250"/>
                                        <p:tgtEl>
                                          <p:spTgt spid="29"/>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p:cTn id="40" dur="250" fill="hold"/>
                                        <p:tgtEl>
                                          <p:spTgt spid="27"/>
                                        </p:tgtEl>
                                        <p:attrNameLst>
                                          <p:attrName>ppt_w</p:attrName>
                                        </p:attrNameLst>
                                      </p:cBhvr>
                                      <p:tavLst>
                                        <p:tav tm="0">
                                          <p:val>
                                            <p:fltVal val="0"/>
                                          </p:val>
                                        </p:tav>
                                        <p:tav tm="100000">
                                          <p:val>
                                            <p:strVal val="#ppt_w"/>
                                          </p:val>
                                        </p:tav>
                                      </p:tavLst>
                                    </p:anim>
                                    <p:anim calcmode="lin" valueType="num">
                                      <p:cBhvr>
                                        <p:cTn id="41" dur="250" fill="hold"/>
                                        <p:tgtEl>
                                          <p:spTgt spid="27"/>
                                        </p:tgtEl>
                                        <p:attrNameLst>
                                          <p:attrName>ppt_h</p:attrName>
                                        </p:attrNameLst>
                                      </p:cBhvr>
                                      <p:tavLst>
                                        <p:tav tm="0">
                                          <p:val>
                                            <p:fltVal val="0"/>
                                          </p:val>
                                        </p:tav>
                                        <p:tav tm="100000">
                                          <p:val>
                                            <p:strVal val="#ppt_h"/>
                                          </p:val>
                                        </p:tav>
                                      </p:tavLst>
                                    </p:anim>
                                    <p:animEffect transition="in" filter="fade">
                                      <p:cBhvr>
                                        <p:cTn id="42" dur="250"/>
                                        <p:tgtEl>
                                          <p:spTgt spid="27"/>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 calcmode="lin" valueType="num">
                                      <p:cBhvr>
                                        <p:cTn id="45" dur="250" fill="hold"/>
                                        <p:tgtEl>
                                          <p:spTgt spid="25"/>
                                        </p:tgtEl>
                                        <p:attrNameLst>
                                          <p:attrName>ppt_w</p:attrName>
                                        </p:attrNameLst>
                                      </p:cBhvr>
                                      <p:tavLst>
                                        <p:tav tm="0">
                                          <p:val>
                                            <p:fltVal val="0"/>
                                          </p:val>
                                        </p:tav>
                                        <p:tav tm="100000">
                                          <p:val>
                                            <p:strVal val="#ppt_w"/>
                                          </p:val>
                                        </p:tav>
                                      </p:tavLst>
                                    </p:anim>
                                    <p:anim calcmode="lin" valueType="num">
                                      <p:cBhvr>
                                        <p:cTn id="46" dur="250" fill="hold"/>
                                        <p:tgtEl>
                                          <p:spTgt spid="25"/>
                                        </p:tgtEl>
                                        <p:attrNameLst>
                                          <p:attrName>ppt_h</p:attrName>
                                        </p:attrNameLst>
                                      </p:cBhvr>
                                      <p:tavLst>
                                        <p:tav tm="0">
                                          <p:val>
                                            <p:fltVal val="0"/>
                                          </p:val>
                                        </p:tav>
                                        <p:tav tm="100000">
                                          <p:val>
                                            <p:strVal val="#ppt_h"/>
                                          </p:val>
                                        </p:tav>
                                      </p:tavLst>
                                    </p:anim>
                                    <p:animEffect transition="in" filter="fade">
                                      <p:cBhvr>
                                        <p:cTn id="47" dur="250"/>
                                        <p:tgtEl>
                                          <p:spTgt spid="25"/>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 calcmode="lin" valueType="num">
                                      <p:cBhvr>
                                        <p:cTn id="50" dur="250" fill="hold"/>
                                        <p:tgtEl>
                                          <p:spTgt spid="26"/>
                                        </p:tgtEl>
                                        <p:attrNameLst>
                                          <p:attrName>ppt_w</p:attrName>
                                        </p:attrNameLst>
                                      </p:cBhvr>
                                      <p:tavLst>
                                        <p:tav tm="0">
                                          <p:val>
                                            <p:fltVal val="0"/>
                                          </p:val>
                                        </p:tav>
                                        <p:tav tm="100000">
                                          <p:val>
                                            <p:strVal val="#ppt_w"/>
                                          </p:val>
                                        </p:tav>
                                      </p:tavLst>
                                    </p:anim>
                                    <p:anim calcmode="lin" valueType="num">
                                      <p:cBhvr>
                                        <p:cTn id="51" dur="250" fill="hold"/>
                                        <p:tgtEl>
                                          <p:spTgt spid="26"/>
                                        </p:tgtEl>
                                        <p:attrNameLst>
                                          <p:attrName>ppt_h</p:attrName>
                                        </p:attrNameLst>
                                      </p:cBhvr>
                                      <p:tavLst>
                                        <p:tav tm="0">
                                          <p:val>
                                            <p:fltVal val="0"/>
                                          </p:val>
                                        </p:tav>
                                        <p:tav tm="100000">
                                          <p:val>
                                            <p:strVal val="#ppt_h"/>
                                          </p:val>
                                        </p:tav>
                                      </p:tavLst>
                                    </p:anim>
                                    <p:animEffect transition="in" filter="fade">
                                      <p:cBhvr>
                                        <p:cTn id="52" dur="250"/>
                                        <p:tgtEl>
                                          <p:spTgt spid="26"/>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 calcmode="lin" valueType="num">
                                      <p:cBhvr>
                                        <p:cTn id="55" dur="250" fill="hold"/>
                                        <p:tgtEl>
                                          <p:spTgt spid="30"/>
                                        </p:tgtEl>
                                        <p:attrNameLst>
                                          <p:attrName>ppt_w</p:attrName>
                                        </p:attrNameLst>
                                      </p:cBhvr>
                                      <p:tavLst>
                                        <p:tav tm="0">
                                          <p:val>
                                            <p:fltVal val="0"/>
                                          </p:val>
                                        </p:tav>
                                        <p:tav tm="100000">
                                          <p:val>
                                            <p:strVal val="#ppt_w"/>
                                          </p:val>
                                        </p:tav>
                                      </p:tavLst>
                                    </p:anim>
                                    <p:anim calcmode="lin" valueType="num">
                                      <p:cBhvr>
                                        <p:cTn id="56" dur="250" fill="hold"/>
                                        <p:tgtEl>
                                          <p:spTgt spid="30"/>
                                        </p:tgtEl>
                                        <p:attrNameLst>
                                          <p:attrName>ppt_h</p:attrName>
                                        </p:attrNameLst>
                                      </p:cBhvr>
                                      <p:tavLst>
                                        <p:tav tm="0">
                                          <p:val>
                                            <p:fltVal val="0"/>
                                          </p:val>
                                        </p:tav>
                                        <p:tav tm="100000">
                                          <p:val>
                                            <p:strVal val="#ppt_h"/>
                                          </p:val>
                                        </p:tav>
                                      </p:tavLst>
                                    </p:anim>
                                    <p:animEffect transition="in" filter="fade">
                                      <p:cBhvr>
                                        <p:cTn id="57" dur="250"/>
                                        <p:tgtEl>
                                          <p:spTgt spid="30"/>
                                        </p:tgtEl>
                                      </p:cBhvr>
                                    </p:animEffect>
                                  </p:childTnLst>
                                </p:cTn>
                              </p:par>
                              <p:par>
                                <p:cTn id="58" presetID="42"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250"/>
                                        <p:tgtEl>
                                          <p:spTgt spid="34"/>
                                        </p:tgtEl>
                                      </p:cBhvr>
                                    </p:animEffect>
                                    <p:anim calcmode="lin" valueType="num">
                                      <p:cBhvr>
                                        <p:cTn id="61" dur="250" fill="hold"/>
                                        <p:tgtEl>
                                          <p:spTgt spid="34"/>
                                        </p:tgtEl>
                                        <p:attrNameLst>
                                          <p:attrName>ppt_x</p:attrName>
                                        </p:attrNameLst>
                                      </p:cBhvr>
                                      <p:tavLst>
                                        <p:tav tm="0">
                                          <p:val>
                                            <p:strVal val="#ppt_x"/>
                                          </p:val>
                                        </p:tav>
                                        <p:tav tm="100000">
                                          <p:val>
                                            <p:strVal val="#ppt_x"/>
                                          </p:val>
                                        </p:tav>
                                      </p:tavLst>
                                    </p:anim>
                                    <p:anim calcmode="lin" valueType="num">
                                      <p:cBhvr>
                                        <p:cTn id="62" dur="250" fill="hold"/>
                                        <p:tgtEl>
                                          <p:spTgt spid="34"/>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250"/>
                                        <p:tgtEl>
                                          <p:spTgt spid="35"/>
                                        </p:tgtEl>
                                      </p:cBhvr>
                                    </p:animEffect>
                                    <p:anim calcmode="lin" valueType="num">
                                      <p:cBhvr>
                                        <p:cTn id="66" dur="250" fill="hold"/>
                                        <p:tgtEl>
                                          <p:spTgt spid="35"/>
                                        </p:tgtEl>
                                        <p:attrNameLst>
                                          <p:attrName>ppt_x</p:attrName>
                                        </p:attrNameLst>
                                      </p:cBhvr>
                                      <p:tavLst>
                                        <p:tav tm="0">
                                          <p:val>
                                            <p:strVal val="#ppt_x"/>
                                          </p:val>
                                        </p:tav>
                                        <p:tav tm="100000">
                                          <p:val>
                                            <p:strVal val="#ppt_x"/>
                                          </p:val>
                                        </p:tav>
                                      </p:tavLst>
                                    </p:anim>
                                    <p:anim calcmode="lin" valueType="num">
                                      <p:cBhvr>
                                        <p:cTn id="67" dur="250" fill="hold"/>
                                        <p:tgtEl>
                                          <p:spTgt spid="35"/>
                                        </p:tgtEl>
                                        <p:attrNameLst>
                                          <p:attrName>ppt_y</p:attrName>
                                        </p:attrNameLst>
                                      </p:cBhvr>
                                      <p:tavLst>
                                        <p:tav tm="0">
                                          <p:val>
                                            <p:strVal val="#ppt_y+.1"/>
                                          </p:val>
                                        </p:tav>
                                        <p:tav tm="100000">
                                          <p:val>
                                            <p:strVal val="#ppt_y"/>
                                          </p:val>
                                        </p:tav>
                                      </p:tavLst>
                                    </p:anim>
                                  </p:childTnLst>
                                </p:cTn>
                              </p:par>
                              <p:par>
                                <p:cTn id="68" presetID="53" presetClass="entr" presetSubtype="16"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 calcmode="lin" valueType="num">
                                      <p:cBhvr>
                                        <p:cTn id="70" dur="250" fill="hold"/>
                                        <p:tgtEl>
                                          <p:spTgt spid="33"/>
                                        </p:tgtEl>
                                        <p:attrNameLst>
                                          <p:attrName>ppt_w</p:attrName>
                                        </p:attrNameLst>
                                      </p:cBhvr>
                                      <p:tavLst>
                                        <p:tav tm="0">
                                          <p:val>
                                            <p:fltVal val="0"/>
                                          </p:val>
                                        </p:tav>
                                        <p:tav tm="100000">
                                          <p:val>
                                            <p:strVal val="#ppt_w"/>
                                          </p:val>
                                        </p:tav>
                                      </p:tavLst>
                                    </p:anim>
                                    <p:anim calcmode="lin" valueType="num">
                                      <p:cBhvr>
                                        <p:cTn id="71" dur="250" fill="hold"/>
                                        <p:tgtEl>
                                          <p:spTgt spid="33"/>
                                        </p:tgtEl>
                                        <p:attrNameLst>
                                          <p:attrName>ppt_h</p:attrName>
                                        </p:attrNameLst>
                                      </p:cBhvr>
                                      <p:tavLst>
                                        <p:tav tm="0">
                                          <p:val>
                                            <p:fltVal val="0"/>
                                          </p:val>
                                        </p:tav>
                                        <p:tav tm="100000">
                                          <p:val>
                                            <p:strVal val="#ppt_h"/>
                                          </p:val>
                                        </p:tav>
                                      </p:tavLst>
                                    </p:anim>
                                    <p:animEffect transition="in" filter="fade">
                                      <p:cBhvr>
                                        <p:cTn id="72" dur="250"/>
                                        <p:tgtEl>
                                          <p:spTgt spid="33"/>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anim calcmode="lin" valueType="num">
                                      <p:cBhvr>
                                        <p:cTn id="75" dur="250" fill="hold"/>
                                        <p:tgtEl>
                                          <p:spTgt spid="31"/>
                                        </p:tgtEl>
                                        <p:attrNameLst>
                                          <p:attrName>ppt_w</p:attrName>
                                        </p:attrNameLst>
                                      </p:cBhvr>
                                      <p:tavLst>
                                        <p:tav tm="0">
                                          <p:val>
                                            <p:fltVal val="0"/>
                                          </p:val>
                                        </p:tav>
                                        <p:tav tm="100000">
                                          <p:val>
                                            <p:strVal val="#ppt_w"/>
                                          </p:val>
                                        </p:tav>
                                      </p:tavLst>
                                    </p:anim>
                                    <p:anim calcmode="lin" valueType="num">
                                      <p:cBhvr>
                                        <p:cTn id="76" dur="250" fill="hold"/>
                                        <p:tgtEl>
                                          <p:spTgt spid="31"/>
                                        </p:tgtEl>
                                        <p:attrNameLst>
                                          <p:attrName>ppt_h</p:attrName>
                                        </p:attrNameLst>
                                      </p:cBhvr>
                                      <p:tavLst>
                                        <p:tav tm="0">
                                          <p:val>
                                            <p:fltVal val="0"/>
                                          </p:val>
                                        </p:tav>
                                        <p:tav tm="100000">
                                          <p:val>
                                            <p:strVal val="#ppt_h"/>
                                          </p:val>
                                        </p:tav>
                                      </p:tavLst>
                                    </p:anim>
                                    <p:animEffect transition="in" filter="fade">
                                      <p:cBhvr>
                                        <p:cTn id="77" dur="250"/>
                                        <p:tgtEl>
                                          <p:spTgt spid="31"/>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32"/>
                                        </p:tgtEl>
                                        <p:attrNameLst>
                                          <p:attrName>style.visibility</p:attrName>
                                        </p:attrNameLst>
                                      </p:cBhvr>
                                      <p:to>
                                        <p:strVal val="visible"/>
                                      </p:to>
                                    </p:set>
                                    <p:anim calcmode="lin" valueType="num">
                                      <p:cBhvr>
                                        <p:cTn id="80" dur="250" fill="hold"/>
                                        <p:tgtEl>
                                          <p:spTgt spid="32"/>
                                        </p:tgtEl>
                                        <p:attrNameLst>
                                          <p:attrName>ppt_w</p:attrName>
                                        </p:attrNameLst>
                                      </p:cBhvr>
                                      <p:tavLst>
                                        <p:tav tm="0">
                                          <p:val>
                                            <p:fltVal val="0"/>
                                          </p:val>
                                        </p:tav>
                                        <p:tav tm="100000">
                                          <p:val>
                                            <p:strVal val="#ppt_w"/>
                                          </p:val>
                                        </p:tav>
                                      </p:tavLst>
                                    </p:anim>
                                    <p:anim calcmode="lin" valueType="num">
                                      <p:cBhvr>
                                        <p:cTn id="81" dur="250" fill="hold"/>
                                        <p:tgtEl>
                                          <p:spTgt spid="32"/>
                                        </p:tgtEl>
                                        <p:attrNameLst>
                                          <p:attrName>ppt_h</p:attrName>
                                        </p:attrNameLst>
                                      </p:cBhvr>
                                      <p:tavLst>
                                        <p:tav tm="0">
                                          <p:val>
                                            <p:fltVal val="0"/>
                                          </p:val>
                                        </p:tav>
                                        <p:tav tm="100000">
                                          <p:val>
                                            <p:strVal val="#ppt_h"/>
                                          </p:val>
                                        </p:tav>
                                      </p:tavLst>
                                    </p:anim>
                                    <p:animEffect transition="in" filter="fade">
                                      <p:cBhvr>
                                        <p:cTn id="82" dur="250"/>
                                        <p:tgtEl>
                                          <p:spTgt spid="32"/>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17"/>
                                        </p:tgtEl>
                                        <p:attrNameLst>
                                          <p:attrName>style.visibility</p:attrName>
                                        </p:attrNameLst>
                                      </p:cBhvr>
                                      <p:to>
                                        <p:strVal val="visible"/>
                                      </p:to>
                                    </p:set>
                                    <p:anim calcmode="lin" valueType="num">
                                      <p:cBhvr>
                                        <p:cTn id="85" dur="250" fill="hold"/>
                                        <p:tgtEl>
                                          <p:spTgt spid="17"/>
                                        </p:tgtEl>
                                        <p:attrNameLst>
                                          <p:attrName>ppt_w</p:attrName>
                                        </p:attrNameLst>
                                      </p:cBhvr>
                                      <p:tavLst>
                                        <p:tav tm="0">
                                          <p:val>
                                            <p:fltVal val="0"/>
                                          </p:val>
                                        </p:tav>
                                        <p:tav tm="100000">
                                          <p:val>
                                            <p:strVal val="#ppt_w"/>
                                          </p:val>
                                        </p:tav>
                                      </p:tavLst>
                                    </p:anim>
                                    <p:anim calcmode="lin" valueType="num">
                                      <p:cBhvr>
                                        <p:cTn id="86" dur="250" fill="hold"/>
                                        <p:tgtEl>
                                          <p:spTgt spid="17"/>
                                        </p:tgtEl>
                                        <p:attrNameLst>
                                          <p:attrName>ppt_h</p:attrName>
                                        </p:attrNameLst>
                                      </p:cBhvr>
                                      <p:tavLst>
                                        <p:tav tm="0">
                                          <p:val>
                                            <p:fltVal val="0"/>
                                          </p:val>
                                        </p:tav>
                                        <p:tav tm="100000">
                                          <p:val>
                                            <p:strVal val="#ppt_h"/>
                                          </p:val>
                                        </p:tav>
                                      </p:tavLst>
                                    </p:anim>
                                    <p:animEffect transition="in" filter="fade">
                                      <p:cBhvr>
                                        <p:cTn id="87" dur="250"/>
                                        <p:tgtEl>
                                          <p:spTgt spid="17"/>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18"/>
                                        </p:tgtEl>
                                        <p:attrNameLst>
                                          <p:attrName>style.visibility</p:attrName>
                                        </p:attrNameLst>
                                      </p:cBhvr>
                                      <p:to>
                                        <p:strVal val="visible"/>
                                      </p:to>
                                    </p:set>
                                    <p:anim calcmode="lin" valueType="num">
                                      <p:cBhvr>
                                        <p:cTn id="90" dur="250" fill="hold"/>
                                        <p:tgtEl>
                                          <p:spTgt spid="18"/>
                                        </p:tgtEl>
                                        <p:attrNameLst>
                                          <p:attrName>ppt_w</p:attrName>
                                        </p:attrNameLst>
                                      </p:cBhvr>
                                      <p:tavLst>
                                        <p:tav tm="0">
                                          <p:val>
                                            <p:fltVal val="0"/>
                                          </p:val>
                                        </p:tav>
                                        <p:tav tm="100000">
                                          <p:val>
                                            <p:strVal val="#ppt_w"/>
                                          </p:val>
                                        </p:tav>
                                      </p:tavLst>
                                    </p:anim>
                                    <p:anim calcmode="lin" valueType="num">
                                      <p:cBhvr>
                                        <p:cTn id="91" dur="250" fill="hold"/>
                                        <p:tgtEl>
                                          <p:spTgt spid="18"/>
                                        </p:tgtEl>
                                        <p:attrNameLst>
                                          <p:attrName>ppt_h</p:attrName>
                                        </p:attrNameLst>
                                      </p:cBhvr>
                                      <p:tavLst>
                                        <p:tav tm="0">
                                          <p:val>
                                            <p:fltVal val="0"/>
                                          </p:val>
                                        </p:tav>
                                        <p:tav tm="100000">
                                          <p:val>
                                            <p:strVal val="#ppt_h"/>
                                          </p:val>
                                        </p:tav>
                                      </p:tavLst>
                                    </p:anim>
                                    <p:animEffect transition="in" filter="fade">
                                      <p:cBhvr>
                                        <p:cTn id="92" dur="250"/>
                                        <p:tgtEl>
                                          <p:spTgt spid="18"/>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16"/>
                                        </p:tgtEl>
                                        <p:attrNameLst>
                                          <p:attrName>style.visibility</p:attrName>
                                        </p:attrNameLst>
                                      </p:cBhvr>
                                      <p:to>
                                        <p:strVal val="visible"/>
                                      </p:to>
                                    </p:set>
                                    <p:anim calcmode="lin" valueType="num">
                                      <p:cBhvr>
                                        <p:cTn id="95" dur="250" fill="hold"/>
                                        <p:tgtEl>
                                          <p:spTgt spid="16"/>
                                        </p:tgtEl>
                                        <p:attrNameLst>
                                          <p:attrName>ppt_w</p:attrName>
                                        </p:attrNameLst>
                                      </p:cBhvr>
                                      <p:tavLst>
                                        <p:tav tm="0">
                                          <p:val>
                                            <p:fltVal val="0"/>
                                          </p:val>
                                        </p:tav>
                                        <p:tav tm="100000">
                                          <p:val>
                                            <p:strVal val="#ppt_w"/>
                                          </p:val>
                                        </p:tav>
                                      </p:tavLst>
                                    </p:anim>
                                    <p:anim calcmode="lin" valueType="num">
                                      <p:cBhvr>
                                        <p:cTn id="96" dur="250" fill="hold"/>
                                        <p:tgtEl>
                                          <p:spTgt spid="16"/>
                                        </p:tgtEl>
                                        <p:attrNameLst>
                                          <p:attrName>ppt_h</p:attrName>
                                        </p:attrNameLst>
                                      </p:cBhvr>
                                      <p:tavLst>
                                        <p:tav tm="0">
                                          <p:val>
                                            <p:fltVal val="0"/>
                                          </p:val>
                                        </p:tav>
                                        <p:tav tm="100000">
                                          <p:val>
                                            <p:strVal val="#ppt_h"/>
                                          </p:val>
                                        </p:tav>
                                      </p:tavLst>
                                    </p:anim>
                                    <p:animEffect transition="in" filter="fade">
                                      <p:cBhvr>
                                        <p:cTn id="97" dur="250"/>
                                        <p:tgtEl>
                                          <p:spTgt spid="16"/>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14"/>
                                        </p:tgtEl>
                                        <p:attrNameLst>
                                          <p:attrName>style.visibility</p:attrName>
                                        </p:attrNameLst>
                                      </p:cBhvr>
                                      <p:to>
                                        <p:strVal val="visible"/>
                                      </p:to>
                                    </p:set>
                                    <p:anim calcmode="lin" valueType="num">
                                      <p:cBhvr>
                                        <p:cTn id="100" dur="250" fill="hold"/>
                                        <p:tgtEl>
                                          <p:spTgt spid="14"/>
                                        </p:tgtEl>
                                        <p:attrNameLst>
                                          <p:attrName>ppt_w</p:attrName>
                                        </p:attrNameLst>
                                      </p:cBhvr>
                                      <p:tavLst>
                                        <p:tav tm="0">
                                          <p:val>
                                            <p:fltVal val="0"/>
                                          </p:val>
                                        </p:tav>
                                        <p:tav tm="100000">
                                          <p:val>
                                            <p:strVal val="#ppt_w"/>
                                          </p:val>
                                        </p:tav>
                                      </p:tavLst>
                                    </p:anim>
                                    <p:anim calcmode="lin" valueType="num">
                                      <p:cBhvr>
                                        <p:cTn id="101" dur="250" fill="hold"/>
                                        <p:tgtEl>
                                          <p:spTgt spid="14"/>
                                        </p:tgtEl>
                                        <p:attrNameLst>
                                          <p:attrName>ppt_h</p:attrName>
                                        </p:attrNameLst>
                                      </p:cBhvr>
                                      <p:tavLst>
                                        <p:tav tm="0">
                                          <p:val>
                                            <p:fltVal val="0"/>
                                          </p:val>
                                        </p:tav>
                                        <p:tav tm="100000">
                                          <p:val>
                                            <p:strVal val="#ppt_h"/>
                                          </p:val>
                                        </p:tav>
                                      </p:tavLst>
                                    </p:anim>
                                    <p:animEffect transition="in" filter="fade">
                                      <p:cBhvr>
                                        <p:cTn id="102" dur="250"/>
                                        <p:tgtEl>
                                          <p:spTgt spid="14"/>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15"/>
                                        </p:tgtEl>
                                        <p:attrNameLst>
                                          <p:attrName>style.visibility</p:attrName>
                                        </p:attrNameLst>
                                      </p:cBhvr>
                                      <p:to>
                                        <p:strVal val="visible"/>
                                      </p:to>
                                    </p:set>
                                    <p:anim calcmode="lin" valueType="num">
                                      <p:cBhvr>
                                        <p:cTn id="105" dur="250" fill="hold"/>
                                        <p:tgtEl>
                                          <p:spTgt spid="15"/>
                                        </p:tgtEl>
                                        <p:attrNameLst>
                                          <p:attrName>ppt_w</p:attrName>
                                        </p:attrNameLst>
                                      </p:cBhvr>
                                      <p:tavLst>
                                        <p:tav tm="0">
                                          <p:val>
                                            <p:fltVal val="0"/>
                                          </p:val>
                                        </p:tav>
                                        <p:tav tm="100000">
                                          <p:val>
                                            <p:strVal val="#ppt_w"/>
                                          </p:val>
                                        </p:tav>
                                      </p:tavLst>
                                    </p:anim>
                                    <p:anim calcmode="lin" valueType="num">
                                      <p:cBhvr>
                                        <p:cTn id="106" dur="250" fill="hold"/>
                                        <p:tgtEl>
                                          <p:spTgt spid="15"/>
                                        </p:tgtEl>
                                        <p:attrNameLst>
                                          <p:attrName>ppt_h</p:attrName>
                                        </p:attrNameLst>
                                      </p:cBhvr>
                                      <p:tavLst>
                                        <p:tav tm="0">
                                          <p:val>
                                            <p:fltVal val="0"/>
                                          </p:val>
                                        </p:tav>
                                        <p:tav tm="100000">
                                          <p:val>
                                            <p:strVal val="#ppt_h"/>
                                          </p:val>
                                        </p:tav>
                                      </p:tavLst>
                                    </p:anim>
                                    <p:animEffect transition="in" filter="fade">
                                      <p:cBhvr>
                                        <p:cTn id="107" dur="250"/>
                                        <p:tgtEl>
                                          <p:spTgt spid="15"/>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19"/>
                                        </p:tgtEl>
                                        <p:attrNameLst>
                                          <p:attrName>style.visibility</p:attrName>
                                        </p:attrNameLst>
                                      </p:cBhvr>
                                      <p:to>
                                        <p:strVal val="visible"/>
                                      </p:to>
                                    </p:set>
                                    <p:anim calcmode="lin" valueType="num">
                                      <p:cBhvr>
                                        <p:cTn id="110" dur="250" fill="hold"/>
                                        <p:tgtEl>
                                          <p:spTgt spid="19"/>
                                        </p:tgtEl>
                                        <p:attrNameLst>
                                          <p:attrName>ppt_w</p:attrName>
                                        </p:attrNameLst>
                                      </p:cBhvr>
                                      <p:tavLst>
                                        <p:tav tm="0">
                                          <p:val>
                                            <p:fltVal val="0"/>
                                          </p:val>
                                        </p:tav>
                                        <p:tav tm="100000">
                                          <p:val>
                                            <p:strVal val="#ppt_w"/>
                                          </p:val>
                                        </p:tav>
                                      </p:tavLst>
                                    </p:anim>
                                    <p:anim calcmode="lin" valueType="num">
                                      <p:cBhvr>
                                        <p:cTn id="111" dur="250" fill="hold"/>
                                        <p:tgtEl>
                                          <p:spTgt spid="19"/>
                                        </p:tgtEl>
                                        <p:attrNameLst>
                                          <p:attrName>ppt_h</p:attrName>
                                        </p:attrNameLst>
                                      </p:cBhvr>
                                      <p:tavLst>
                                        <p:tav tm="0">
                                          <p:val>
                                            <p:fltVal val="0"/>
                                          </p:val>
                                        </p:tav>
                                        <p:tav tm="100000">
                                          <p:val>
                                            <p:strVal val="#ppt_h"/>
                                          </p:val>
                                        </p:tav>
                                      </p:tavLst>
                                    </p:anim>
                                    <p:animEffect transition="in" filter="fade">
                                      <p:cBhvr>
                                        <p:cTn id="112" dur="250"/>
                                        <p:tgtEl>
                                          <p:spTgt spid="19"/>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 calcmode="lin" valueType="num">
                                      <p:cBhvr>
                                        <p:cTn id="115" dur="250" fill="hold"/>
                                        <p:tgtEl>
                                          <p:spTgt spid="23"/>
                                        </p:tgtEl>
                                        <p:attrNameLst>
                                          <p:attrName>ppt_w</p:attrName>
                                        </p:attrNameLst>
                                      </p:cBhvr>
                                      <p:tavLst>
                                        <p:tav tm="0">
                                          <p:val>
                                            <p:fltVal val="0"/>
                                          </p:val>
                                        </p:tav>
                                        <p:tav tm="100000">
                                          <p:val>
                                            <p:strVal val="#ppt_w"/>
                                          </p:val>
                                        </p:tav>
                                      </p:tavLst>
                                    </p:anim>
                                    <p:anim calcmode="lin" valueType="num">
                                      <p:cBhvr>
                                        <p:cTn id="116" dur="250" fill="hold"/>
                                        <p:tgtEl>
                                          <p:spTgt spid="23"/>
                                        </p:tgtEl>
                                        <p:attrNameLst>
                                          <p:attrName>ppt_h</p:attrName>
                                        </p:attrNameLst>
                                      </p:cBhvr>
                                      <p:tavLst>
                                        <p:tav tm="0">
                                          <p:val>
                                            <p:fltVal val="0"/>
                                          </p:val>
                                        </p:tav>
                                        <p:tav tm="100000">
                                          <p:val>
                                            <p:strVal val="#ppt_h"/>
                                          </p:val>
                                        </p:tav>
                                      </p:tavLst>
                                    </p:anim>
                                    <p:animEffect transition="in" filter="fade">
                                      <p:cBhvr>
                                        <p:cTn id="117" dur="250"/>
                                        <p:tgtEl>
                                          <p:spTgt spid="23"/>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24"/>
                                        </p:tgtEl>
                                        <p:attrNameLst>
                                          <p:attrName>style.visibility</p:attrName>
                                        </p:attrNameLst>
                                      </p:cBhvr>
                                      <p:to>
                                        <p:strVal val="visible"/>
                                      </p:to>
                                    </p:set>
                                    <p:anim calcmode="lin" valueType="num">
                                      <p:cBhvr>
                                        <p:cTn id="120" dur="250" fill="hold"/>
                                        <p:tgtEl>
                                          <p:spTgt spid="24"/>
                                        </p:tgtEl>
                                        <p:attrNameLst>
                                          <p:attrName>ppt_w</p:attrName>
                                        </p:attrNameLst>
                                      </p:cBhvr>
                                      <p:tavLst>
                                        <p:tav tm="0">
                                          <p:val>
                                            <p:fltVal val="0"/>
                                          </p:val>
                                        </p:tav>
                                        <p:tav tm="100000">
                                          <p:val>
                                            <p:strVal val="#ppt_w"/>
                                          </p:val>
                                        </p:tav>
                                      </p:tavLst>
                                    </p:anim>
                                    <p:anim calcmode="lin" valueType="num">
                                      <p:cBhvr>
                                        <p:cTn id="121" dur="250" fill="hold"/>
                                        <p:tgtEl>
                                          <p:spTgt spid="24"/>
                                        </p:tgtEl>
                                        <p:attrNameLst>
                                          <p:attrName>ppt_h</p:attrName>
                                        </p:attrNameLst>
                                      </p:cBhvr>
                                      <p:tavLst>
                                        <p:tav tm="0">
                                          <p:val>
                                            <p:fltVal val="0"/>
                                          </p:val>
                                        </p:tav>
                                        <p:tav tm="100000">
                                          <p:val>
                                            <p:strVal val="#ppt_h"/>
                                          </p:val>
                                        </p:tav>
                                      </p:tavLst>
                                    </p:anim>
                                    <p:animEffect transition="in" filter="fade">
                                      <p:cBhvr>
                                        <p:cTn id="122" dur="250"/>
                                        <p:tgtEl>
                                          <p:spTgt spid="24"/>
                                        </p:tgtEl>
                                      </p:cBhvr>
                                    </p:animEffect>
                                  </p:childTnLst>
                                </p:cTn>
                              </p:par>
                              <p:par>
                                <p:cTn id="123" presetID="53" presetClass="entr" presetSubtype="16" fill="hold" grpId="0" nodeType="withEffect">
                                  <p:stCondLst>
                                    <p:cond delay="0"/>
                                  </p:stCondLst>
                                  <p:childTnLst>
                                    <p:set>
                                      <p:cBhvr>
                                        <p:cTn id="124" dur="1" fill="hold">
                                          <p:stCondLst>
                                            <p:cond delay="0"/>
                                          </p:stCondLst>
                                        </p:cTn>
                                        <p:tgtEl>
                                          <p:spTgt spid="22"/>
                                        </p:tgtEl>
                                        <p:attrNameLst>
                                          <p:attrName>style.visibility</p:attrName>
                                        </p:attrNameLst>
                                      </p:cBhvr>
                                      <p:to>
                                        <p:strVal val="visible"/>
                                      </p:to>
                                    </p:set>
                                    <p:anim calcmode="lin" valueType="num">
                                      <p:cBhvr>
                                        <p:cTn id="125" dur="250" fill="hold"/>
                                        <p:tgtEl>
                                          <p:spTgt spid="22"/>
                                        </p:tgtEl>
                                        <p:attrNameLst>
                                          <p:attrName>ppt_w</p:attrName>
                                        </p:attrNameLst>
                                      </p:cBhvr>
                                      <p:tavLst>
                                        <p:tav tm="0">
                                          <p:val>
                                            <p:fltVal val="0"/>
                                          </p:val>
                                        </p:tav>
                                        <p:tav tm="100000">
                                          <p:val>
                                            <p:strVal val="#ppt_w"/>
                                          </p:val>
                                        </p:tav>
                                      </p:tavLst>
                                    </p:anim>
                                    <p:anim calcmode="lin" valueType="num">
                                      <p:cBhvr>
                                        <p:cTn id="126" dur="250" fill="hold"/>
                                        <p:tgtEl>
                                          <p:spTgt spid="22"/>
                                        </p:tgtEl>
                                        <p:attrNameLst>
                                          <p:attrName>ppt_h</p:attrName>
                                        </p:attrNameLst>
                                      </p:cBhvr>
                                      <p:tavLst>
                                        <p:tav tm="0">
                                          <p:val>
                                            <p:fltVal val="0"/>
                                          </p:val>
                                        </p:tav>
                                        <p:tav tm="100000">
                                          <p:val>
                                            <p:strVal val="#ppt_h"/>
                                          </p:val>
                                        </p:tav>
                                      </p:tavLst>
                                    </p:anim>
                                    <p:animEffect transition="in" filter="fade">
                                      <p:cBhvr>
                                        <p:cTn id="127" dur="250"/>
                                        <p:tgtEl>
                                          <p:spTgt spid="22"/>
                                        </p:tgtEl>
                                      </p:cBhvr>
                                    </p:animEffect>
                                  </p:childTnLst>
                                </p:cTn>
                              </p:par>
                              <p:par>
                                <p:cTn id="128" presetID="53" presetClass="entr" presetSubtype="16" fill="hold" grpId="0" nodeType="withEffect">
                                  <p:stCondLst>
                                    <p:cond delay="0"/>
                                  </p:stCondLst>
                                  <p:childTnLst>
                                    <p:set>
                                      <p:cBhvr>
                                        <p:cTn id="129" dur="1" fill="hold">
                                          <p:stCondLst>
                                            <p:cond delay="0"/>
                                          </p:stCondLst>
                                        </p:cTn>
                                        <p:tgtEl>
                                          <p:spTgt spid="20"/>
                                        </p:tgtEl>
                                        <p:attrNameLst>
                                          <p:attrName>style.visibility</p:attrName>
                                        </p:attrNameLst>
                                      </p:cBhvr>
                                      <p:to>
                                        <p:strVal val="visible"/>
                                      </p:to>
                                    </p:set>
                                    <p:anim calcmode="lin" valueType="num">
                                      <p:cBhvr>
                                        <p:cTn id="130" dur="250" fill="hold"/>
                                        <p:tgtEl>
                                          <p:spTgt spid="20"/>
                                        </p:tgtEl>
                                        <p:attrNameLst>
                                          <p:attrName>ppt_w</p:attrName>
                                        </p:attrNameLst>
                                      </p:cBhvr>
                                      <p:tavLst>
                                        <p:tav tm="0">
                                          <p:val>
                                            <p:fltVal val="0"/>
                                          </p:val>
                                        </p:tav>
                                        <p:tav tm="100000">
                                          <p:val>
                                            <p:strVal val="#ppt_w"/>
                                          </p:val>
                                        </p:tav>
                                      </p:tavLst>
                                    </p:anim>
                                    <p:anim calcmode="lin" valueType="num">
                                      <p:cBhvr>
                                        <p:cTn id="131" dur="250" fill="hold"/>
                                        <p:tgtEl>
                                          <p:spTgt spid="20"/>
                                        </p:tgtEl>
                                        <p:attrNameLst>
                                          <p:attrName>ppt_h</p:attrName>
                                        </p:attrNameLst>
                                      </p:cBhvr>
                                      <p:tavLst>
                                        <p:tav tm="0">
                                          <p:val>
                                            <p:fltVal val="0"/>
                                          </p:val>
                                        </p:tav>
                                        <p:tav tm="100000">
                                          <p:val>
                                            <p:strVal val="#ppt_h"/>
                                          </p:val>
                                        </p:tav>
                                      </p:tavLst>
                                    </p:anim>
                                    <p:animEffect transition="in" filter="fade">
                                      <p:cBhvr>
                                        <p:cTn id="132" dur="250"/>
                                        <p:tgtEl>
                                          <p:spTgt spid="20"/>
                                        </p:tgtEl>
                                      </p:cBhvr>
                                    </p:animEffect>
                                  </p:childTnLst>
                                </p:cTn>
                              </p:par>
                              <p:par>
                                <p:cTn id="133" presetID="53" presetClass="entr" presetSubtype="16" fill="hold" grpId="0" nodeType="withEffect">
                                  <p:stCondLst>
                                    <p:cond delay="0"/>
                                  </p:stCondLst>
                                  <p:childTnLst>
                                    <p:set>
                                      <p:cBhvr>
                                        <p:cTn id="134" dur="1" fill="hold">
                                          <p:stCondLst>
                                            <p:cond delay="0"/>
                                          </p:stCondLst>
                                        </p:cTn>
                                        <p:tgtEl>
                                          <p:spTgt spid="21"/>
                                        </p:tgtEl>
                                        <p:attrNameLst>
                                          <p:attrName>style.visibility</p:attrName>
                                        </p:attrNameLst>
                                      </p:cBhvr>
                                      <p:to>
                                        <p:strVal val="visible"/>
                                      </p:to>
                                    </p:set>
                                    <p:anim calcmode="lin" valueType="num">
                                      <p:cBhvr>
                                        <p:cTn id="135" dur="250" fill="hold"/>
                                        <p:tgtEl>
                                          <p:spTgt spid="21"/>
                                        </p:tgtEl>
                                        <p:attrNameLst>
                                          <p:attrName>ppt_w</p:attrName>
                                        </p:attrNameLst>
                                      </p:cBhvr>
                                      <p:tavLst>
                                        <p:tav tm="0">
                                          <p:val>
                                            <p:fltVal val="0"/>
                                          </p:val>
                                        </p:tav>
                                        <p:tav tm="100000">
                                          <p:val>
                                            <p:strVal val="#ppt_w"/>
                                          </p:val>
                                        </p:tav>
                                      </p:tavLst>
                                    </p:anim>
                                    <p:anim calcmode="lin" valueType="num">
                                      <p:cBhvr>
                                        <p:cTn id="136" dur="250" fill="hold"/>
                                        <p:tgtEl>
                                          <p:spTgt spid="21"/>
                                        </p:tgtEl>
                                        <p:attrNameLst>
                                          <p:attrName>ppt_h</p:attrName>
                                        </p:attrNameLst>
                                      </p:cBhvr>
                                      <p:tavLst>
                                        <p:tav tm="0">
                                          <p:val>
                                            <p:fltVal val="0"/>
                                          </p:val>
                                        </p:tav>
                                        <p:tav tm="100000">
                                          <p:val>
                                            <p:strVal val="#ppt_h"/>
                                          </p:val>
                                        </p:tav>
                                      </p:tavLst>
                                    </p:anim>
                                    <p:animEffect transition="in" filter="fade">
                                      <p:cBhvr>
                                        <p:cTn id="137" dur="250"/>
                                        <p:tgtEl>
                                          <p:spTgt spid="21"/>
                                        </p:tgtEl>
                                      </p:cBhvr>
                                    </p:animEffect>
                                  </p:childTnLst>
                                </p:cTn>
                              </p:par>
                            </p:childTnLst>
                          </p:cTn>
                        </p:par>
                        <p:par>
                          <p:cTn id="138" fill="hold">
                            <p:stCondLst>
                              <p:cond delay="1100"/>
                            </p:stCondLst>
                            <p:childTnLst>
                              <p:par>
                                <p:cTn id="139" presetID="42" presetClass="entr" presetSubtype="0" fill="hold" grpId="0" nodeType="afterEffect">
                                  <p:stCondLst>
                                    <p:cond delay="50"/>
                                  </p:stCondLst>
                                  <p:childTnLst>
                                    <p:set>
                                      <p:cBhvr>
                                        <p:cTn id="140" dur="1" fill="hold">
                                          <p:stCondLst>
                                            <p:cond delay="0"/>
                                          </p:stCondLst>
                                        </p:cTn>
                                        <p:tgtEl>
                                          <p:spTgt spid="38"/>
                                        </p:tgtEl>
                                        <p:attrNameLst>
                                          <p:attrName>style.visibility</p:attrName>
                                        </p:attrNameLst>
                                      </p:cBhvr>
                                      <p:to>
                                        <p:strVal val="visible"/>
                                      </p:to>
                                    </p:set>
                                    <p:animEffect transition="in" filter="fade">
                                      <p:cBhvr>
                                        <p:cTn id="141" dur="250"/>
                                        <p:tgtEl>
                                          <p:spTgt spid="38"/>
                                        </p:tgtEl>
                                      </p:cBhvr>
                                    </p:animEffect>
                                    <p:anim calcmode="lin" valueType="num">
                                      <p:cBhvr>
                                        <p:cTn id="142" dur="250" fill="hold"/>
                                        <p:tgtEl>
                                          <p:spTgt spid="38"/>
                                        </p:tgtEl>
                                        <p:attrNameLst>
                                          <p:attrName>ppt_x</p:attrName>
                                        </p:attrNameLst>
                                      </p:cBhvr>
                                      <p:tavLst>
                                        <p:tav tm="0">
                                          <p:val>
                                            <p:strVal val="#ppt_x"/>
                                          </p:val>
                                        </p:tav>
                                        <p:tav tm="100000">
                                          <p:val>
                                            <p:strVal val="#ppt_x"/>
                                          </p:val>
                                        </p:tav>
                                      </p:tavLst>
                                    </p:anim>
                                    <p:anim calcmode="lin" valueType="num">
                                      <p:cBhvr>
                                        <p:cTn id="143" dur="250" fill="hold"/>
                                        <p:tgtEl>
                                          <p:spTgt spid="38"/>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250"/>
                                        <p:tgtEl>
                                          <p:spTgt spid="37"/>
                                        </p:tgtEl>
                                      </p:cBhvr>
                                    </p:animEffect>
                                    <p:anim calcmode="lin" valueType="num">
                                      <p:cBhvr>
                                        <p:cTn id="147" dur="250" fill="hold"/>
                                        <p:tgtEl>
                                          <p:spTgt spid="37"/>
                                        </p:tgtEl>
                                        <p:attrNameLst>
                                          <p:attrName>ppt_x</p:attrName>
                                        </p:attrNameLst>
                                      </p:cBhvr>
                                      <p:tavLst>
                                        <p:tav tm="0">
                                          <p:val>
                                            <p:strVal val="#ppt_x"/>
                                          </p:val>
                                        </p:tav>
                                        <p:tav tm="100000">
                                          <p:val>
                                            <p:strVal val="#ppt_x"/>
                                          </p:val>
                                        </p:tav>
                                      </p:tavLst>
                                    </p:anim>
                                    <p:anim calcmode="lin" valueType="num">
                                      <p:cBhvr>
                                        <p:cTn id="148" dur="250" fill="hold"/>
                                        <p:tgtEl>
                                          <p:spTgt spid="37"/>
                                        </p:tgtEl>
                                        <p:attrNameLst>
                                          <p:attrName>ppt_y</p:attrName>
                                        </p:attrNameLst>
                                      </p:cBhvr>
                                      <p:tavLst>
                                        <p:tav tm="0">
                                          <p:val>
                                            <p:strVal val="#ppt_y+.1"/>
                                          </p:val>
                                        </p:tav>
                                        <p:tav tm="100000">
                                          <p:val>
                                            <p:strVal val="#ppt_y"/>
                                          </p:val>
                                        </p:tav>
                                      </p:tavLst>
                                    </p:anim>
                                  </p:childTnLst>
                                </p:cTn>
                              </p:par>
                              <p:par>
                                <p:cTn id="149" presetID="21" presetClass="entr" presetSubtype="1" fill="hold" nodeType="withEffect">
                                  <p:stCondLst>
                                    <p:cond delay="0"/>
                                  </p:stCondLst>
                                  <p:childTnLst>
                                    <p:set>
                                      <p:cBhvr>
                                        <p:cTn id="150" dur="1" fill="hold">
                                          <p:stCondLst>
                                            <p:cond delay="0"/>
                                          </p:stCondLst>
                                        </p:cTn>
                                        <p:tgtEl>
                                          <p:spTgt spid="36"/>
                                        </p:tgtEl>
                                        <p:attrNameLst>
                                          <p:attrName>style.visibility</p:attrName>
                                        </p:attrNameLst>
                                      </p:cBhvr>
                                      <p:to>
                                        <p:strVal val="visible"/>
                                      </p:to>
                                    </p:set>
                                    <p:animEffect transition="in" filter="wheel(1)">
                                      <p:cBhvr>
                                        <p:cTn id="151" dur="250"/>
                                        <p:tgtEl>
                                          <p:spTgt spid="36"/>
                                        </p:tgtEl>
                                      </p:cBhvr>
                                    </p:animEffect>
                                  </p:childTnLst>
                                </p:cTn>
                              </p:par>
                            </p:childTnLst>
                          </p:cTn>
                        </p:par>
                        <p:par>
                          <p:cTn id="152" fill="hold">
                            <p:stCondLst>
                              <p:cond delay="1400"/>
                            </p:stCondLst>
                            <p:childTnLst>
                              <p:par>
                                <p:cTn id="153" presetID="42" presetClass="entr" presetSubtype="0" fill="hold" grpId="0" nodeType="afterEffect">
                                  <p:stCondLst>
                                    <p:cond delay="50"/>
                                  </p:stCondLst>
                                  <p:childTnLst>
                                    <p:set>
                                      <p:cBhvr>
                                        <p:cTn id="154" dur="1" fill="hold">
                                          <p:stCondLst>
                                            <p:cond delay="0"/>
                                          </p:stCondLst>
                                        </p:cTn>
                                        <p:tgtEl>
                                          <p:spTgt spid="41"/>
                                        </p:tgtEl>
                                        <p:attrNameLst>
                                          <p:attrName>style.visibility</p:attrName>
                                        </p:attrNameLst>
                                      </p:cBhvr>
                                      <p:to>
                                        <p:strVal val="visible"/>
                                      </p:to>
                                    </p:set>
                                    <p:animEffect transition="in" filter="fade">
                                      <p:cBhvr>
                                        <p:cTn id="155" dur="250"/>
                                        <p:tgtEl>
                                          <p:spTgt spid="41"/>
                                        </p:tgtEl>
                                      </p:cBhvr>
                                    </p:animEffect>
                                    <p:anim calcmode="lin" valueType="num">
                                      <p:cBhvr>
                                        <p:cTn id="156" dur="250" fill="hold"/>
                                        <p:tgtEl>
                                          <p:spTgt spid="41"/>
                                        </p:tgtEl>
                                        <p:attrNameLst>
                                          <p:attrName>ppt_x</p:attrName>
                                        </p:attrNameLst>
                                      </p:cBhvr>
                                      <p:tavLst>
                                        <p:tav tm="0">
                                          <p:val>
                                            <p:strVal val="#ppt_x"/>
                                          </p:val>
                                        </p:tav>
                                        <p:tav tm="100000">
                                          <p:val>
                                            <p:strVal val="#ppt_x"/>
                                          </p:val>
                                        </p:tav>
                                      </p:tavLst>
                                    </p:anim>
                                    <p:anim calcmode="lin" valueType="num">
                                      <p:cBhvr>
                                        <p:cTn id="157" dur="250" fill="hold"/>
                                        <p:tgtEl>
                                          <p:spTgt spid="41"/>
                                        </p:tgtEl>
                                        <p:attrNameLst>
                                          <p:attrName>ppt_y</p:attrName>
                                        </p:attrNameLst>
                                      </p:cBhvr>
                                      <p:tavLst>
                                        <p:tav tm="0">
                                          <p:val>
                                            <p:strVal val="#ppt_y+.1"/>
                                          </p:val>
                                        </p:tav>
                                        <p:tav tm="100000">
                                          <p:val>
                                            <p:strVal val="#ppt_y"/>
                                          </p:val>
                                        </p:tav>
                                      </p:tavLst>
                                    </p:anim>
                                  </p:childTnLst>
                                </p:cTn>
                              </p:par>
                              <p:par>
                                <p:cTn id="158" presetID="53" presetClass="entr" presetSubtype="16" fill="hold" grpId="0" nodeType="withEffect">
                                  <p:stCondLst>
                                    <p:cond delay="0"/>
                                  </p:stCondLst>
                                  <p:childTnLst>
                                    <p:set>
                                      <p:cBhvr>
                                        <p:cTn id="159" dur="1" fill="hold">
                                          <p:stCondLst>
                                            <p:cond delay="0"/>
                                          </p:stCondLst>
                                        </p:cTn>
                                        <p:tgtEl>
                                          <p:spTgt spid="40"/>
                                        </p:tgtEl>
                                        <p:attrNameLst>
                                          <p:attrName>style.visibility</p:attrName>
                                        </p:attrNameLst>
                                      </p:cBhvr>
                                      <p:to>
                                        <p:strVal val="visible"/>
                                      </p:to>
                                    </p:set>
                                    <p:anim calcmode="lin" valueType="num">
                                      <p:cBhvr>
                                        <p:cTn id="160" dur="250" fill="hold"/>
                                        <p:tgtEl>
                                          <p:spTgt spid="40"/>
                                        </p:tgtEl>
                                        <p:attrNameLst>
                                          <p:attrName>ppt_w</p:attrName>
                                        </p:attrNameLst>
                                      </p:cBhvr>
                                      <p:tavLst>
                                        <p:tav tm="0">
                                          <p:val>
                                            <p:fltVal val="0"/>
                                          </p:val>
                                        </p:tav>
                                        <p:tav tm="100000">
                                          <p:val>
                                            <p:strVal val="#ppt_w"/>
                                          </p:val>
                                        </p:tav>
                                      </p:tavLst>
                                    </p:anim>
                                    <p:anim calcmode="lin" valueType="num">
                                      <p:cBhvr>
                                        <p:cTn id="161" dur="250" fill="hold"/>
                                        <p:tgtEl>
                                          <p:spTgt spid="40"/>
                                        </p:tgtEl>
                                        <p:attrNameLst>
                                          <p:attrName>ppt_h</p:attrName>
                                        </p:attrNameLst>
                                      </p:cBhvr>
                                      <p:tavLst>
                                        <p:tav tm="0">
                                          <p:val>
                                            <p:fltVal val="0"/>
                                          </p:val>
                                        </p:tav>
                                        <p:tav tm="100000">
                                          <p:val>
                                            <p:strVal val="#ppt_h"/>
                                          </p:val>
                                        </p:tav>
                                      </p:tavLst>
                                    </p:anim>
                                    <p:animEffect transition="in" filter="fade">
                                      <p:cBhvr>
                                        <p:cTn id="162" dur="250"/>
                                        <p:tgtEl>
                                          <p:spTgt spid="40"/>
                                        </p:tgtEl>
                                      </p:cBhvr>
                                    </p:animEffect>
                                  </p:childTnLst>
                                </p:cTn>
                              </p:par>
                              <p:par>
                                <p:cTn id="163" presetID="22" presetClass="entr" presetSubtype="8" fill="hold" grpId="0" nodeType="withEffect">
                                  <p:stCondLst>
                                    <p:cond delay="0"/>
                                  </p:stCondLst>
                                  <p:childTnLst>
                                    <p:set>
                                      <p:cBhvr>
                                        <p:cTn id="164" dur="1" fill="hold">
                                          <p:stCondLst>
                                            <p:cond delay="0"/>
                                          </p:stCondLst>
                                        </p:cTn>
                                        <p:tgtEl>
                                          <p:spTgt spid="39"/>
                                        </p:tgtEl>
                                        <p:attrNameLst>
                                          <p:attrName>style.visibility</p:attrName>
                                        </p:attrNameLst>
                                      </p:cBhvr>
                                      <p:to>
                                        <p:strVal val="visible"/>
                                      </p:to>
                                    </p:set>
                                    <p:animEffect transition="in" filter="wipe(left)">
                                      <p:cBhvr>
                                        <p:cTn id="16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p:bldP spid="35" grpId="0"/>
      <p:bldP spid="37" grpId="0"/>
      <p:bldP spid="38" grpId="0"/>
      <p:bldP spid="39" grpId="0" animBg="1"/>
      <p:bldP spid="40" grpId="0"/>
      <p:bldP spid="4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g_reception.png"/>
          <p:cNvPicPr>
            <a:picLocks noChangeAspect="1"/>
          </p:cNvPicPr>
          <p:nvPr/>
        </p:nvPicPr>
        <p:blipFill>
          <a:blip r:embed="rId3">
            <a:alphaModFix amt="5000"/>
          </a:blip>
          <a:srcRect l="389" r="389"/>
          <a:stretch>
            <a:fillRect/>
          </a:stretch>
        </p:blipFill>
        <p:spPr>
          <a:xfrm>
            <a:off x="0" y="0"/>
            <a:ext cx="12191695" cy="6858000"/>
          </a:xfrm>
          <a:prstGeom prst="rect">
            <a:avLst/>
          </a:prstGeom>
        </p:spPr>
      </p:pic>
      <p:pic>
        <p:nvPicPr>
          <p:cNvPr id="3" name="!!navlogo" descr="aura_mark_ink.png"/>
          <p:cNvPicPr>
            <a:picLocks noChangeAspect="1"/>
          </p:cNvPicPr>
          <p:nvPr/>
        </p:nvPicPr>
        <p:blipFill>
          <a:blip r:embed="rId4"/>
          <a:stretch>
            <a:fillRect/>
          </a:stretch>
        </p:blipFill>
        <p:spPr>
          <a:xfrm>
            <a:off x="685800" y="384048"/>
            <a:ext cx="1254874" cy="182880"/>
          </a:xfrm>
          <a:prstGeom prst="rect">
            <a:avLst/>
          </a:prstGeom>
        </p:spPr>
      </p:pic>
      <p:sp>
        <p:nvSpPr>
          <p:cNvPr id="4"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5"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6"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7"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0A0A0A"/>
                </a:solidFill>
                <a:latin typeface="Segoe UI Semibold"/>
              </a:rPr>
              <a:t>Problem</a:t>
            </a:r>
          </a:p>
        </p:txBody>
      </p:sp>
      <p:sp>
        <p:nvSpPr>
          <p:cNvPr id="8" name="!!navline"/>
          <p:cNvSpPr/>
          <p:nvPr/>
        </p:nvSpPr>
        <p:spPr>
          <a:xfrm>
            <a:off x="8195767" y="621792"/>
            <a:ext cx="548640" cy="2286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age"/>
          <p:cNvSpPr txBox="1"/>
          <p:nvPr/>
        </p:nvSpPr>
        <p:spPr>
          <a:xfrm>
            <a:off x="10591495" y="6355080"/>
            <a:ext cx="914400" cy="228600"/>
          </a:xfrm>
          <a:prstGeom prst="rect">
            <a:avLst/>
          </a:prstGeom>
          <a:noFill/>
        </p:spPr>
        <p:txBody>
          <a:bodyPr wrap="square" lIns="0" tIns="0" rIns="0" bIns="0" anchor="t"/>
          <a:lstStyle/>
          <a:p>
            <a:pPr algn="r"/>
            <a:r>
              <a:rPr sz="900" b="0">
                <a:solidFill>
                  <a:srgbClr val="6E6E73"/>
                </a:solidFill>
                <a:latin typeface="Segoe UI"/>
              </a:rPr>
              <a:t>04</a:t>
            </a:r>
          </a:p>
        </p:txBody>
      </p:sp>
      <p:sp>
        <p:nvSpPr>
          <p:cNvPr id="10" name="el37"/>
          <p:cNvSpPr txBox="1"/>
          <p:nvPr/>
        </p:nvSpPr>
        <p:spPr>
          <a:xfrm>
            <a:off x="685800" y="914400"/>
            <a:ext cx="10515600" cy="548640"/>
          </a:xfrm>
          <a:prstGeom prst="rect">
            <a:avLst/>
          </a:prstGeom>
          <a:noFill/>
        </p:spPr>
        <p:txBody>
          <a:bodyPr wrap="square" lIns="0" tIns="0" rIns="0" bIns="0" anchor="t"/>
          <a:lstStyle/>
          <a:p>
            <a:pPr algn="l">
              <a:lnSpc>
                <a:spcPct val="102000"/>
              </a:lnSpc>
            </a:pPr>
            <a:r>
              <a:rPr sz="2800" b="0">
                <a:solidFill>
                  <a:srgbClr val="0A0A0A"/>
                </a:solidFill>
                <a:latin typeface="Segoe UI"/>
              </a:rPr>
              <a:t>The patient journey today. </a:t>
            </a:r>
            <a:r>
              <a:rPr sz="2800" b="0">
                <a:solidFill>
                  <a:srgbClr val="8E8E93"/>
                </a:solidFill>
                <a:latin typeface="Segoe UI"/>
              </a:rPr>
              <a:t>Where it goes wrong.</a:t>
            </a:r>
          </a:p>
        </p:txBody>
      </p:sp>
      <p:pic>
        <p:nvPicPr>
          <p:cNvPr id="11" name="el38" descr="loop_today_entry.png"/>
          <p:cNvPicPr>
            <a:picLocks noChangeAspect="1"/>
          </p:cNvPicPr>
          <p:nvPr/>
        </p:nvPicPr>
        <p:blipFill>
          <a:blip r:embed="rId5"/>
          <a:stretch>
            <a:fillRect/>
          </a:stretch>
        </p:blipFill>
        <p:spPr>
          <a:xfrm>
            <a:off x="0" y="0"/>
            <a:ext cx="12191695" cy="6858000"/>
          </a:xfrm>
          <a:prstGeom prst="rect">
            <a:avLst/>
          </a:prstGeom>
        </p:spPr>
      </p:pic>
      <p:pic>
        <p:nvPicPr>
          <p:cNvPr id="12" name="el39" descr="loop_today_room.png"/>
          <p:cNvPicPr>
            <a:picLocks noChangeAspect="1"/>
          </p:cNvPicPr>
          <p:nvPr/>
        </p:nvPicPr>
        <p:blipFill>
          <a:blip r:embed="rId6"/>
          <a:stretch>
            <a:fillRect/>
          </a:stretch>
        </p:blipFill>
        <p:spPr>
          <a:xfrm>
            <a:off x="0" y="0"/>
            <a:ext cx="12191695" cy="6858000"/>
          </a:xfrm>
          <a:prstGeom prst="rect">
            <a:avLst/>
          </a:prstGeom>
        </p:spPr>
      </p:pic>
      <p:pic>
        <p:nvPicPr>
          <p:cNvPr id="13" name="el40" descr="loop_today_wait.png"/>
          <p:cNvPicPr>
            <a:picLocks noChangeAspect="1"/>
          </p:cNvPicPr>
          <p:nvPr/>
        </p:nvPicPr>
        <p:blipFill>
          <a:blip r:embed="rId7"/>
          <a:stretch>
            <a:fillRect/>
          </a:stretch>
        </p:blipFill>
        <p:spPr>
          <a:xfrm>
            <a:off x="0" y="0"/>
            <a:ext cx="12191695" cy="6858000"/>
          </a:xfrm>
          <a:prstGeom prst="rect">
            <a:avLst/>
          </a:prstGeom>
        </p:spPr>
      </p:pic>
      <p:pic>
        <p:nvPicPr>
          <p:cNvPr id="14" name="el41" descr="loop_today_next.png"/>
          <p:cNvPicPr>
            <a:picLocks noChangeAspect="1"/>
          </p:cNvPicPr>
          <p:nvPr/>
        </p:nvPicPr>
        <p:blipFill>
          <a:blip r:embed="rId8"/>
          <a:stretch>
            <a:fillRect/>
          </a:stretch>
        </p:blipFill>
        <p:spPr>
          <a:xfrm>
            <a:off x="0" y="0"/>
            <a:ext cx="12191695" cy="6858000"/>
          </a:xfrm>
          <a:prstGeom prst="rect">
            <a:avLst/>
          </a:prstGeom>
        </p:spPr>
      </p:pic>
      <p:pic>
        <p:nvPicPr>
          <p:cNvPr id="15" name="el42" descr="loop_today_exit.png"/>
          <p:cNvPicPr>
            <a:picLocks noChangeAspect="1"/>
          </p:cNvPicPr>
          <p:nvPr/>
        </p:nvPicPr>
        <p:blipFill>
          <a:blip r:embed="rId9"/>
          <a:stretch>
            <a:fillRect/>
          </a:stretch>
        </p:blipFill>
        <p:spPr>
          <a:xfrm>
            <a:off x="0" y="0"/>
            <a:ext cx="12191695" cy="6858000"/>
          </a:xfrm>
          <a:prstGeom prst="rect">
            <a:avLst/>
          </a:prstGeom>
        </p:spPr>
      </p:pic>
      <p:sp>
        <p:nvSpPr>
          <p:cNvPr id="16" name="el43"/>
          <p:cNvSpPr txBox="1"/>
          <p:nvPr/>
        </p:nvSpPr>
        <p:spPr>
          <a:xfrm>
            <a:off x="4800600" y="3730752"/>
            <a:ext cx="1828800" cy="640080"/>
          </a:xfrm>
          <a:prstGeom prst="rect">
            <a:avLst/>
          </a:prstGeom>
          <a:noFill/>
        </p:spPr>
        <p:txBody>
          <a:bodyPr wrap="square" lIns="0" tIns="0" rIns="0" bIns="0" anchor="t"/>
          <a:lstStyle/>
          <a:p>
            <a:pPr algn="ctr">
              <a:lnSpc>
                <a:spcPct val="110000"/>
              </a:lnSpc>
            </a:pPr>
            <a:r>
              <a:rPr sz="1200" b="0">
                <a:solidFill>
                  <a:srgbClr val="8E8E93"/>
                </a:solidFill>
                <a:latin typeface="Segoe UI"/>
              </a:rPr>
              <a:t>The whole process:</a:t>
            </a:r>
          </a:p>
          <a:p>
            <a:pPr algn="ctr">
              <a:lnSpc>
                <a:spcPct val="110000"/>
              </a:lnSpc>
            </a:pPr>
            <a:r>
              <a:rPr sz="1200" b="0">
                <a:solidFill>
                  <a:srgbClr val="8E8E93"/>
                </a:solidFill>
                <a:latin typeface="Segoe UI"/>
              </a:rPr>
              <a:t>very unpleasant</a:t>
            </a:r>
          </a:p>
        </p:txBody>
      </p:sp>
      <p:sp>
        <p:nvSpPr>
          <p:cNvPr id="17" name="el44"/>
          <p:cNvSpPr/>
          <p:nvPr/>
        </p:nvSpPr>
        <p:spPr>
          <a:xfrm>
            <a:off x="2377440" y="3886200"/>
            <a:ext cx="274320" cy="274320"/>
          </a:xfrm>
          <a:prstGeom prst="ellipse">
            <a:avLst/>
          </a:prstGeom>
          <a:solidFill>
            <a:srgbClr val="E5484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18" name="el45"/>
          <p:cNvSpPr txBox="1"/>
          <p:nvPr/>
        </p:nvSpPr>
        <p:spPr>
          <a:xfrm>
            <a:off x="914400" y="3154680"/>
            <a:ext cx="3108960" cy="292608"/>
          </a:xfrm>
          <a:prstGeom prst="rect">
            <a:avLst/>
          </a:prstGeom>
          <a:noFill/>
        </p:spPr>
        <p:txBody>
          <a:bodyPr wrap="square" lIns="0" tIns="0" rIns="0" bIns="0" anchor="t"/>
          <a:lstStyle/>
          <a:p>
            <a:pPr algn="l"/>
            <a:r>
              <a:rPr sz="1400" b="0">
                <a:solidFill>
                  <a:srgbClr val="0A0A0A"/>
                </a:solidFill>
                <a:latin typeface="Segoe UI Semibold"/>
              </a:rPr>
              <a:t>Arrival &amp; check-in</a:t>
            </a:r>
          </a:p>
        </p:txBody>
      </p:sp>
      <p:sp>
        <p:nvSpPr>
          <p:cNvPr id="19" name="el46"/>
          <p:cNvSpPr txBox="1"/>
          <p:nvPr/>
        </p:nvSpPr>
        <p:spPr>
          <a:xfrm>
            <a:off x="914400" y="3456432"/>
            <a:ext cx="3108960" cy="502920"/>
          </a:xfrm>
          <a:prstGeom prst="rect">
            <a:avLst/>
          </a:prstGeom>
          <a:noFill/>
        </p:spPr>
        <p:txBody>
          <a:bodyPr wrap="square" lIns="0" tIns="0" rIns="0" bIns="0" anchor="t"/>
          <a:lstStyle/>
          <a:p>
            <a:pPr algn="l">
              <a:lnSpc>
                <a:spcPct val="105000"/>
              </a:lnSpc>
            </a:pPr>
            <a:r>
              <a:rPr sz="1300" b="0">
                <a:solidFill>
                  <a:srgbClr val="E5484D"/>
                </a:solidFill>
                <a:latin typeface="Segoe UI"/>
              </a:rPr>
              <a:t>Very long instructions</a:t>
            </a:r>
          </a:p>
        </p:txBody>
      </p:sp>
      <p:sp>
        <p:nvSpPr>
          <p:cNvPr id="20" name="el47"/>
          <p:cNvSpPr/>
          <p:nvPr/>
        </p:nvSpPr>
        <p:spPr>
          <a:xfrm>
            <a:off x="914400" y="2697480"/>
            <a:ext cx="2377440" cy="329184"/>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el48"/>
          <p:cNvSpPr/>
          <p:nvPr/>
        </p:nvSpPr>
        <p:spPr>
          <a:xfrm>
            <a:off x="1119957" y="2752344"/>
            <a:ext cx="100949" cy="10094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el49"/>
          <p:cNvSpPr/>
          <p:nvPr/>
        </p:nvSpPr>
        <p:spPr>
          <a:xfrm>
            <a:off x="1060704" y="2866461"/>
            <a:ext cx="219456" cy="105338"/>
          </a:xfrm>
          <a:prstGeom prst="round2SameRect">
            <a:avLst>
              <a:gd name="adj1" fmla="val 5000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el50"/>
          <p:cNvSpPr txBox="1"/>
          <p:nvPr/>
        </p:nvSpPr>
        <p:spPr>
          <a:xfrm>
            <a:off x="1371600" y="2697480"/>
            <a:ext cx="1874519" cy="329184"/>
          </a:xfrm>
          <a:prstGeom prst="rect">
            <a:avLst/>
          </a:prstGeom>
          <a:noFill/>
        </p:spPr>
        <p:txBody>
          <a:bodyPr wrap="square" lIns="0" tIns="0" rIns="0" bIns="0" anchor="ctr"/>
          <a:lstStyle/>
          <a:p>
            <a:pPr algn="l"/>
            <a:r>
              <a:rPr sz="1150" b="0">
                <a:solidFill>
                  <a:srgbClr val="FFFFFF"/>
                </a:solidFill>
                <a:latin typeface="Segoe UI Semibold"/>
              </a:rPr>
              <a:t>Staff decide the room</a:t>
            </a:r>
          </a:p>
        </p:txBody>
      </p:sp>
      <p:sp>
        <p:nvSpPr>
          <p:cNvPr id="24" name="el51"/>
          <p:cNvSpPr/>
          <p:nvPr/>
        </p:nvSpPr>
        <p:spPr>
          <a:xfrm>
            <a:off x="5393313" y="2573223"/>
            <a:ext cx="274320" cy="274320"/>
          </a:xfrm>
          <a:prstGeom prst="ellipse">
            <a:avLst/>
          </a:prstGeom>
          <a:solidFill>
            <a:srgbClr val="E5484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25" name="el52"/>
          <p:cNvSpPr txBox="1"/>
          <p:nvPr/>
        </p:nvSpPr>
        <p:spPr>
          <a:xfrm>
            <a:off x="3977639" y="1572768"/>
            <a:ext cx="3474720" cy="292608"/>
          </a:xfrm>
          <a:prstGeom prst="rect">
            <a:avLst/>
          </a:prstGeom>
          <a:noFill/>
        </p:spPr>
        <p:txBody>
          <a:bodyPr wrap="square" lIns="0" tIns="0" rIns="0" bIns="0" anchor="t"/>
          <a:lstStyle/>
          <a:p>
            <a:pPr algn="ctr"/>
            <a:r>
              <a:rPr sz="1400" b="0">
                <a:solidFill>
                  <a:srgbClr val="0A0A0A"/>
                </a:solidFill>
                <a:latin typeface="Segoe UI Semibold"/>
              </a:rPr>
              <a:t>Bring to the room</a:t>
            </a:r>
          </a:p>
        </p:txBody>
      </p:sp>
      <p:sp>
        <p:nvSpPr>
          <p:cNvPr id="26" name="el53"/>
          <p:cNvSpPr txBox="1"/>
          <p:nvPr/>
        </p:nvSpPr>
        <p:spPr>
          <a:xfrm>
            <a:off x="3977639" y="1874519"/>
            <a:ext cx="3474720" cy="502920"/>
          </a:xfrm>
          <a:prstGeom prst="rect">
            <a:avLst/>
          </a:prstGeom>
          <a:noFill/>
        </p:spPr>
        <p:txBody>
          <a:bodyPr wrap="square" lIns="0" tIns="0" rIns="0" bIns="0" anchor="t"/>
          <a:lstStyle/>
          <a:p>
            <a:pPr algn="ctr">
              <a:lnSpc>
                <a:spcPct val="105000"/>
              </a:lnSpc>
            </a:pPr>
            <a:r>
              <a:rPr sz="1300" b="0">
                <a:solidFill>
                  <a:srgbClr val="E5484D"/>
                </a:solidFill>
                <a:latin typeface="Segoe UI"/>
              </a:rPr>
              <a:t>Patients get lost</a:t>
            </a:r>
          </a:p>
        </p:txBody>
      </p:sp>
      <p:sp>
        <p:nvSpPr>
          <p:cNvPr id="27" name="el54"/>
          <p:cNvSpPr/>
          <p:nvPr/>
        </p:nvSpPr>
        <p:spPr>
          <a:xfrm>
            <a:off x="6748522" y="4508662"/>
            <a:ext cx="274320" cy="274320"/>
          </a:xfrm>
          <a:prstGeom prst="ellipse">
            <a:avLst/>
          </a:prstGeom>
          <a:solidFill>
            <a:srgbClr val="E5484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28" name="el55"/>
          <p:cNvSpPr txBox="1"/>
          <p:nvPr/>
        </p:nvSpPr>
        <p:spPr>
          <a:xfrm>
            <a:off x="7498079" y="4389120"/>
            <a:ext cx="3291840" cy="292608"/>
          </a:xfrm>
          <a:prstGeom prst="rect">
            <a:avLst/>
          </a:prstGeom>
          <a:noFill/>
        </p:spPr>
        <p:txBody>
          <a:bodyPr wrap="square" lIns="0" tIns="0" rIns="0" bIns="0" anchor="t"/>
          <a:lstStyle/>
          <a:p>
            <a:pPr algn="l"/>
            <a:r>
              <a:rPr sz="1400" b="0">
                <a:solidFill>
                  <a:srgbClr val="0A0A0A"/>
                </a:solidFill>
                <a:latin typeface="Segoe UI Semibold"/>
              </a:rPr>
              <a:t>Wait &amp; consultation</a:t>
            </a:r>
          </a:p>
        </p:txBody>
      </p:sp>
      <p:sp>
        <p:nvSpPr>
          <p:cNvPr id="29" name="el56"/>
          <p:cNvSpPr txBox="1"/>
          <p:nvPr/>
        </p:nvSpPr>
        <p:spPr>
          <a:xfrm>
            <a:off x="7498079" y="4690872"/>
            <a:ext cx="3291840" cy="502920"/>
          </a:xfrm>
          <a:prstGeom prst="rect">
            <a:avLst/>
          </a:prstGeom>
          <a:noFill/>
        </p:spPr>
        <p:txBody>
          <a:bodyPr wrap="square" lIns="0" tIns="0" rIns="0" bIns="0" anchor="t"/>
          <a:lstStyle/>
          <a:p>
            <a:pPr algn="l">
              <a:lnSpc>
                <a:spcPct val="105000"/>
              </a:lnSpc>
            </a:pPr>
            <a:r>
              <a:rPr sz="1300" b="0">
                <a:solidFill>
                  <a:srgbClr val="E5484D"/>
                </a:solidFill>
                <a:latin typeface="Segoe UI"/>
              </a:rPr>
              <a:t>Patient late, doctor waits</a:t>
            </a:r>
          </a:p>
        </p:txBody>
      </p:sp>
      <p:sp>
        <p:nvSpPr>
          <p:cNvPr id="30" name="el57"/>
          <p:cNvSpPr/>
          <p:nvPr/>
        </p:nvSpPr>
        <p:spPr>
          <a:xfrm>
            <a:off x="4656806" y="4839958"/>
            <a:ext cx="274320" cy="274320"/>
          </a:xfrm>
          <a:prstGeom prst="ellipse">
            <a:avLst/>
          </a:prstGeom>
          <a:solidFill>
            <a:srgbClr val="E5484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31" name="el58"/>
          <p:cNvSpPr txBox="1"/>
          <p:nvPr/>
        </p:nvSpPr>
        <p:spPr>
          <a:xfrm>
            <a:off x="822960" y="4983480"/>
            <a:ext cx="3337560" cy="292608"/>
          </a:xfrm>
          <a:prstGeom prst="rect">
            <a:avLst/>
          </a:prstGeom>
          <a:noFill/>
        </p:spPr>
        <p:txBody>
          <a:bodyPr wrap="square" lIns="0" tIns="0" rIns="0" bIns="0" anchor="t"/>
          <a:lstStyle/>
          <a:p>
            <a:pPr algn="r"/>
            <a:r>
              <a:rPr sz="1400" b="0">
                <a:solidFill>
                  <a:srgbClr val="0A0A0A"/>
                </a:solidFill>
                <a:latin typeface="Segoe UI Semibold"/>
              </a:rPr>
              <a:t>Next department</a:t>
            </a:r>
          </a:p>
        </p:txBody>
      </p:sp>
      <p:sp>
        <p:nvSpPr>
          <p:cNvPr id="32" name="el59"/>
          <p:cNvSpPr txBox="1"/>
          <p:nvPr/>
        </p:nvSpPr>
        <p:spPr>
          <a:xfrm>
            <a:off x="822960" y="5285232"/>
            <a:ext cx="3337560" cy="502920"/>
          </a:xfrm>
          <a:prstGeom prst="rect">
            <a:avLst/>
          </a:prstGeom>
          <a:noFill/>
        </p:spPr>
        <p:txBody>
          <a:bodyPr wrap="square" lIns="0" tIns="0" rIns="0" bIns="0" anchor="t"/>
          <a:lstStyle/>
          <a:p>
            <a:pPr algn="r">
              <a:lnSpc>
                <a:spcPct val="105000"/>
              </a:lnSpc>
            </a:pPr>
            <a:r>
              <a:rPr sz="1300" b="0">
                <a:solidFill>
                  <a:srgbClr val="E5484D"/>
                </a:solidFill>
                <a:latin typeface="Segoe UI"/>
              </a:rPr>
              <a:t>Repeats, again and again</a:t>
            </a:r>
          </a:p>
        </p:txBody>
      </p:sp>
      <p:sp>
        <p:nvSpPr>
          <p:cNvPr id="33" name="el60"/>
          <p:cNvSpPr/>
          <p:nvPr/>
        </p:nvSpPr>
        <p:spPr>
          <a:xfrm>
            <a:off x="8046719" y="3368137"/>
            <a:ext cx="274320" cy="274320"/>
          </a:xfrm>
          <a:prstGeom prst="ellipse">
            <a:avLst/>
          </a:prstGeom>
          <a:solidFill>
            <a:srgbClr val="E5484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34" name="el61"/>
          <p:cNvSpPr txBox="1"/>
          <p:nvPr/>
        </p:nvSpPr>
        <p:spPr>
          <a:xfrm>
            <a:off x="9464040" y="3230977"/>
            <a:ext cx="2041855" cy="292608"/>
          </a:xfrm>
          <a:prstGeom prst="rect">
            <a:avLst/>
          </a:prstGeom>
          <a:noFill/>
        </p:spPr>
        <p:txBody>
          <a:bodyPr wrap="square" lIns="0" tIns="0" rIns="0" bIns="0" anchor="t"/>
          <a:lstStyle/>
          <a:p>
            <a:pPr algn="l"/>
            <a:r>
              <a:rPr sz="1400" b="0">
                <a:solidFill>
                  <a:srgbClr val="0A0A0A"/>
                </a:solidFill>
                <a:latin typeface="Segoe UI Semibold"/>
              </a:rPr>
              <a:t>Exit</a:t>
            </a:r>
          </a:p>
        </p:txBody>
      </p:sp>
      <p:sp>
        <p:nvSpPr>
          <p:cNvPr id="35" name="el62"/>
          <p:cNvSpPr txBox="1"/>
          <p:nvPr/>
        </p:nvSpPr>
        <p:spPr>
          <a:xfrm>
            <a:off x="9464040" y="3532729"/>
            <a:ext cx="2041855" cy="502920"/>
          </a:xfrm>
          <a:prstGeom prst="rect">
            <a:avLst/>
          </a:prstGeom>
          <a:noFill/>
        </p:spPr>
        <p:txBody>
          <a:bodyPr wrap="square" lIns="0" tIns="0" rIns="0" bIns="0" anchor="t"/>
          <a:lstStyle/>
          <a:p>
            <a:pPr algn="l">
              <a:lnSpc>
                <a:spcPct val="105000"/>
              </a:lnSpc>
            </a:pPr>
            <a:r>
              <a:rPr sz="1300" b="0">
                <a:solidFill>
                  <a:srgbClr val="E5484D"/>
                </a:solidFill>
                <a:latin typeface="Segoe UI"/>
              </a:rPr>
              <a:t>Searching for the exit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anim calcmode="lin" valueType="num">
                                      <p:cBhvr>
                                        <p:cTn id="8" dur="250" fill="hold"/>
                                        <p:tgtEl>
                                          <p:spTgt spid="10"/>
                                        </p:tgtEl>
                                        <p:attrNameLst>
                                          <p:attrName>ppt_x</p:attrName>
                                        </p:attrNameLst>
                                      </p:cBhvr>
                                      <p:tavLst>
                                        <p:tav tm="0">
                                          <p:val>
                                            <p:strVal val="#ppt_x"/>
                                          </p:val>
                                        </p:tav>
                                        <p:tav tm="100000">
                                          <p:val>
                                            <p:strVal val="#ppt_x"/>
                                          </p:val>
                                        </p:tav>
                                      </p:tavLst>
                                    </p:anim>
                                    <p:anim calcmode="lin" valueType="num">
                                      <p:cBhvr>
                                        <p:cTn id="9" dur="2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nodeType="afterEffect">
                                  <p:stCondLst>
                                    <p:cond delay="5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par>
                          <p:cTn id="14" fill="hold">
                            <p:stCondLst>
                              <p:cond delay="1050"/>
                            </p:stCondLst>
                            <p:childTnLst>
                              <p:par>
                                <p:cTn id="15" presetID="10" presetClass="entr" presetSubtype="0" fill="hold" nodeType="afterEffect">
                                  <p:stCondLst>
                                    <p:cond delay="5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250"/>
                                        <p:tgtEl>
                                          <p:spTgt spid="12"/>
                                        </p:tgtEl>
                                      </p:cBhvr>
                                    </p:animEffect>
                                  </p:childTnLst>
                                </p:cTn>
                              </p:par>
                            </p:childTnLst>
                          </p:cTn>
                        </p:par>
                        <p:par>
                          <p:cTn id="18" fill="hold">
                            <p:stCondLst>
                              <p:cond delay="1350"/>
                            </p:stCondLst>
                            <p:childTnLst>
                              <p:par>
                                <p:cTn id="19" presetID="10" presetClass="entr" presetSubtype="0" fill="hold" nodeType="afterEffect">
                                  <p:stCondLst>
                                    <p:cond delay="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250"/>
                                        <p:tgtEl>
                                          <p:spTgt spid="13"/>
                                        </p:tgtEl>
                                      </p:cBhvr>
                                    </p:animEffect>
                                  </p:childTnLst>
                                </p:cTn>
                              </p:par>
                            </p:childTnLst>
                          </p:cTn>
                        </p:par>
                        <p:par>
                          <p:cTn id="22" fill="hold">
                            <p:stCondLst>
                              <p:cond delay="1650"/>
                            </p:stCondLst>
                            <p:childTnLst>
                              <p:par>
                                <p:cTn id="23" presetID="10" presetClass="entr" presetSubtype="0" fill="hold" nodeType="afterEffect">
                                  <p:stCondLst>
                                    <p:cond delay="5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250"/>
                                        <p:tgtEl>
                                          <p:spTgt spid="14"/>
                                        </p:tgtEl>
                                      </p:cBhvr>
                                    </p:animEffect>
                                  </p:childTnLst>
                                </p:cTn>
                              </p:par>
                            </p:childTnLst>
                          </p:cTn>
                        </p:par>
                        <p:par>
                          <p:cTn id="26" fill="hold">
                            <p:stCondLst>
                              <p:cond delay="1950"/>
                            </p:stCondLst>
                            <p:childTnLst>
                              <p:par>
                                <p:cTn id="27" presetID="22" presetClass="entr" presetSubtype="8" fill="hold" nodeType="afterEffect">
                                  <p:stCondLst>
                                    <p:cond delay="5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par>
                          <p:cTn id="30" fill="hold">
                            <p:stCondLst>
                              <p:cond delay="2500"/>
                            </p:stCondLst>
                            <p:childTnLst>
                              <p:par>
                                <p:cTn id="31" presetID="10" presetClass="entr" presetSubtype="0" fill="hold" grpId="0" nodeType="afterEffect">
                                  <p:stCondLst>
                                    <p:cond delay="5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250"/>
                                        <p:tgtEl>
                                          <p:spTgt spid="16"/>
                                        </p:tgtEl>
                                      </p:cBhvr>
                                    </p:animEffect>
                                  </p:childTnLst>
                                </p:cTn>
                              </p:par>
                            </p:childTnLst>
                          </p:cTn>
                        </p:par>
                        <p:par>
                          <p:cTn id="34" fill="hold">
                            <p:stCondLst>
                              <p:cond delay="2800"/>
                            </p:stCondLst>
                            <p:childTnLst>
                              <p:par>
                                <p:cTn id="35" presetID="42" presetClass="entr" presetSubtype="0" fill="hold" grpId="0" nodeType="afterEffect">
                                  <p:stCondLst>
                                    <p:cond delay="5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250"/>
                                        <p:tgtEl>
                                          <p:spTgt spid="21"/>
                                        </p:tgtEl>
                                      </p:cBhvr>
                                    </p:animEffect>
                                    <p:anim calcmode="lin" valueType="num">
                                      <p:cBhvr>
                                        <p:cTn id="38" dur="250" fill="hold"/>
                                        <p:tgtEl>
                                          <p:spTgt spid="21"/>
                                        </p:tgtEl>
                                        <p:attrNameLst>
                                          <p:attrName>ppt_x</p:attrName>
                                        </p:attrNameLst>
                                      </p:cBhvr>
                                      <p:tavLst>
                                        <p:tav tm="0">
                                          <p:val>
                                            <p:strVal val="#ppt_x"/>
                                          </p:val>
                                        </p:tav>
                                        <p:tav tm="100000">
                                          <p:val>
                                            <p:strVal val="#ppt_x"/>
                                          </p:val>
                                        </p:tav>
                                      </p:tavLst>
                                    </p:anim>
                                    <p:anim calcmode="lin" valueType="num">
                                      <p:cBhvr>
                                        <p:cTn id="39" dur="250" fill="hold"/>
                                        <p:tgtEl>
                                          <p:spTgt spid="2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250"/>
                                        <p:tgtEl>
                                          <p:spTgt spid="22"/>
                                        </p:tgtEl>
                                      </p:cBhvr>
                                    </p:animEffect>
                                    <p:anim calcmode="lin" valueType="num">
                                      <p:cBhvr>
                                        <p:cTn id="43" dur="250" fill="hold"/>
                                        <p:tgtEl>
                                          <p:spTgt spid="22"/>
                                        </p:tgtEl>
                                        <p:attrNameLst>
                                          <p:attrName>ppt_x</p:attrName>
                                        </p:attrNameLst>
                                      </p:cBhvr>
                                      <p:tavLst>
                                        <p:tav tm="0">
                                          <p:val>
                                            <p:strVal val="#ppt_x"/>
                                          </p:val>
                                        </p:tav>
                                        <p:tav tm="100000">
                                          <p:val>
                                            <p:strVal val="#ppt_x"/>
                                          </p:val>
                                        </p:tav>
                                      </p:tavLst>
                                    </p:anim>
                                    <p:anim calcmode="lin" valueType="num">
                                      <p:cBhvr>
                                        <p:cTn id="44" dur="250" fill="hold"/>
                                        <p:tgtEl>
                                          <p:spTgt spid="2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250"/>
                                        <p:tgtEl>
                                          <p:spTgt spid="23"/>
                                        </p:tgtEl>
                                      </p:cBhvr>
                                    </p:animEffect>
                                    <p:anim calcmode="lin" valueType="num">
                                      <p:cBhvr>
                                        <p:cTn id="48" dur="250" fill="hold"/>
                                        <p:tgtEl>
                                          <p:spTgt spid="23"/>
                                        </p:tgtEl>
                                        <p:attrNameLst>
                                          <p:attrName>ppt_x</p:attrName>
                                        </p:attrNameLst>
                                      </p:cBhvr>
                                      <p:tavLst>
                                        <p:tav tm="0">
                                          <p:val>
                                            <p:strVal val="#ppt_x"/>
                                          </p:val>
                                        </p:tav>
                                        <p:tav tm="100000">
                                          <p:val>
                                            <p:strVal val="#ppt_x"/>
                                          </p:val>
                                        </p:tav>
                                      </p:tavLst>
                                    </p:anim>
                                    <p:anim calcmode="lin" valueType="num">
                                      <p:cBhvr>
                                        <p:cTn id="49" dur="250" fill="hold"/>
                                        <p:tgtEl>
                                          <p:spTgt spid="2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250"/>
                                        <p:tgtEl>
                                          <p:spTgt spid="20"/>
                                        </p:tgtEl>
                                      </p:cBhvr>
                                    </p:animEffect>
                                    <p:anim calcmode="lin" valueType="num">
                                      <p:cBhvr>
                                        <p:cTn id="53" dur="250" fill="hold"/>
                                        <p:tgtEl>
                                          <p:spTgt spid="20"/>
                                        </p:tgtEl>
                                        <p:attrNameLst>
                                          <p:attrName>ppt_x</p:attrName>
                                        </p:attrNameLst>
                                      </p:cBhvr>
                                      <p:tavLst>
                                        <p:tav tm="0">
                                          <p:val>
                                            <p:strVal val="#ppt_x"/>
                                          </p:val>
                                        </p:tav>
                                        <p:tav tm="100000">
                                          <p:val>
                                            <p:strVal val="#ppt_x"/>
                                          </p:val>
                                        </p:tav>
                                      </p:tavLst>
                                    </p:anim>
                                    <p:anim calcmode="lin" valueType="num">
                                      <p:cBhvr>
                                        <p:cTn id="54" dur="250" fill="hold"/>
                                        <p:tgtEl>
                                          <p:spTgt spid="20"/>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250"/>
                                        <p:tgtEl>
                                          <p:spTgt spid="17"/>
                                        </p:tgtEl>
                                      </p:cBhvr>
                                    </p:animEffect>
                                    <p:anim calcmode="lin" valueType="num">
                                      <p:cBhvr>
                                        <p:cTn id="58" dur="250" fill="hold"/>
                                        <p:tgtEl>
                                          <p:spTgt spid="17"/>
                                        </p:tgtEl>
                                        <p:attrNameLst>
                                          <p:attrName>ppt_x</p:attrName>
                                        </p:attrNameLst>
                                      </p:cBhvr>
                                      <p:tavLst>
                                        <p:tav tm="0">
                                          <p:val>
                                            <p:strVal val="#ppt_x"/>
                                          </p:val>
                                        </p:tav>
                                        <p:tav tm="100000">
                                          <p:val>
                                            <p:strVal val="#ppt_x"/>
                                          </p:val>
                                        </p:tav>
                                      </p:tavLst>
                                    </p:anim>
                                    <p:anim calcmode="lin" valueType="num">
                                      <p:cBhvr>
                                        <p:cTn id="59" dur="250" fill="hold"/>
                                        <p:tgtEl>
                                          <p:spTgt spid="1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250"/>
                                        <p:tgtEl>
                                          <p:spTgt spid="18"/>
                                        </p:tgtEl>
                                      </p:cBhvr>
                                    </p:animEffect>
                                    <p:anim calcmode="lin" valueType="num">
                                      <p:cBhvr>
                                        <p:cTn id="63" dur="250" fill="hold"/>
                                        <p:tgtEl>
                                          <p:spTgt spid="18"/>
                                        </p:tgtEl>
                                        <p:attrNameLst>
                                          <p:attrName>ppt_x</p:attrName>
                                        </p:attrNameLst>
                                      </p:cBhvr>
                                      <p:tavLst>
                                        <p:tav tm="0">
                                          <p:val>
                                            <p:strVal val="#ppt_x"/>
                                          </p:val>
                                        </p:tav>
                                        <p:tav tm="100000">
                                          <p:val>
                                            <p:strVal val="#ppt_x"/>
                                          </p:val>
                                        </p:tav>
                                      </p:tavLst>
                                    </p:anim>
                                    <p:anim calcmode="lin" valueType="num">
                                      <p:cBhvr>
                                        <p:cTn id="64" dur="250" fill="hold"/>
                                        <p:tgtEl>
                                          <p:spTgt spid="18"/>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250"/>
                                        <p:tgtEl>
                                          <p:spTgt spid="19"/>
                                        </p:tgtEl>
                                      </p:cBhvr>
                                    </p:animEffect>
                                    <p:anim calcmode="lin" valueType="num">
                                      <p:cBhvr>
                                        <p:cTn id="68" dur="250" fill="hold"/>
                                        <p:tgtEl>
                                          <p:spTgt spid="19"/>
                                        </p:tgtEl>
                                        <p:attrNameLst>
                                          <p:attrName>ppt_x</p:attrName>
                                        </p:attrNameLst>
                                      </p:cBhvr>
                                      <p:tavLst>
                                        <p:tav tm="0">
                                          <p:val>
                                            <p:strVal val="#ppt_x"/>
                                          </p:val>
                                        </p:tav>
                                        <p:tav tm="100000">
                                          <p:val>
                                            <p:strVal val="#ppt_x"/>
                                          </p:val>
                                        </p:tav>
                                      </p:tavLst>
                                    </p:anim>
                                    <p:anim calcmode="lin" valueType="num">
                                      <p:cBhvr>
                                        <p:cTn id="69" dur="250" fill="hold"/>
                                        <p:tgtEl>
                                          <p:spTgt spid="19"/>
                                        </p:tgtEl>
                                        <p:attrNameLst>
                                          <p:attrName>ppt_y</p:attrName>
                                        </p:attrNameLst>
                                      </p:cBhvr>
                                      <p:tavLst>
                                        <p:tav tm="0">
                                          <p:val>
                                            <p:strVal val="#ppt_y+.1"/>
                                          </p:val>
                                        </p:tav>
                                        <p:tav tm="100000">
                                          <p:val>
                                            <p:strVal val="#ppt_y"/>
                                          </p:val>
                                        </p:tav>
                                      </p:tavLst>
                                    </p:anim>
                                  </p:childTnLst>
                                </p:cTn>
                              </p:par>
                            </p:childTnLst>
                          </p:cTn>
                        </p:par>
                        <p:par>
                          <p:cTn id="70" fill="hold">
                            <p:stCondLst>
                              <p:cond delay="3100"/>
                            </p:stCondLst>
                            <p:childTnLst>
                              <p:par>
                                <p:cTn id="71" presetID="42" presetClass="entr" presetSubtype="0" fill="hold" grpId="0" nodeType="afterEffect">
                                  <p:stCondLst>
                                    <p:cond delay="5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250"/>
                                        <p:tgtEl>
                                          <p:spTgt spid="26"/>
                                        </p:tgtEl>
                                      </p:cBhvr>
                                    </p:animEffect>
                                    <p:anim calcmode="lin" valueType="num">
                                      <p:cBhvr>
                                        <p:cTn id="74" dur="250" fill="hold"/>
                                        <p:tgtEl>
                                          <p:spTgt spid="26"/>
                                        </p:tgtEl>
                                        <p:attrNameLst>
                                          <p:attrName>ppt_x</p:attrName>
                                        </p:attrNameLst>
                                      </p:cBhvr>
                                      <p:tavLst>
                                        <p:tav tm="0">
                                          <p:val>
                                            <p:strVal val="#ppt_x"/>
                                          </p:val>
                                        </p:tav>
                                        <p:tav tm="100000">
                                          <p:val>
                                            <p:strVal val="#ppt_x"/>
                                          </p:val>
                                        </p:tav>
                                      </p:tavLst>
                                    </p:anim>
                                    <p:anim calcmode="lin" valueType="num">
                                      <p:cBhvr>
                                        <p:cTn id="75" dur="250" fill="hold"/>
                                        <p:tgtEl>
                                          <p:spTgt spid="26"/>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250"/>
                                        <p:tgtEl>
                                          <p:spTgt spid="25"/>
                                        </p:tgtEl>
                                      </p:cBhvr>
                                    </p:animEffect>
                                    <p:anim calcmode="lin" valueType="num">
                                      <p:cBhvr>
                                        <p:cTn id="79" dur="250" fill="hold"/>
                                        <p:tgtEl>
                                          <p:spTgt spid="25"/>
                                        </p:tgtEl>
                                        <p:attrNameLst>
                                          <p:attrName>ppt_x</p:attrName>
                                        </p:attrNameLst>
                                      </p:cBhvr>
                                      <p:tavLst>
                                        <p:tav tm="0">
                                          <p:val>
                                            <p:strVal val="#ppt_x"/>
                                          </p:val>
                                        </p:tav>
                                        <p:tav tm="100000">
                                          <p:val>
                                            <p:strVal val="#ppt_x"/>
                                          </p:val>
                                        </p:tav>
                                      </p:tavLst>
                                    </p:anim>
                                    <p:anim calcmode="lin" valueType="num">
                                      <p:cBhvr>
                                        <p:cTn id="80" dur="250" fill="hold"/>
                                        <p:tgtEl>
                                          <p:spTgt spid="25"/>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250"/>
                                        <p:tgtEl>
                                          <p:spTgt spid="24"/>
                                        </p:tgtEl>
                                      </p:cBhvr>
                                    </p:animEffect>
                                    <p:anim calcmode="lin" valueType="num">
                                      <p:cBhvr>
                                        <p:cTn id="84" dur="250" fill="hold"/>
                                        <p:tgtEl>
                                          <p:spTgt spid="24"/>
                                        </p:tgtEl>
                                        <p:attrNameLst>
                                          <p:attrName>ppt_x</p:attrName>
                                        </p:attrNameLst>
                                      </p:cBhvr>
                                      <p:tavLst>
                                        <p:tav tm="0">
                                          <p:val>
                                            <p:strVal val="#ppt_x"/>
                                          </p:val>
                                        </p:tav>
                                        <p:tav tm="100000">
                                          <p:val>
                                            <p:strVal val="#ppt_x"/>
                                          </p:val>
                                        </p:tav>
                                      </p:tavLst>
                                    </p:anim>
                                    <p:anim calcmode="lin" valueType="num">
                                      <p:cBhvr>
                                        <p:cTn id="85" dur="250" fill="hold"/>
                                        <p:tgtEl>
                                          <p:spTgt spid="24"/>
                                        </p:tgtEl>
                                        <p:attrNameLst>
                                          <p:attrName>ppt_y</p:attrName>
                                        </p:attrNameLst>
                                      </p:cBhvr>
                                      <p:tavLst>
                                        <p:tav tm="0">
                                          <p:val>
                                            <p:strVal val="#ppt_y+.1"/>
                                          </p:val>
                                        </p:tav>
                                        <p:tav tm="100000">
                                          <p:val>
                                            <p:strVal val="#ppt_y"/>
                                          </p:val>
                                        </p:tav>
                                      </p:tavLst>
                                    </p:anim>
                                  </p:childTnLst>
                                </p:cTn>
                              </p:par>
                            </p:childTnLst>
                          </p:cTn>
                        </p:par>
                        <p:par>
                          <p:cTn id="86" fill="hold">
                            <p:stCondLst>
                              <p:cond delay="3400"/>
                            </p:stCondLst>
                            <p:childTnLst>
                              <p:par>
                                <p:cTn id="87" presetID="42" presetClass="entr" presetSubtype="0" fill="hold" grpId="0" nodeType="afterEffect">
                                  <p:stCondLst>
                                    <p:cond delay="5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250"/>
                                        <p:tgtEl>
                                          <p:spTgt spid="29"/>
                                        </p:tgtEl>
                                      </p:cBhvr>
                                    </p:animEffect>
                                    <p:anim calcmode="lin" valueType="num">
                                      <p:cBhvr>
                                        <p:cTn id="90" dur="250" fill="hold"/>
                                        <p:tgtEl>
                                          <p:spTgt spid="29"/>
                                        </p:tgtEl>
                                        <p:attrNameLst>
                                          <p:attrName>ppt_x</p:attrName>
                                        </p:attrNameLst>
                                      </p:cBhvr>
                                      <p:tavLst>
                                        <p:tav tm="0">
                                          <p:val>
                                            <p:strVal val="#ppt_x"/>
                                          </p:val>
                                        </p:tav>
                                        <p:tav tm="100000">
                                          <p:val>
                                            <p:strVal val="#ppt_x"/>
                                          </p:val>
                                        </p:tav>
                                      </p:tavLst>
                                    </p:anim>
                                    <p:anim calcmode="lin" valueType="num">
                                      <p:cBhvr>
                                        <p:cTn id="91" dur="250" fill="hold"/>
                                        <p:tgtEl>
                                          <p:spTgt spid="29"/>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250"/>
                                        <p:tgtEl>
                                          <p:spTgt spid="28"/>
                                        </p:tgtEl>
                                      </p:cBhvr>
                                    </p:animEffect>
                                    <p:anim calcmode="lin" valueType="num">
                                      <p:cBhvr>
                                        <p:cTn id="95" dur="250" fill="hold"/>
                                        <p:tgtEl>
                                          <p:spTgt spid="28"/>
                                        </p:tgtEl>
                                        <p:attrNameLst>
                                          <p:attrName>ppt_x</p:attrName>
                                        </p:attrNameLst>
                                      </p:cBhvr>
                                      <p:tavLst>
                                        <p:tav tm="0">
                                          <p:val>
                                            <p:strVal val="#ppt_x"/>
                                          </p:val>
                                        </p:tav>
                                        <p:tav tm="100000">
                                          <p:val>
                                            <p:strVal val="#ppt_x"/>
                                          </p:val>
                                        </p:tav>
                                      </p:tavLst>
                                    </p:anim>
                                    <p:anim calcmode="lin" valueType="num">
                                      <p:cBhvr>
                                        <p:cTn id="96" dur="250" fill="hold"/>
                                        <p:tgtEl>
                                          <p:spTgt spid="28"/>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7"/>
                                        </p:tgtEl>
                                        <p:attrNameLst>
                                          <p:attrName>style.visibility</p:attrName>
                                        </p:attrNameLst>
                                      </p:cBhvr>
                                      <p:to>
                                        <p:strVal val="visible"/>
                                      </p:to>
                                    </p:set>
                                    <p:animEffect transition="in" filter="fade">
                                      <p:cBhvr>
                                        <p:cTn id="99" dur="250"/>
                                        <p:tgtEl>
                                          <p:spTgt spid="27"/>
                                        </p:tgtEl>
                                      </p:cBhvr>
                                    </p:animEffect>
                                    <p:anim calcmode="lin" valueType="num">
                                      <p:cBhvr>
                                        <p:cTn id="100" dur="250" fill="hold"/>
                                        <p:tgtEl>
                                          <p:spTgt spid="27"/>
                                        </p:tgtEl>
                                        <p:attrNameLst>
                                          <p:attrName>ppt_x</p:attrName>
                                        </p:attrNameLst>
                                      </p:cBhvr>
                                      <p:tavLst>
                                        <p:tav tm="0">
                                          <p:val>
                                            <p:strVal val="#ppt_x"/>
                                          </p:val>
                                        </p:tav>
                                        <p:tav tm="100000">
                                          <p:val>
                                            <p:strVal val="#ppt_x"/>
                                          </p:val>
                                        </p:tav>
                                      </p:tavLst>
                                    </p:anim>
                                    <p:anim calcmode="lin" valueType="num">
                                      <p:cBhvr>
                                        <p:cTn id="101" dur="250" fill="hold"/>
                                        <p:tgtEl>
                                          <p:spTgt spid="27"/>
                                        </p:tgtEl>
                                        <p:attrNameLst>
                                          <p:attrName>ppt_y</p:attrName>
                                        </p:attrNameLst>
                                      </p:cBhvr>
                                      <p:tavLst>
                                        <p:tav tm="0">
                                          <p:val>
                                            <p:strVal val="#ppt_y+.1"/>
                                          </p:val>
                                        </p:tav>
                                        <p:tav tm="100000">
                                          <p:val>
                                            <p:strVal val="#ppt_y"/>
                                          </p:val>
                                        </p:tav>
                                      </p:tavLst>
                                    </p:anim>
                                  </p:childTnLst>
                                </p:cTn>
                              </p:par>
                            </p:childTnLst>
                          </p:cTn>
                        </p:par>
                        <p:par>
                          <p:cTn id="102" fill="hold">
                            <p:stCondLst>
                              <p:cond delay="3700"/>
                            </p:stCondLst>
                            <p:childTnLst>
                              <p:par>
                                <p:cTn id="103" presetID="42" presetClass="entr" presetSubtype="0" fill="hold" grpId="0" nodeType="afterEffect">
                                  <p:stCondLst>
                                    <p:cond delay="50"/>
                                  </p:stCondLst>
                                  <p:childTnLst>
                                    <p:set>
                                      <p:cBhvr>
                                        <p:cTn id="104" dur="1" fill="hold">
                                          <p:stCondLst>
                                            <p:cond delay="0"/>
                                          </p:stCondLst>
                                        </p:cTn>
                                        <p:tgtEl>
                                          <p:spTgt spid="32"/>
                                        </p:tgtEl>
                                        <p:attrNameLst>
                                          <p:attrName>style.visibility</p:attrName>
                                        </p:attrNameLst>
                                      </p:cBhvr>
                                      <p:to>
                                        <p:strVal val="visible"/>
                                      </p:to>
                                    </p:set>
                                    <p:animEffect transition="in" filter="fade">
                                      <p:cBhvr>
                                        <p:cTn id="105" dur="250"/>
                                        <p:tgtEl>
                                          <p:spTgt spid="32"/>
                                        </p:tgtEl>
                                      </p:cBhvr>
                                    </p:animEffect>
                                    <p:anim calcmode="lin" valueType="num">
                                      <p:cBhvr>
                                        <p:cTn id="106" dur="250" fill="hold"/>
                                        <p:tgtEl>
                                          <p:spTgt spid="32"/>
                                        </p:tgtEl>
                                        <p:attrNameLst>
                                          <p:attrName>ppt_x</p:attrName>
                                        </p:attrNameLst>
                                      </p:cBhvr>
                                      <p:tavLst>
                                        <p:tav tm="0">
                                          <p:val>
                                            <p:strVal val="#ppt_x"/>
                                          </p:val>
                                        </p:tav>
                                        <p:tav tm="100000">
                                          <p:val>
                                            <p:strVal val="#ppt_x"/>
                                          </p:val>
                                        </p:tav>
                                      </p:tavLst>
                                    </p:anim>
                                    <p:anim calcmode="lin" valueType="num">
                                      <p:cBhvr>
                                        <p:cTn id="107" dur="250" fill="hold"/>
                                        <p:tgtEl>
                                          <p:spTgt spid="32"/>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250"/>
                                        <p:tgtEl>
                                          <p:spTgt spid="31"/>
                                        </p:tgtEl>
                                      </p:cBhvr>
                                    </p:animEffect>
                                    <p:anim calcmode="lin" valueType="num">
                                      <p:cBhvr>
                                        <p:cTn id="111" dur="250" fill="hold"/>
                                        <p:tgtEl>
                                          <p:spTgt spid="31"/>
                                        </p:tgtEl>
                                        <p:attrNameLst>
                                          <p:attrName>ppt_x</p:attrName>
                                        </p:attrNameLst>
                                      </p:cBhvr>
                                      <p:tavLst>
                                        <p:tav tm="0">
                                          <p:val>
                                            <p:strVal val="#ppt_x"/>
                                          </p:val>
                                        </p:tav>
                                        <p:tav tm="100000">
                                          <p:val>
                                            <p:strVal val="#ppt_x"/>
                                          </p:val>
                                        </p:tav>
                                      </p:tavLst>
                                    </p:anim>
                                    <p:anim calcmode="lin" valueType="num">
                                      <p:cBhvr>
                                        <p:cTn id="112" dur="250" fill="hold"/>
                                        <p:tgtEl>
                                          <p:spTgt spid="31"/>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30"/>
                                        </p:tgtEl>
                                        <p:attrNameLst>
                                          <p:attrName>style.visibility</p:attrName>
                                        </p:attrNameLst>
                                      </p:cBhvr>
                                      <p:to>
                                        <p:strVal val="visible"/>
                                      </p:to>
                                    </p:set>
                                    <p:animEffect transition="in" filter="fade">
                                      <p:cBhvr>
                                        <p:cTn id="115" dur="250"/>
                                        <p:tgtEl>
                                          <p:spTgt spid="30"/>
                                        </p:tgtEl>
                                      </p:cBhvr>
                                    </p:animEffect>
                                    <p:anim calcmode="lin" valueType="num">
                                      <p:cBhvr>
                                        <p:cTn id="116" dur="250" fill="hold"/>
                                        <p:tgtEl>
                                          <p:spTgt spid="30"/>
                                        </p:tgtEl>
                                        <p:attrNameLst>
                                          <p:attrName>ppt_x</p:attrName>
                                        </p:attrNameLst>
                                      </p:cBhvr>
                                      <p:tavLst>
                                        <p:tav tm="0">
                                          <p:val>
                                            <p:strVal val="#ppt_x"/>
                                          </p:val>
                                        </p:tav>
                                        <p:tav tm="100000">
                                          <p:val>
                                            <p:strVal val="#ppt_x"/>
                                          </p:val>
                                        </p:tav>
                                      </p:tavLst>
                                    </p:anim>
                                    <p:anim calcmode="lin" valueType="num">
                                      <p:cBhvr>
                                        <p:cTn id="117" dur="250" fill="hold"/>
                                        <p:tgtEl>
                                          <p:spTgt spid="30"/>
                                        </p:tgtEl>
                                        <p:attrNameLst>
                                          <p:attrName>ppt_y</p:attrName>
                                        </p:attrNameLst>
                                      </p:cBhvr>
                                      <p:tavLst>
                                        <p:tav tm="0">
                                          <p:val>
                                            <p:strVal val="#ppt_y+.1"/>
                                          </p:val>
                                        </p:tav>
                                        <p:tav tm="100000">
                                          <p:val>
                                            <p:strVal val="#ppt_y"/>
                                          </p:val>
                                        </p:tav>
                                      </p:tavLst>
                                    </p:anim>
                                  </p:childTnLst>
                                </p:cTn>
                              </p:par>
                            </p:childTnLst>
                          </p:cTn>
                        </p:par>
                        <p:par>
                          <p:cTn id="118" fill="hold">
                            <p:stCondLst>
                              <p:cond delay="4000"/>
                            </p:stCondLst>
                            <p:childTnLst>
                              <p:par>
                                <p:cTn id="119" presetID="42" presetClass="entr" presetSubtype="0" fill="hold" grpId="0" nodeType="afterEffect">
                                  <p:stCondLst>
                                    <p:cond delay="50"/>
                                  </p:stCondLst>
                                  <p:childTnLst>
                                    <p:set>
                                      <p:cBhvr>
                                        <p:cTn id="120" dur="1" fill="hold">
                                          <p:stCondLst>
                                            <p:cond delay="0"/>
                                          </p:stCondLst>
                                        </p:cTn>
                                        <p:tgtEl>
                                          <p:spTgt spid="35"/>
                                        </p:tgtEl>
                                        <p:attrNameLst>
                                          <p:attrName>style.visibility</p:attrName>
                                        </p:attrNameLst>
                                      </p:cBhvr>
                                      <p:to>
                                        <p:strVal val="visible"/>
                                      </p:to>
                                    </p:set>
                                    <p:animEffect transition="in" filter="fade">
                                      <p:cBhvr>
                                        <p:cTn id="121" dur="250"/>
                                        <p:tgtEl>
                                          <p:spTgt spid="35"/>
                                        </p:tgtEl>
                                      </p:cBhvr>
                                    </p:animEffect>
                                    <p:anim calcmode="lin" valueType="num">
                                      <p:cBhvr>
                                        <p:cTn id="122" dur="250" fill="hold"/>
                                        <p:tgtEl>
                                          <p:spTgt spid="35"/>
                                        </p:tgtEl>
                                        <p:attrNameLst>
                                          <p:attrName>ppt_x</p:attrName>
                                        </p:attrNameLst>
                                      </p:cBhvr>
                                      <p:tavLst>
                                        <p:tav tm="0">
                                          <p:val>
                                            <p:strVal val="#ppt_x"/>
                                          </p:val>
                                        </p:tav>
                                        <p:tav tm="100000">
                                          <p:val>
                                            <p:strVal val="#ppt_x"/>
                                          </p:val>
                                        </p:tav>
                                      </p:tavLst>
                                    </p:anim>
                                    <p:anim calcmode="lin" valueType="num">
                                      <p:cBhvr>
                                        <p:cTn id="123" dur="250" fill="hold"/>
                                        <p:tgtEl>
                                          <p:spTgt spid="35"/>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250"/>
                                        <p:tgtEl>
                                          <p:spTgt spid="34"/>
                                        </p:tgtEl>
                                      </p:cBhvr>
                                    </p:animEffect>
                                    <p:anim calcmode="lin" valueType="num">
                                      <p:cBhvr>
                                        <p:cTn id="127" dur="250" fill="hold"/>
                                        <p:tgtEl>
                                          <p:spTgt spid="34"/>
                                        </p:tgtEl>
                                        <p:attrNameLst>
                                          <p:attrName>ppt_x</p:attrName>
                                        </p:attrNameLst>
                                      </p:cBhvr>
                                      <p:tavLst>
                                        <p:tav tm="0">
                                          <p:val>
                                            <p:strVal val="#ppt_x"/>
                                          </p:val>
                                        </p:tav>
                                        <p:tav tm="100000">
                                          <p:val>
                                            <p:strVal val="#ppt_x"/>
                                          </p:val>
                                        </p:tav>
                                      </p:tavLst>
                                    </p:anim>
                                    <p:anim calcmode="lin" valueType="num">
                                      <p:cBhvr>
                                        <p:cTn id="128" dur="250" fill="hold"/>
                                        <p:tgtEl>
                                          <p:spTgt spid="34"/>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33"/>
                                        </p:tgtEl>
                                        <p:attrNameLst>
                                          <p:attrName>style.visibility</p:attrName>
                                        </p:attrNameLst>
                                      </p:cBhvr>
                                      <p:to>
                                        <p:strVal val="visible"/>
                                      </p:to>
                                    </p:set>
                                    <p:animEffect transition="in" filter="fade">
                                      <p:cBhvr>
                                        <p:cTn id="131" dur="250"/>
                                        <p:tgtEl>
                                          <p:spTgt spid="33"/>
                                        </p:tgtEl>
                                      </p:cBhvr>
                                    </p:animEffect>
                                    <p:anim calcmode="lin" valueType="num">
                                      <p:cBhvr>
                                        <p:cTn id="132" dur="250" fill="hold"/>
                                        <p:tgtEl>
                                          <p:spTgt spid="33"/>
                                        </p:tgtEl>
                                        <p:attrNameLst>
                                          <p:attrName>ppt_x</p:attrName>
                                        </p:attrNameLst>
                                      </p:cBhvr>
                                      <p:tavLst>
                                        <p:tav tm="0">
                                          <p:val>
                                            <p:strVal val="#ppt_x"/>
                                          </p:val>
                                        </p:tav>
                                        <p:tav tm="100000">
                                          <p:val>
                                            <p:strVal val="#ppt_x"/>
                                          </p:val>
                                        </p:tav>
                                      </p:tavLst>
                                    </p:anim>
                                    <p:anim calcmode="lin" valueType="num">
                                      <p:cBhvr>
                                        <p:cTn id="133" dur="25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17" grpId="0" animBg="1"/>
      <p:bldP spid="18" grpId="0"/>
      <p:bldP spid="19" grpId="0"/>
      <p:bldP spid="20" grpId="0" animBg="1"/>
      <p:bldP spid="21" grpId="0" animBg="1"/>
      <p:bldP spid="22" grpId="0" animBg="1"/>
      <p:bldP spid="23" grpId="0"/>
      <p:bldP spid="24" grpId="0" animBg="1"/>
      <p:bldP spid="25" grpId="0"/>
      <p:bldP spid="26" grpId="0"/>
      <p:bldP spid="27" grpId="0" animBg="1"/>
      <p:bldP spid="28" grpId="0"/>
      <p:bldP spid="29" grpId="0"/>
      <p:bldP spid="30" grpId="0" animBg="1"/>
      <p:bldP spid="31" grpId="0"/>
      <p:bldP spid="32" grpId="0"/>
      <p:bldP spid="33" grpId="0" animBg="1"/>
      <p:bldP spid="34" grpId="0"/>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0A0A0A"/>
                </a:solidFill>
                <a:latin typeface="Segoe UI Semibold"/>
              </a:rPr>
              <a:t>Solution</a:t>
            </a:r>
          </a:p>
        </p:txBody>
      </p:sp>
      <p:sp>
        <p:nvSpPr>
          <p:cNvPr id="6" name="!!navline"/>
          <p:cNvSpPr/>
          <p:nvPr/>
        </p:nvSpPr>
        <p:spPr>
          <a:xfrm>
            <a:off x="9110167" y="621792"/>
            <a:ext cx="566927" cy="2286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8" name="!!page"/>
          <p:cNvSpPr txBox="1"/>
          <p:nvPr/>
        </p:nvSpPr>
        <p:spPr>
          <a:xfrm>
            <a:off x="10591495" y="6355080"/>
            <a:ext cx="914400" cy="228600"/>
          </a:xfrm>
          <a:prstGeom prst="rect">
            <a:avLst/>
          </a:prstGeom>
          <a:noFill/>
        </p:spPr>
        <p:txBody>
          <a:bodyPr wrap="square" lIns="0" tIns="0" rIns="0" bIns="0" anchor="t"/>
          <a:lstStyle/>
          <a:p>
            <a:pPr algn="r"/>
            <a:r>
              <a:rPr sz="900" b="0">
                <a:solidFill>
                  <a:srgbClr val="6E6E73"/>
                </a:solidFill>
                <a:latin typeface="Segoe UI"/>
              </a:rPr>
              <a:t>05</a:t>
            </a:r>
          </a:p>
        </p:txBody>
      </p:sp>
      <p:pic>
        <p:nvPicPr>
          <p:cNvPr id="9" name="el63" descr="o_product.png"/>
          <p:cNvPicPr>
            <a:picLocks noChangeAspect="1"/>
          </p:cNvPicPr>
          <p:nvPr/>
        </p:nvPicPr>
        <p:blipFill>
          <a:blip r:embed="rId4"/>
          <a:stretch>
            <a:fillRect/>
          </a:stretch>
        </p:blipFill>
        <p:spPr>
          <a:xfrm>
            <a:off x="3246120" y="1188720"/>
            <a:ext cx="5120640" cy="5120640"/>
          </a:xfrm>
          <a:prstGeom prst="rect">
            <a:avLst/>
          </a:prstGeom>
        </p:spPr>
      </p:pic>
      <p:sp>
        <p:nvSpPr>
          <p:cNvPr id="10" name="el64"/>
          <p:cNvSpPr txBox="1"/>
          <p:nvPr/>
        </p:nvSpPr>
        <p:spPr>
          <a:xfrm>
            <a:off x="685800" y="1097280"/>
            <a:ext cx="3931920" cy="1737360"/>
          </a:xfrm>
          <a:prstGeom prst="rect">
            <a:avLst/>
          </a:prstGeom>
          <a:noFill/>
        </p:spPr>
        <p:txBody>
          <a:bodyPr wrap="square" lIns="0" tIns="0" rIns="0" bIns="0" anchor="t"/>
          <a:lstStyle/>
          <a:p>
            <a:pPr algn="l">
              <a:lnSpc>
                <a:spcPct val="102000"/>
              </a:lnSpc>
            </a:pPr>
            <a:r>
              <a:rPr sz="3400" b="0">
                <a:solidFill>
                  <a:srgbClr val="0A0A0A"/>
                </a:solidFill>
                <a:latin typeface="Segoe UI"/>
              </a:rPr>
              <a:t>OttO.</a:t>
            </a:r>
          </a:p>
          <a:p>
            <a:pPr algn="l">
              <a:lnSpc>
                <a:spcPct val="102000"/>
              </a:lnSpc>
            </a:pPr>
            <a:r>
              <a:rPr sz="3400" b="0">
                <a:solidFill>
                  <a:srgbClr val="8E8E93"/>
                </a:solidFill>
                <a:latin typeface="Segoe UI"/>
              </a:rPr>
              <a:t>Your hospital companion.</a:t>
            </a:r>
          </a:p>
        </p:txBody>
      </p:sp>
      <p:sp>
        <p:nvSpPr>
          <p:cNvPr id="11" name="el67"/>
          <p:cNvSpPr txBox="1"/>
          <p:nvPr/>
        </p:nvSpPr>
        <p:spPr>
          <a:xfrm>
            <a:off x="7208215" y="1572767"/>
            <a:ext cx="4114800" cy="411480"/>
          </a:xfrm>
          <a:prstGeom prst="rect">
            <a:avLst/>
          </a:prstGeom>
          <a:noFill/>
        </p:spPr>
        <p:txBody>
          <a:bodyPr wrap="square" lIns="0" tIns="0" rIns="0" bIns="0" anchor="t"/>
          <a:lstStyle/>
          <a:p>
            <a:pPr algn="l"/>
            <a:r>
              <a:rPr sz="2200" b="0">
                <a:solidFill>
                  <a:srgbClr val="0A0A0A"/>
                </a:solidFill>
                <a:latin typeface="Segoe UI Semibold"/>
              </a:rPr>
              <a:t>Walks with you</a:t>
            </a:r>
          </a:p>
        </p:txBody>
      </p:sp>
      <p:cxnSp>
        <p:nvCxnSpPr>
          <p:cNvPr id="12" name="el65"/>
          <p:cNvCxnSpPr/>
          <p:nvPr/>
        </p:nvCxnSpPr>
        <p:spPr>
          <a:xfrm>
            <a:off x="6344107" y="1613733"/>
            <a:ext cx="864108" cy="489387"/>
          </a:xfrm>
          <a:prstGeom prst="line">
            <a:avLst/>
          </a:prstGeom>
          <a:ln w="9525">
            <a:solidFill>
              <a:srgbClr val="C7C7CC"/>
            </a:solidFill>
          </a:ln>
        </p:spPr>
      </p:cxnSp>
      <p:cxnSp>
        <p:nvCxnSpPr>
          <p:cNvPr id="13" name="el66"/>
          <p:cNvCxnSpPr/>
          <p:nvPr/>
        </p:nvCxnSpPr>
        <p:spPr>
          <a:xfrm>
            <a:off x="6318504" y="2299898"/>
            <a:ext cx="889711" cy="2300677"/>
          </a:xfrm>
          <a:prstGeom prst="line">
            <a:avLst/>
          </a:prstGeom>
          <a:ln w="9525">
            <a:solidFill>
              <a:srgbClr val="C7C7CC"/>
            </a:solidFill>
          </a:ln>
        </p:spPr>
      </p:cxnSp>
      <p:sp>
        <p:nvSpPr>
          <p:cNvPr id="14" name="el68"/>
          <p:cNvSpPr/>
          <p:nvPr/>
        </p:nvSpPr>
        <p:spPr>
          <a:xfrm>
            <a:off x="7208215" y="2103120"/>
            <a:ext cx="4297680" cy="2497455"/>
          </a:xfrm>
          <a:prstGeom prst="roundRect">
            <a:avLst>
              <a:gd name="adj" fmla="val 5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el69" descr="otto_walk_screen.png"/>
          <p:cNvPicPr>
            <a:picLocks noChangeAspect="1"/>
          </p:cNvPicPr>
          <p:nvPr/>
        </p:nvPicPr>
        <p:blipFill>
          <a:blip r:embed="rId5"/>
          <a:stretch>
            <a:fillRect/>
          </a:stretch>
        </p:blipFill>
        <p:spPr>
          <a:xfrm>
            <a:off x="7299655" y="2194560"/>
            <a:ext cx="4114800" cy="2314575"/>
          </a:xfrm>
          <a:prstGeom prst="roundRect">
            <a:avLst>
              <a:gd name="adj" fmla="val 3500"/>
            </a:avLst>
          </a:prstGeom>
        </p:spPr>
      </p:pic>
      <p:sp>
        <p:nvSpPr>
          <p:cNvPr id="16" name="el70"/>
          <p:cNvSpPr/>
          <p:nvPr/>
        </p:nvSpPr>
        <p:spPr>
          <a:xfrm>
            <a:off x="685800" y="3246120"/>
            <a:ext cx="566928" cy="566928"/>
          </a:xfrm>
          <a:prstGeom prst="roundRect">
            <a:avLst>
              <a:gd name="adj" fmla="val 2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el71" descr="ic_eye.png"/>
          <p:cNvPicPr>
            <a:picLocks noChangeAspect="1"/>
          </p:cNvPicPr>
          <p:nvPr/>
        </p:nvPicPr>
        <p:blipFill>
          <a:blip r:embed="rId6"/>
          <a:stretch>
            <a:fillRect/>
          </a:stretch>
        </p:blipFill>
        <p:spPr>
          <a:xfrm>
            <a:off x="804672" y="3364991"/>
            <a:ext cx="329184" cy="329184"/>
          </a:xfrm>
          <a:prstGeom prst="rect">
            <a:avLst/>
          </a:prstGeom>
        </p:spPr>
      </p:pic>
      <p:sp>
        <p:nvSpPr>
          <p:cNvPr id="18" name="el72"/>
          <p:cNvSpPr txBox="1"/>
          <p:nvPr/>
        </p:nvSpPr>
        <p:spPr>
          <a:xfrm>
            <a:off x="1463040" y="3246120"/>
            <a:ext cx="2926080" cy="566928"/>
          </a:xfrm>
          <a:prstGeom prst="rect">
            <a:avLst/>
          </a:prstGeom>
          <a:noFill/>
        </p:spPr>
        <p:txBody>
          <a:bodyPr wrap="square" lIns="0" tIns="0" rIns="0" bIns="0" anchor="ctr"/>
          <a:lstStyle/>
          <a:p>
            <a:pPr algn="l"/>
            <a:r>
              <a:rPr sz="2000" b="0">
                <a:solidFill>
                  <a:srgbClr val="0A0A0A"/>
                </a:solidFill>
                <a:latin typeface="Segoe UI Semibold"/>
              </a:rPr>
              <a:t>Keeps an eye on you</a:t>
            </a:r>
          </a:p>
        </p:txBody>
      </p:sp>
      <p:sp>
        <p:nvSpPr>
          <p:cNvPr id="19" name="el73"/>
          <p:cNvSpPr/>
          <p:nvPr/>
        </p:nvSpPr>
        <p:spPr>
          <a:xfrm>
            <a:off x="685800" y="4050791"/>
            <a:ext cx="566928" cy="566928"/>
          </a:xfrm>
          <a:prstGeom prst="roundRect">
            <a:avLst>
              <a:gd name="adj" fmla="val 2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el74" descr="ic_walk.png"/>
          <p:cNvPicPr>
            <a:picLocks noChangeAspect="1"/>
          </p:cNvPicPr>
          <p:nvPr/>
        </p:nvPicPr>
        <p:blipFill>
          <a:blip r:embed="rId7"/>
          <a:stretch>
            <a:fillRect/>
          </a:stretch>
        </p:blipFill>
        <p:spPr>
          <a:xfrm>
            <a:off x="804672" y="4169663"/>
            <a:ext cx="329184" cy="329184"/>
          </a:xfrm>
          <a:prstGeom prst="rect">
            <a:avLst/>
          </a:prstGeom>
        </p:spPr>
      </p:pic>
      <p:sp>
        <p:nvSpPr>
          <p:cNvPr id="21" name="el75"/>
          <p:cNvSpPr txBox="1"/>
          <p:nvPr/>
        </p:nvSpPr>
        <p:spPr>
          <a:xfrm>
            <a:off x="1463040" y="4050791"/>
            <a:ext cx="2926080" cy="566928"/>
          </a:xfrm>
          <a:prstGeom prst="rect">
            <a:avLst/>
          </a:prstGeom>
          <a:noFill/>
        </p:spPr>
        <p:txBody>
          <a:bodyPr wrap="square" lIns="0" tIns="0" rIns="0" bIns="0" anchor="ctr"/>
          <a:lstStyle/>
          <a:p>
            <a:pPr algn="l"/>
            <a:r>
              <a:rPr sz="2000" b="0">
                <a:solidFill>
                  <a:srgbClr val="0A0A0A"/>
                </a:solidFill>
                <a:latin typeface="Segoe UI Semibold"/>
              </a:rPr>
              <a:t>Adjusts to your pace</a:t>
            </a:r>
          </a:p>
        </p:txBody>
      </p:sp>
      <p:sp>
        <p:nvSpPr>
          <p:cNvPr id="22" name="el76"/>
          <p:cNvSpPr/>
          <p:nvPr/>
        </p:nvSpPr>
        <p:spPr>
          <a:xfrm>
            <a:off x="685800" y="4855464"/>
            <a:ext cx="566928" cy="566928"/>
          </a:xfrm>
          <a:prstGeom prst="roundRect">
            <a:avLst>
              <a:gd name="adj" fmla="val 2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el77" descr="ic_lock.png"/>
          <p:cNvPicPr>
            <a:picLocks noChangeAspect="1"/>
          </p:cNvPicPr>
          <p:nvPr/>
        </p:nvPicPr>
        <p:blipFill>
          <a:blip r:embed="rId8"/>
          <a:stretch>
            <a:fillRect/>
          </a:stretch>
        </p:blipFill>
        <p:spPr>
          <a:xfrm>
            <a:off x="804672" y="4974336"/>
            <a:ext cx="329184" cy="329184"/>
          </a:xfrm>
          <a:prstGeom prst="rect">
            <a:avLst/>
          </a:prstGeom>
        </p:spPr>
      </p:pic>
      <p:sp>
        <p:nvSpPr>
          <p:cNvPr id="24" name="el78"/>
          <p:cNvSpPr txBox="1"/>
          <p:nvPr/>
        </p:nvSpPr>
        <p:spPr>
          <a:xfrm>
            <a:off x="1463040" y="4855464"/>
            <a:ext cx="2926080" cy="566928"/>
          </a:xfrm>
          <a:prstGeom prst="rect">
            <a:avLst/>
          </a:prstGeom>
          <a:noFill/>
        </p:spPr>
        <p:txBody>
          <a:bodyPr wrap="square" lIns="0" tIns="0" rIns="0" bIns="0" anchor="ctr"/>
          <a:lstStyle/>
          <a:p>
            <a:pPr algn="l"/>
            <a:r>
              <a:rPr sz="2000" b="0">
                <a:solidFill>
                  <a:srgbClr val="0A0A0A"/>
                </a:solidFill>
                <a:latin typeface="Segoe UI Semibold"/>
              </a:rPr>
              <a:t>No personal data</a:t>
            </a:r>
          </a:p>
        </p:txBody>
      </p:sp>
      <p:sp>
        <p:nvSpPr>
          <p:cNvPr id="25" name="el79"/>
          <p:cNvSpPr/>
          <p:nvPr/>
        </p:nvSpPr>
        <p:spPr>
          <a:xfrm>
            <a:off x="685800" y="5943600"/>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el80"/>
          <p:cNvSpPr txBox="1"/>
          <p:nvPr/>
        </p:nvSpPr>
        <p:spPr>
          <a:xfrm>
            <a:off x="685800" y="6035040"/>
            <a:ext cx="10820095" cy="365760"/>
          </a:xfrm>
          <a:prstGeom prst="rect">
            <a:avLst/>
          </a:prstGeom>
          <a:noFill/>
        </p:spPr>
        <p:txBody>
          <a:bodyPr wrap="square" lIns="0" tIns="0" rIns="0" bIns="0" anchor="t"/>
          <a:lstStyle/>
          <a:p>
            <a:pPr algn="l"/>
            <a:r>
              <a:rPr sz="1800" b="0">
                <a:solidFill>
                  <a:srgbClr val="0A0A0A"/>
                </a:solidFill>
                <a:latin typeface="Segoe UI Semibold"/>
              </a:rPr>
              <a:t>Reception decides where you go. OttO walks with you, like a buddy.</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anim calcmode="lin" valueType="num">
                                      <p:cBhvr>
                                        <p:cTn id="8" dur="250" fill="hold"/>
                                        <p:tgtEl>
                                          <p:spTgt spid="10"/>
                                        </p:tgtEl>
                                        <p:attrNameLst>
                                          <p:attrName>ppt_x</p:attrName>
                                        </p:attrNameLst>
                                      </p:cBhvr>
                                      <p:tavLst>
                                        <p:tav tm="0">
                                          <p:val>
                                            <p:strVal val="#ppt_x"/>
                                          </p:val>
                                        </p:tav>
                                        <p:tav tm="100000">
                                          <p:val>
                                            <p:strVal val="#ppt_x"/>
                                          </p:val>
                                        </p:tav>
                                      </p:tavLst>
                                    </p:anim>
                                    <p:anim calcmode="lin" valueType="num">
                                      <p:cBhvr>
                                        <p:cTn id="9" dur="250" fill="hold"/>
                                        <p:tgtEl>
                                          <p:spTgt spid="10"/>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childTnLst>
                          </p:cTn>
                        </p:par>
                        <p:par>
                          <p:cTn id="13" fill="hold">
                            <p:stCondLst>
                              <p:cond delay="500"/>
                            </p:stCondLst>
                            <p:childTnLst>
                              <p:par>
                                <p:cTn id="14" presetID="10" presetClass="entr" presetSubtype="0" fill="hold" grpId="0" nodeType="afterEffect">
                                  <p:stCondLst>
                                    <p:cond delay="5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25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25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5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5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50"/>
                                        <p:tgtEl>
                                          <p:spTgt spid="12"/>
                                        </p:tgtEl>
                                      </p:cBhvr>
                                    </p:animEffect>
                                  </p:childTnLst>
                                </p:cTn>
                              </p:par>
                            </p:childTnLst>
                          </p:cTn>
                        </p:par>
                        <p:par>
                          <p:cTn id="29" fill="hold">
                            <p:stCondLst>
                              <p:cond delay="800"/>
                            </p:stCondLst>
                            <p:childTnLst>
                              <p:par>
                                <p:cTn id="30" presetID="10" presetClass="entr" presetSubtype="0" fill="hold" grpId="0" nodeType="afterEffect">
                                  <p:stCondLst>
                                    <p:cond delay="5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2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25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250"/>
                                        <p:tgtEl>
                                          <p:spTgt spid="16"/>
                                        </p:tgtEl>
                                      </p:cBhvr>
                                    </p:animEffect>
                                  </p:childTnLst>
                                </p:cTn>
                              </p:par>
                            </p:childTnLst>
                          </p:cTn>
                        </p:par>
                        <p:par>
                          <p:cTn id="39" fill="hold">
                            <p:stCondLst>
                              <p:cond delay="1100"/>
                            </p:stCondLst>
                            <p:childTnLst>
                              <p:par>
                                <p:cTn id="40" presetID="10" presetClass="entr" presetSubtype="0" fill="hold" grpId="0" nodeType="afterEffect">
                                  <p:stCondLst>
                                    <p:cond delay="5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250"/>
                                        <p:tgtEl>
                                          <p:spTgt spid="21"/>
                                        </p:tgtEl>
                                      </p:cBhvr>
                                    </p:animEffect>
                                  </p:childTnLst>
                                </p:cTn>
                              </p:par>
                              <p:par>
                                <p:cTn id="43" presetID="10"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25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250"/>
                                        <p:tgtEl>
                                          <p:spTgt spid="19"/>
                                        </p:tgtEl>
                                      </p:cBhvr>
                                    </p:animEffect>
                                  </p:childTnLst>
                                </p:cTn>
                              </p:par>
                            </p:childTnLst>
                          </p:cTn>
                        </p:par>
                        <p:par>
                          <p:cTn id="49" fill="hold">
                            <p:stCondLst>
                              <p:cond delay="1400"/>
                            </p:stCondLst>
                            <p:childTnLst>
                              <p:par>
                                <p:cTn id="50" presetID="10" presetClass="entr" presetSubtype="0" fill="hold" grpId="0" nodeType="afterEffect">
                                  <p:stCondLst>
                                    <p:cond delay="5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250"/>
                                        <p:tgtEl>
                                          <p:spTgt spid="24"/>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25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250"/>
                                        <p:tgtEl>
                                          <p:spTgt spid="22"/>
                                        </p:tgtEl>
                                      </p:cBhvr>
                                    </p:animEffect>
                                  </p:childTnLst>
                                </p:cTn>
                              </p:par>
                            </p:childTnLst>
                          </p:cTn>
                        </p:par>
                        <p:par>
                          <p:cTn id="59" fill="hold">
                            <p:stCondLst>
                              <p:cond delay="1700"/>
                            </p:stCondLst>
                            <p:childTnLst>
                              <p:par>
                                <p:cTn id="60" presetID="10" presetClass="entr" presetSubtype="0" fill="hold" grpId="0" nodeType="afterEffect">
                                  <p:stCondLst>
                                    <p:cond delay="5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250"/>
                                        <p:tgtEl>
                                          <p:spTgt spid="26"/>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left)">
                                      <p:cBhvr>
                                        <p:cTn id="6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4" grpId="0" animBg="1"/>
      <p:bldP spid="16" grpId="0" animBg="1"/>
      <p:bldP spid="18" grpId="0"/>
      <p:bldP spid="19" grpId="0" animBg="1"/>
      <p:bldP spid="21" grpId="0"/>
      <p:bldP spid="22" grpId="0" animBg="1"/>
      <p:bldP spid="24" grpId="0"/>
      <p:bldP spid="25" grpId="0" animBg="1"/>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4"/>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0A0A0A"/>
                </a:solidFill>
                <a:latin typeface="Segoe UI Semibold"/>
              </a:rPr>
              <a:t>Solution</a:t>
            </a:r>
          </a:p>
        </p:txBody>
      </p:sp>
      <p:sp>
        <p:nvSpPr>
          <p:cNvPr id="6" name="!!navline"/>
          <p:cNvSpPr/>
          <p:nvPr/>
        </p:nvSpPr>
        <p:spPr>
          <a:xfrm>
            <a:off x="9110167" y="621792"/>
            <a:ext cx="566927" cy="2286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8" name="!!page"/>
          <p:cNvSpPr txBox="1"/>
          <p:nvPr/>
        </p:nvSpPr>
        <p:spPr>
          <a:xfrm>
            <a:off x="10591495" y="6355080"/>
            <a:ext cx="914400" cy="228600"/>
          </a:xfrm>
          <a:prstGeom prst="rect">
            <a:avLst/>
          </a:prstGeom>
          <a:noFill/>
        </p:spPr>
        <p:txBody>
          <a:bodyPr wrap="square" lIns="0" tIns="0" rIns="0" bIns="0" anchor="t"/>
          <a:lstStyle/>
          <a:p>
            <a:pPr algn="r"/>
            <a:r>
              <a:rPr sz="900" b="0">
                <a:solidFill>
                  <a:srgbClr val="6E6E73"/>
                </a:solidFill>
                <a:latin typeface="Segoe UI"/>
              </a:rPr>
              <a:t>06</a:t>
            </a:r>
          </a:p>
        </p:txBody>
      </p:sp>
      <p:sp>
        <p:nvSpPr>
          <p:cNvPr id="9" name="TextBox 8"/>
          <p:cNvSpPr txBox="1"/>
          <p:nvPr/>
        </p:nvSpPr>
        <p:spPr>
          <a:xfrm>
            <a:off x="685800" y="914400"/>
            <a:ext cx="10515600" cy="548640"/>
          </a:xfrm>
          <a:prstGeom prst="rect">
            <a:avLst/>
          </a:prstGeom>
          <a:noFill/>
        </p:spPr>
        <p:txBody>
          <a:bodyPr wrap="square" lIns="0" tIns="0" rIns="0" bIns="0" anchor="t"/>
          <a:lstStyle/>
          <a:p>
            <a:pPr algn="l">
              <a:lnSpc>
                <a:spcPct val="102000"/>
              </a:lnSpc>
            </a:pPr>
            <a:r>
              <a:rPr sz="2800" b="0">
                <a:solidFill>
                  <a:srgbClr val="0A0A0A"/>
                </a:solidFill>
                <a:latin typeface="Segoe UI"/>
              </a:rPr>
              <a:t>Same process, with OttO. </a:t>
            </a:r>
            <a:r>
              <a:rPr sz="2800" b="0">
                <a:solidFill>
                  <a:srgbClr val="8E8E93"/>
                </a:solidFill>
                <a:latin typeface="Segoe UI"/>
              </a:rPr>
              <a:t>From unpleasant to pleasant.</a:t>
            </a:r>
          </a:p>
        </p:txBody>
      </p:sp>
      <p:pic>
        <p:nvPicPr>
          <p:cNvPr id="10" name="Picture 9" descr="loop_today_entry.png"/>
          <p:cNvPicPr>
            <a:picLocks noChangeAspect="1"/>
          </p:cNvPicPr>
          <p:nvPr/>
        </p:nvPicPr>
        <p:blipFill>
          <a:blip r:embed="rId5"/>
          <a:stretch>
            <a:fillRect/>
          </a:stretch>
        </p:blipFill>
        <p:spPr>
          <a:xfrm>
            <a:off x="0" y="0"/>
            <a:ext cx="12191695" cy="6858000"/>
          </a:xfrm>
          <a:prstGeom prst="rect">
            <a:avLst/>
          </a:prstGeom>
        </p:spPr>
      </p:pic>
      <p:pic>
        <p:nvPicPr>
          <p:cNvPr id="11" name="Picture 10" descr="loop_today_room.png"/>
          <p:cNvPicPr>
            <a:picLocks noChangeAspect="1"/>
          </p:cNvPicPr>
          <p:nvPr/>
        </p:nvPicPr>
        <p:blipFill>
          <a:blip r:embed="rId6"/>
          <a:stretch>
            <a:fillRect/>
          </a:stretch>
        </p:blipFill>
        <p:spPr>
          <a:xfrm>
            <a:off x="0" y="0"/>
            <a:ext cx="12191695" cy="6858000"/>
          </a:xfrm>
          <a:prstGeom prst="rect">
            <a:avLst/>
          </a:prstGeom>
        </p:spPr>
      </p:pic>
      <p:pic>
        <p:nvPicPr>
          <p:cNvPr id="12" name="Picture 11" descr="loop_today_wait.png"/>
          <p:cNvPicPr>
            <a:picLocks noChangeAspect="1"/>
          </p:cNvPicPr>
          <p:nvPr/>
        </p:nvPicPr>
        <p:blipFill>
          <a:blip r:embed="rId7"/>
          <a:stretch>
            <a:fillRect/>
          </a:stretch>
        </p:blipFill>
        <p:spPr>
          <a:xfrm>
            <a:off x="0" y="0"/>
            <a:ext cx="12191695" cy="6858000"/>
          </a:xfrm>
          <a:prstGeom prst="rect">
            <a:avLst/>
          </a:prstGeom>
        </p:spPr>
      </p:pic>
      <p:pic>
        <p:nvPicPr>
          <p:cNvPr id="13" name="Picture 12" descr="loop_today_next.png"/>
          <p:cNvPicPr>
            <a:picLocks noChangeAspect="1"/>
          </p:cNvPicPr>
          <p:nvPr/>
        </p:nvPicPr>
        <p:blipFill>
          <a:blip r:embed="rId8"/>
          <a:stretch>
            <a:fillRect/>
          </a:stretch>
        </p:blipFill>
        <p:spPr>
          <a:xfrm>
            <a:off x="0" y="0"/>
            <a:ext cx="12191695" cy="6858000"/>
          </a:xfrm>
          <a:prstGeom prst="rect">
            <a:avLst/>
          </a:prstGeom>
        </p:spPr>
      </p:pic>
      <p:pic>
        <p:nvPicPr>
          <p:cNvPr id="14" name="Picture 13" descr="loop_today_exit.png"/>
          <p:cNvPicPr>
            <a:picLocks noChangeAspect="1"/>
          </p:cNvPicPr>
          <p:nvPr/>
        </p:nvPicPr>
        <p:blipFill>
          <a:blip r:embed="rId9"/>
          <a:stretch>
            <a:fillRect/>
          </a:stretch>
        </p:blipFill>
        <p:spPr>
          <a:xfrm>
            <a:off x="0" y="0"/>
            <a:ext cx="12191695" cy="6858000"/>
          </a:xfrm>
          <a:prstGeom prst="rect">
            <a:avLst/>
          </a:prstGeom>
        </p:spPr>
      </p:pic>
      <p:sp>
        <p:nvSpPr>
          <p:cNvPr id="15" name="TextBox 14"/>
          <p:cNvSpPr txBox="1"/>
          <p:nvPr/>
        </p:nvSpPr>
        <p:spPr>
          <a:xfrm>
            <a:off x="914400" y="3154680"/>
            <a:ext cx="3108960" cy="292608"/>
          </a:xfrm>
          <a:prstGeom prst="rect">
            <a:avLst/>
          </a:prstGeom>
          <a:noFill/>
        </p:spPr>
        <p:txBody>
          <a:bodyPr wrap="square" lIns="0" tIns="0" rIns="0" bIns="0" anchor="t"/>
          <a:lstStyle/>
          <a:p>
            <a:pPr algn="l"/>
            <a:r>
              <a:rPr sz="1400" b="0">
                <a:solidFill>
                  <a:srgbClr val="0A0A0A"/>
                </a:solidFill>
                <a:latin typeface="Segoe UI Semibold"/>
              </a:rPr>
              <a:t>Arrival &amp; check-in</a:t>
            </a:r>
          </a:p>
        </p:txBody>
      </p:sp>
      <p:sp>
        <p:nvSpPr>
          <p:cNvPr id="16" name="Oval 15"/>
          <p:cNvSpPr/>
          <p:nvPr/>
        </p:nvSpPr>
        <p:spPr>
          <a:xfrm>
            <a:off x="2377440" y="3886200"/>
            <a:ext cx="274320" cy="274320"/>
          </a:xfrm>
          <a:prstGeom prst="ellipse">
            <a:avLst/>
          </a:prstGeom>
          <a:solidFill>
            <a:srgbClr val="E5484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17" name="TextBox 16"/>
          <p:cNvSpPr txBox="1"/>
          <p:nvPr/>
        </p:nvSpPr>
        <p:spPr>
          <a:xfrm>
            <a:off x="914400" y="3456432"/>
            <a:ext cx="3108960" cy="274320"/>
          </a:xfrm>
          <a:prstGeom prst="rect">
            <a:avLst/>
          </a:prstGeom>
          <a:noFill/>
        </p:spPr>
        <p:txBody>
          <a:bodyPr wrap="square" lIns="0" tIns="0" rIns="0" bIns="0" anchor="t"/>
          <a:lstStyle/>
          <a:p>
            <a:pPr algn="l"/>
            <a:r>
              <a:rPr sz="1300" b="0">
                <a:solidFill>
                  <a:srgbClr val="E5484D"/>
                </a:solidFill>
                <a:latin typeface="Segoe UI"/>
              </a:rPr>
              <a:t>Very long instructions</a:t>
            </a:r>
          </a:p>
        </p:txBody>
      </p:sp>
      <p:sp>
        <p:nvSpPr>
          <p:cNvPr id="18" name="TextBox 17"/>
          <p:cNvSpPr txBox="1"/>
          <p:nvPr/>
        </p:nvSpPr>
        <p:spPr>
          <a:xfrm>
            <a:off x="3977639" y="1572768"/>
            <a:ext cx="3474720" cy="292608"/>
          </a:xfrm>
          <a:prstGeom prst="rect">
            <a:avLst/>
          </a:prstGeom>
          <a:noFill/>
        </p:spPr>
        <p:txBody>
          <a:bodyPr wrap="square" lIns="0" tIns="0" rIns="0" bIns="0" anchor="t"/>
          <a:lstStyle/>
          <a:p>
            <a:pPr algn="ctr"/>
            <a:r>
              <a:rPr sz="1400" b="0">
                <a:solidFill>
                  <a:srgbClr val="0A0A0A"/>
                </a:solidFill>
                <a:latin typeface="Segoe UI Semibold"/>
              </a:rPr>
              <a:t>Bring to the room</a:t>
            </a:r>
          </a:p>
        </p:txBody>
      </p:sp>
      <p:sp>
        <p:nvSpPr>
          <p:cNvPr id="19" name="Oval 18"/>
          <p:cNvSpPr/>
          <p:nvPr/>
        </p:nvSpPr>
        <p:spPr>
          <a:xfrm>
            <a:off x="5393313" y="2573223"/>
            <a:ext cx="274320" cy="274320"/>
          </a:xfrm>
          <a:prstGeom prst="ellipse">
            <a:avLst/>
          </a:prstGeom>
          <a:solidFill>
            <a:srgbClr val="E5484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20" name="TextBox 19"/>
          <p:cNvSpPr txBox="1"/>
          <p:nvPr/>
        </p:nvSpPr>
        <p:spPr>
          <a:xfrm>
            <a:off x="3977639" y="1874519"/>
            <a:ext cx="3474720" cy="274320"/>
          </a:xfrm>
          <a:prstGeom prst="rect">
            <a:avLst/>
          </a:prstGeom>
          <a:noFill/>
        </p:spPr>
        <p:txBody>
          <a:bodyPr wrap="square" lIns="0" tIns="0" rIns="0" bIns="0" anchor="t"/>
          <a:lstStyle/>
          <a:p>
            <a:pPr algn="ctr"/>
            <a:r>
              <a:rPr sz="1300" b="0">
                <a:solidFill>
                  <a:srgbClr val="E5484D"/>
                </a:solidFill>
                <a:latin typeface="Segoe UI"/>
              </a:rPr>
              <a:t>Patients get lost</a:t>
            </a:r>
          </a:p>
        </p:txBody>
      </p:sp>
      <p:sp>
        <p:nvSpPr>
          <p:cNvPr id="21" name="TextBox 20"/>
          <p:cNvSpPr txBox="1"/>
          <p:nvPr/>
        </p:nvSpPr>
        <p:spPr>
          <a:xfrm>
            <a:off x="7498079" y="4389120"/>
            <a:ext cx="3291840" cy="292608"/>
          </a:xfrm>
          <a:prstGeom prst="rect">
            <a:avLst/>
          </a:prstGeom>
          <a:noFill/>
        </p:spPr>
        <p:txBody>
          <a:bodyPr wrap="square" lIns="0" tIns="0" rIns="0" bIns="0" anchor="t"/>
          <a:lstStyle/>
          <a:p>
            <a:pPr algn="l"/>
            <a:r>
              <a:rPr sz="1400" b="0">
                <a:solidFill>
                  <a:srgbClr val="0A0A0A"/>
                </a:solidFill>
                <a:latin typeface="Segoe UI Semibold"/>
              </a:rPr>
              <a:t>Wait &amp; consultation</a:t>
            </a:r>
          </a:p>
        </p:txBody>
      </p:sp>
      <p:sp>
        <p:nvSpPr>
          <p:cNvPr id="22" name="Oval 21"/>
          <p:cNvSpPr/>
          <p:nvPr/>
        </p:nvSpPr>
        <p:spPr>
          <a:xfrm>
            <a:off x="6748522" y="4508662"/>
            <a:ext cx="274320" cy="274320"/>
          </a:xfrm>
          <a:prstGeom prst="ellipse">
            <a:avLst/>
          </a:prstGeom>
          <a:solidFill>
            <a:srgbClr val="E5484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23" name="TextBox 22"/>
          <p:cNvSpPr txBox="1"/>
          <p:nvPr/>
        </p:nvSpPr>
        <p:spPr>
          <a:xfrm>
            <a:off x="7498079" y="4690872"/>
            <a:ext cx="3291840" cy="274320"/>
          </a:xfrm>
          <a:prstGeom prst="rect">
            <a:avLst/>
          </a:prstGeom>
          <a:noFill/>
        </p:spPr>
        <p:txBody>
          <a:bodyPr wrap="square" lIns="0" tIns="0" rIns="0" bIns="0" anchor="t"/>
          <a:lstStyle/>
          <a:p>
            <a:pPr algn="l"/>
            <a:r>
              <a:rPr sz="1300" b="0">
                <a:solidFill>
                  <a:srgbClr val="E5484D"/>
                </a:solidFill>
                <a:latin typeface="Segoe UI"/>
              </a:rPr>
              <a:t>Patient late, doctor waits</a:t>
            </a:r>
          </a:p>
        </p:txBody>
      </p:sp>
      <p:sp>
        <p:nvSpPr>
          <p:cNvPr id="24" name="TextBox 23"/>
          <p:cNvSpPr txBox="1"/>
          <p:nvPr/>
        </p:nvSpPr>
        <p:spPr>
          <a:xfrm>
            <a:off x="822960" y="4983480"/>
            <a:ext cx="3337560" cy="292608"/>
          </a:xfrm>
          <a:prstGeom prst="rect">
            <a:avLst/>
          </a:prstGeom>
          <a:noFill/>
        </p:spPr>
        <p:txBody>
          <a:bodyPr wrap="square" lIns="0" tIns="0" rIns="0" bIns="0" anchor="t"/>
          <a:lstStyle/>
          <a:p>
            <a:pPr algn="r"/>
            <a:r>
              <a:rPr sz="1400" b="0">
                <a:solidFill>
                  <a:srgbClr val="0A0A0A"/>
                </a:solidFill>
                <a:latin typeface="Segoe UI Semibold"/>
              </a:rPr>
              <a:t>Next department</a:t>
            </a:r>
          </a:p>
        </p:txBody>
      </p:sp>
      <p:sp>
        <p:nvSpPr>
          <p:cNvPr id="25" name="Oval 24"/>
          <p:cNvSpPr/>
          <p:nvPr/>
        </p:nvSpPr>
        <p:spPr>
          <a:xfrm>
            <a:off x="4656806" y="4839958"/>
            <a:ext cx="274320" cy="274320"/>
          </a:xfrm>
          <a:prstGeom prst="ellipse">
            <a:avLst/>
          </a:prstGeom>
          <a:solidFill>
            <a:srgbClr val="E5484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26" name="TextBox 25"/>
          <p:cNvSpPr txBox="1"/>
          <p:nvPr/>
        </p:nvSpPr>
        <p:spPr>
          <a:xfrm>
            <a:off x="822960" y="5285232"/>
            <a:ext cx="3337560" cy="274320"/>
          </a:xfrm>
          <a:prstGeom prst="rect">
            <a:avLst/>
          </a:prstGeom>
          <a:noFill/>
        </p:spPr>
        <p:txBody>
          <a:bodyPr wrap="square" lIns="0" tIns="0" rIns="0" bIns="0" anchor="t"/>
          <a:lstStyle/>
          <a:p>
            <a:pPr algn="r"/>
            <a:r>
              <a:rPr sz="1300" b="0">
                <a:solidFill>
                  <a:srgbClr val="E5484D"/>
                </a:solidFill>
                <a:latin typeface="Segoe UI"/>
              </a:rPr>
              <a:t>Repeats, again and again</a:t>
            </a:r>
          </a:p>
        </p:txBody>
      </p:sp>
      <p:sp>
        <p:nvSpPr>
          <p:cNvPr id="27" name="TextBox 26"/>
          <p:cNvSpPr txBox="1"/>
          <p:nvPr/>
        </p:nvSpPr>
        <p:spPr>
          <a:xfrm>
            <a:off x="9464040" y="3230977"/>
            <a:ext cx="2041855" cy="292608"/>
          </a:xfrm>
          <a:prstGeom prst="rect">
            <a:avLst/>
          </a:prstGeom>
          <a:noFill/>
        </p:spPr>
        <p:txBody>
          <a:bodyPr wrap="square" lIns="0" tIns="0" rIns="0" bIns="0" anchor="t"/>
          <a:lstStyle/>
          <a:p>
            <a:pPr algn="l"/>
            <a:r>
              <a:rPr sz="1400" b="0">
                <a:solidFill>
                  <a:srgbClr val="0A0A0A"/>
                </a:solidFill>
                <a:latin typeface="Segoe UI Semibold"/>
              </a:rPr>
              <a:t>Exit</a:t>
            </a:r>
          </a:p>
        </p:txBody>
      </p:sp>
      <p:sp>
        <p:nvSpPr>
          <p:cNvPr id="28" name="Oval 27"/>
          <p:cNvSpPr/>
          <p:nvPr/>
        </p:nvSpPr>
        <p:spPr>
          <a:xfrm>
            <a:off x="8046719" y="3368137"/>
            <a:ext cx="274320" cy="274320"/>
          </a:xfrm>
          <a:prstGeom prst="ellipse">
            <a:avLst/>
          </a:prstGeom>
          <a:solidFill>
            <a:srgbClr val="E5484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29" name="TextBox 28"/>
          <p:cNvSpPr txBox="1"/>
          <p:nvPr/>
        </p:nvSpPr>
        <p:spPr>
          <a:xfrm>
            <a:off x="9464040" y="3532729"/>
            <a:ext cx="2041855" cy="274320"/>
          </a:xfrm>
          <a:prstGeom prst="rect">
            <a:avLst/>
          </a:prstGeom>
          <a:noFill/>
        </p:spPr>
        <p:txBody>
          <a:bodyPr wrap="square" lIns="0" tIns="0" rIns="0" bIns="0" anchor="t"/>
          <a:lstStyle/>
          <a:p>
            <a:pPr algn="l"/>
            <a:r>
              <a:rPr sz="1300" b="0">
                <a:solidFill>
                  <a:srgbClr val="E5484D"/>
                </a:solidFill>
                <a:latin typeface="Segoe UI"/>
              </a:rPr>
              <a:t>Searching for the exit</a:t>
            </a:r>
          </a:p>
        </p:txBody>
      </p:sp>
      <p:sp>
        <p:nvSpPr>
          <p:cNvPr id="30" name="Rounded Rectangle 29"/>
          <p:cNvSpPr/>
          <p:nvPr/>
        </p:nvSpPr>
        <p:spPr>
          <a:xfrm>
            <a:off x="914400" y="2697480"/>
            <a:ext cx="2377440" cy="329184"/>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119957" y="2752344"/>
            <a:ext cx="100949" cy="10094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 Same Side Corner Rectangle 31"/>
          <p:cNvSpPr/>
          <p:nvPr/>
        </p:nvSpPr>
        <p:spPr>
          <a:xfrm>
            <a:off x="1060704" y="2866461"/>
            <a:ext cx="219456" cy="105338"/>
          </a:xfrm>
          <a:prstGeom prst="round2SameRect">
            <a:avLst>
              <a:gd name="adj1" fmla="val 5000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371600" y="2697480"/>
            <a:ext cx="1874519" cy="329184"/>
          </a:xfrm>
          <a:prstGeom prst="rect">
            <a:avLst/>
          </a:prstGeom>
          <a:noFill/>
        </p:spPr>
        <p:txBody>
          <a:bodyPr wrap="square" lIns="0" tIns="0" rIns="0" bIns="0" anchor="ctr"/>
          <a:lstStyle/>
          <a:p>
            <a:pPr algn="l"/>
            <a:r>
              <a:rPr sz="1150" b="0">
                <a:solidFill>
                  <a:srgbClr val="FFFFFF"/>
                </a:solidFill>
                <a:latin typeface="Segoe UI Semibold"/>
              </a:rPr>
              <a:t>Staff decide the room</a:t>
            </a:r>
          </a:p>
        </p:txBody>
      </p:sp>
      <p:pic>
        <p:nvPicPr>
          <p:cNvPr id="34" name="el81" descr="loop_today_entry.png"/>
          <p:cNvPicPr>
            <a:picLocks noChangeAspect="1"/>
          </p:cNvPicPr>
          <p:nvPr/>
        </p:nvPicPr>
        <p:blipFill>
          <a:blip r:embed="rId5"/>
          <a:stretch>
            <a:fillRect/>
          </a:stretch>
        </p:blipFill>
        <p:spPr>
          <a:xfrm>
            <a:off x="0" y="0"/>
            <a:ext cx="12191695" cy="6858000"/>
          </a:xfrm>
          <a:prstGeom prst="rect">
            <a:avLst/>
          </a:prstGeom>
        </p:spPr>
      </p:pic>
      <p:sp>
        <p:nvSpPr>
          <p:cNvPr id="35" name="el82"/>
          <p:cNvSpPr/>
          <p:nvPr/>
        </p:nvSpPr>
        <p:spPr>
          <a:xfrm>
            <a:off x="2377440" y="3886200"/>
            <a:ext cx="274320" cy="274320"/>
          </a:xfrm>
          <a:prstGeom prst="ellipse">
            <a:avLst/>
          </a:prstGeom>
          <a:solidFill>
            <a:srgbClr val="2F9E6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useBgFill="1">
        <p:nvSpPr>
          <p:cNvPr id="36" name="el83"/>
          <p:cNvSpPr txBox="1"/>
          <p:nvPr/>
        </p:nvSpPr>
        <p:spPr>
          <a:xfrm>
            <a:off x="914400" y="3456432"/>
            <a:ext cx="3108960" cy="274320"/>
          </a:xfrm>
          <a:prstGeom prst="rect">
            <a:avLst/>
          </a:prstGeom>
        </p:spPr>
        <p:txBody>
          <a:bodyPr wrap="square" lIns="0" tIns="0" rIns="0" bIns="0" anchor="t"/>
          <a:lstStyle/>
          <a:p>
            <a:pPr algn="l"/>
            <a:r>
              <a:rPr sz="1300" b="0">
                <a:solidFill>
                  <a:srgbClr val="2F9E6E"/>
                </a:solidFill>
                <a:latin typeface="Segoe UI Semibold"/>
              </a:rPr>
              <a:t>No more route to explain</a:t>
            </a:r>
          </a:p>
        </p:txBody>
      </p:sp>
      <p:pic>
        <p:nvPicPr>
          <p:cNvPr id="37" name="el84" descr="loop_otto_room.png"/>
          <p:cNvPicPr>
            <a:picLocks noChangeAspect="1"/>
          </p:cNvPicPr>
          <p:nvPr/>
        </p:nvPicPr>
        <p:blipFill>
          <a:blip r:embed="rId10"/>
          <a:stretch>
            <a:fillRect/>
          </a:stretch>
        </p:blipFill>
        <p:spPr>
          <a:xfrm>
            <a:off x="0" y="0"/>
            <a:ext cx="12191695" cy="6858000"/>
          </a:xfrm>
          <a:prstGeom prst="rect">
            <a:avLst/>
          </a:prstGeom>
        </p:spPr>
      </p:pic>
      <p:sp>
        <p:nvSpPr>
          <p:cNvPr id="38" name="el85"/>
          <p:cNvSpPr/>
          <p:nvPr/>
        </p:nvSpPr>
        <p:spPr>
          <a:xfrm>
            <a:off x="5393313" y="2573223"/>
            <a:ext cx="274320" cy="274320"/>
          </a:xfrm>
          <a:prstGeom prst="ellipse">
            <a:avLst/>
          </a:prstGeom>
          <a:solidFill>
            <a:srgbClr val="2F9E6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useBgFill="1">
        <p:nvSpPr>
          <p:cNvPr id="39" name="el86"/>
          <p:cNvSpPr txBox="1"/>
          <p:nvPr/>
        </p:nvSpPr>
        <p:spPr>
          <a:xfrm>
            <a:off x="3977639" y="1874519"/>
            <a:ext cx="3474720" cy="274320"/>
          </a:xfrm>
          <a:prstGeom prst="rect">
            <a:avLst/>
          </a:prstGeom>
        </p:spPr>
        <p:txBody>
          <a:bodyPr wrap="square" lIns="0" tIns="0" rIns="0" bIns="0" anchor="t"/>
          <a:lstStyle/>
          <a:p>
            <a:pPr algn="ctr"/>
            <a:r>
              <a:rPr sz="1300" b="0">
                <a:solidFill>
                  <a:srgbClr val="2F9E6E"/>
                </a:solidFill>
                <a:latin typeface="Segoe UI Semibold"/>
              </a:rPr>
              <a:t>OttO takes over</a:t>
            </a:r>
          </a:p>
        </p:txBody>
      </p:sp>
      <p:pic>
        <p:nvPicPr>
          <p:cNvPr id="40" name="el87" descr="loop_today_wait.png"/>
          <p:cNvPicPr>
            <a:picLocks noChangeAspect="1"/>
          </p:cNvPicPr>
          <p:nvPr/>
        </p:nvPicPr>
        <p:blipFill>
          <a:blip r:embed="rId7"/>
          <a:stretch>
            <a:fillRect/>
          </a:stretch>
        </p:blipFill>
        <p:spPr>
          <a:xfrm>
            <a:off x="0" y="0"/>
            <a:ext cx="12191695" cy="6858000"/>
          </a:xfrm>
          <a:prstGeom prst="rect">
            <a:avLst/>
          </a:prstGeom>
        </p:spPr>
      </p:pic>
      <p:sp>
        <p:nvSpPr>
          <p:cNvPr id="41" name="el88"/>
          <p:cNvSpPr/>
          <p:nvPr/>
        </p:nvSpPr>
        <p:spPr>
          <a:xfrm>
            <a:off x="6748522" y="4508662"/>
            <a:ext cx="274320" cy="274320"/>
          </a:xfrm>
          <a:prstGeom prst="ellipse">
            <a:avLst/>
          </a:prstGeom>
          <a:solidFill>
            <a:srgbClr val="2F9E6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useBgFill="1">
        <p:nvSpPr>
          <p:cNvPr id="42" name="el89"/>
          <p:cNvSpPr txBox="1"/>
          <p:nvPr/>
        </p:nvSpPr>
        <p:spPr>
          <a:xfrm>
            <a:off x="7498079" y="4690872"/>
            <a:ext cx="3291840" cy="274320"/>
          </a:xfrm>
          <a:prstGeom prst="rect">
            <a:avLst/>
          </a:prstGeom>
        </p:spPr>
        <p:txBody>
          <a:bodyPr wrap="square" lIns="0" tIns="0" rIns="0" bIns="0" anchor="t"/>
          <a:lstStyle/>
          <a:p>
            <a:pPr algn="l"/>
            <a:r>
              <a:rPr sz="1300" b="0">
                <a:solidFill>
                  <a:srgbClr val="2F9E6E"/>
                </a:solidFill>
                <a:latin typeface="Segoe UI Semibold"/>
              </a:rPr>
              <a:t>Doctor knows where you are</a:t>
            </a:r>
          </a:p>
        </p:txBody>
      </p:sp>
      <p:pic>
        <p:nvPicPr>
          <p:cNvPr id="43" name="el90" descr="loop_otto_next.png"/>
          <p:cNvPicPr>
            <a:picLocks noChangeAspect="1"/>
          </p:cNvPicPr>
          <p:nvPr/>
        </p:nvPicPr>
        <p:blipFill>
          <a:blip r:embed="rId11"/>
          <a:stretch>
            <a:fillRect/>
          </a:stretch>
        </p:blipFill>
        <p:spPr>
          <a:xfrm>
            <a:off x="0" y="0"/>
            <a:ext cx="12191695" cy="6858000"/>
          </a:xfrm>
          <a:prstGeom prst="rect">
            <a:avLst/>
          </a:prstGeom>
        </p:spPr>
      </p:pic>
      <p:sp>
        <p:nvSpPr>
          <p:cNvPr id="44" name="el91"/>
          <p:cNvSpPr/>
          <p:nvPr/>
        </p:nvSpPr>
        <p:spPr>
          <a:xfrm>
            <a:off x="4656806" y="4839958"/>
            <a:ext cx="274320" cy="274320"/>
          </a:xfrm>
          <a:prstGeom prst="ellipse">
            <a:avLst/>
          </a:prstGeom>
          <a:solidFill>
            <a:srgbClr val="2F9E6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useBgFill="1">
        <p:nvSpPr>
          <p:cNvPr id="45" name="el92"/>
          <p:cNvSpPr txBox="1"/>
          <p:nvPr/>
        </p:nvSpPr>
        <p:spPr>
          <a:xfrm>
            <a:off x="822960" y="5285232"/>
            <a:ext cx="3337560" cy="274320"/>
          </a:xfrm>
          <a:prstGeom prst="rect">
            <a:avLst/>
          </a:prstGeom>
        </p:spPr>
        <p:txBody>
          <a:bodyPr wrap="square" lIns="0" tIns="0" rIns="0" bIns="0" anchor="t"/>
          <a:lstStyle/>
          <a:p>
            <a:pPr algn="r"/>
            <a:r>
              <a:rPr sz="1300" b="0">
                <a:solidFill>
                  <a:srgbClr val="2F9E6E"/>
                </a:solidFill>
                <a:latin typeface="Segoe UI Semibold"/>
              </a:rPr>
              <a:t>OttO picks you up again</a:t>
            </a:r>
          </a:p>
        </p:txBody>
      </p:sp>
      <p:pic>
        <p:nvPicPr>
          <p:cNvPr id="46" name="el93" descr="loop_otto_exit.png"/>
          <p:cNvPicPr>
            <a:picLocks noChangeAspect="1"/>
          </p:cNvPicPr>
          <p:nvPr/>
        </p:nvPicPr>
        <p:blipFill>
          <a:blip r:embed="rId12"/>
          <a:stretch>
            <a:fillRect/>
          </a:stretch>
        </p:blipFill>
        <p:spPr>
          <a:xfrm>
            <a:off x="0" y="0"/>
            <a:ext cx="12191695" cy="6858000"/>
          </a:xfrm>
          <a:prstGeom prst="rect">
            <a:avLst/>
          </a:prstGeom>
        </p:spPr>
      </p:pic>
      <p:sp>
        <p:nvSpPr>
          <p:cNvPr id="47" name="el94"/>
          <p:cNvSpPr/>
          <p:nvPr/>
        </p:nvSpPr>
        <p:spPr>
          <a:xfrm>
            <a:off x="8046719" y="3368137"/>
            <a:ext cx="274320" cy="274320"/>
          </a:xfrm>
          <a:prstGeom prst="ellipse">
            <a:avLst/>
          </a:prstGeom>
          <a:solidFill>
            <a:srgbClr val="2F9E6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useBgFill="1">
        <p:nvSpPr>
          <p:cNvPr id="48" name="el95"/>
          <p:cNvSpPr txBox="1"/>
          <p:nvPr/>
        </p:nvSpPr>
        <p:spPr>
          <a:xfrm>
            <a:off x="9464040" y="3532729"/>
            <a:ext cx="2041855" cy="274320"/>
          </a:xfrm>
          <a:prstGeom prst="rect">
            <a:avLst/>
          </a:prstGeom>
        </p:spPr>
        <p:txBody>
          <a:bodyPr wrap="square" lIns="0" tIns="0" rIns="0" bIns="0" anchor="t"/>
          <a:lstStyle/>
          <a:p>
            <a:pPr algn="l"/>
            <a:r>
              <a:rPr sz="1300" b="0">
                <a:solidFill>
                  <a:srgbClr val="2F9E6E"/>
                </a:solidFill>
                <a:latin typeface="Segoe UI Semibold"/>
              </a:rPr>
              <a:t>OttO walks you out</a:t>
            </a:r>
          </a:p>
        </p:txBody>
      </p:sp>
      <p:pic>
        <p:nvPicPr>
          <p:cNvPr id="49" name="el96" descr="otto_face.png"/>
          <p:cNvPicPr>
            <a:picLocks noChangeAspect="1"/>
          </p:cNvPicPr>
          <p:nvPr/>
        </p:nvPicPr>
        <p:blipFill>
          <a:blip r:embed="rId13"/>
          <a:stretch>
            <a:fillRect/>
          </a:stretch>
        </p:blipFill>
        <p:spPr>
          <a:xfrm>
            <a:off x="4686300" y="3173683"/>
            <a:ext cx="2057400" cy="1790793"/>
          </a:xfrm>
          <a:prstGeom prst="rect">
            <a:avLst/>
          </a:prstGeom>
        </p:spPr>
      </p:pic>
      <p:sp>
        <p:nvSpPr>
          <p:cNvPr id="50" name="el97"/>
          <p:cNvSpPr/>
          <p:nvPr/>
        </p:nvSpPr>
        <p:spPr>
          <a:xfrm>
            <a:off x="685800" y="6053327"/>
            <a:ext cx="329184" cy="128016"/>
          </a:xfrm>
          <a:prstGeom prst="roundRect">
            <a:avLst>
              <a:gd name="adj" fmla="val 50000"/>
            </a:avLst>
          </a:prstGeom>
          <a:solidFill>
            <a:srgbClr val="CD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el98"/>
          <p:cNvSpPr txBox="1"/>
          <p:nvPr/>
        </p:nvSpPr>
        <p:spPr>
          <a:xfrm>
            <a:off x="1124712" y="5961888"/>
            <a:ext cx="1645920" cy="310896"/>
          </a:xfrm>
          <a:prstGeom prst="rect">
            <a:avLst/>
          </a:prstGeom>
          <a:noFill/>
        </p:spPr>
        <p:txBody>
          <a:bodyPr wrap="square" lIns="0" tIns="0" rIns="0" bIns="0" anchor="ctr"/>
          <a:lstStyle/>
          <a:p>
            <a:pPr algn="l"/>
            <a:r>
              <a:rPr sz="1200" b="0">
                <a:solidFill>
                  <a:srgbClr val="6E6E73"/>
                </a:solidFill>
                <a:latin typeface="Segoe UI"/>
              </a:rPr>
              <a:t>People decide</a:t>
            </a:r>
          </a:p>
        </p:txBody>
      </p:sp>
      <p:sp>
        <p:nvSpPr>
          <p:cNvPr id="52" name="el99"/>
          <p:cNvSpPr/>
          <p:nvPr/>
        </p:nvSpPr>
        <p:spPr>
          <a:xfrm>
            <a:off x="2788920" y="6053327"/>
            <a:ext cx="329184" cy="128016"/>
          </a:xfrm>
          <a:prstGeom prst="roundRect">
            <a:avLst>
              <a:gd name="adj" fmla="val 50000"/>
            </a:avLst>
          </a:prstGeom>
          <a:solidFill>
            <a:srgbClr val="2F9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el100"/>
          <p:cNvSpPr txBox="1"/>
          <p:nvPr/>
        </p:nvSpPr>
        <p:spPr>
          <a:xfrm>
            <a:off x="3227832" y="5961888"/>
            <a:ext cx="1645920" cy="310896"/>
          </a:xfrm>
          <a:prstGeom prst="rect">
            <a:avLst/>
          </a:prstGeom>
          <a:noFill/>
        </p:spPr>
        <p:txBody>
          <a:bodyPr wrap="square" lIns="0" tIns="0" rIns="0" bIns="0" anchor="ctr"/>
          <a:lstStyle/>
          <a:p>
            <a:pPr algn="l"/>
            <a:r>
              <a:rPr sz="1200" b="0">
                <a:solidFill>
                  <a:srgbClr val="6E6E73"/>
                </a:solidFill>
                <a:latin typeface="Segoe UI"/>
              </a:rPr>
              <a:t>OttO walks</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1200"/>
                                  </p:stCondLst>
                                  <p:childTnLst>
                                    <p:set>
                                      <p:cBhvr>
                                        <p:cTn id="6" dur="1" fill="hold">
                                          <p:stCondLst>
                                            <p:cond delay="0"/>
                                          </p:stCondLst>
                                        </p:cTn>
                                        <p:tgtEl>
                                          <p:spTgt spid="49"/>
                                        </p:tgtEl>
                                        <p:attrNameLst>
                                          <p:attrName>style.visibility</p:attrName>
                                        </p:attrNameLst>
                                      </p:cBhvr>
                                      <p:to>
                                        <p:strVal val="visible"/>
                                      </p:to>
                                    </p:set>
                                    <p:anim calcmode="lin" valueType="num">
                                      <p:cBhvr>
                                        <p:cTn id="7" dur="250" fill="hold"/>
                                        <p:tgtEl>
                                          <p:spTgt spid="49"/>
                                        </p:tgtEl>
                                        <p:attrNameLst>
                                          <p:attrName>ppt_w</p:attrName>
                                        </p:attrNameLst>
                                      </p:cBhvr>
                                      <p:tavLst>
                                        <p:tav tm="0">
                                          <p:val>
                                            <p:fltVal val="0"/>
                                          </p:val>
                                        </p:tav>
                                        <p:tav tm="100000">
                                          <p:val>
                                            <p:strVal val="#ppt_w"/>
                                          </p:val>
                                        </p:tav>
                                      </p:tavLst>
                                    </p:anim>
                                    <p:anim calcmode="lin" valueType="num">
                                      <p:cBhvr>
                                        <p:cTn id="8" dur="250" fill="hold"/>
                                        <p:tgtEl>
                                          <p:spTgt spid="49"/>
                                        </p:tgtEl>
                                        <p:attrNameLst>
                                          <p:attrName>ppt_h</p:attrName>
                                        </p:attrNameLst>
                                      </p:cBhvr>
                                      <p:tavLst>
                                        <p:tav tm="0">
                                          <p:val>
                                            <p:fltVal val="0"/>
                                          </p:val>
                                        </p:tav>
                                        <p:tav tm="100000">
                                          <p:val>
                                            <p:strVal val="#ppt_h"/>
                                          </p:val>
                                        </p:tav>
                                      </p:tavLst>
                                    </p:anim>
                                    <p:animEffect transition="in" filter="fade">
                                      <p:cBhvr>
                                        <p:cTn id="9" dur="250"/>
                                        <p:tgtEl>
                                          <p:spTgt spid="49"/>
                                        </p:tgtEl>
                                      </p:cBhvr>
                                    </p:animEffect>
                                  </p:childTnLst>
                                </p:cTn>
                              </p:par>
                            </p:childTnLst>
                          </p:cTn>
                        </p:par>
                        <p:par>
                          <p:cTn id="10" fill="hold">
                            <p:stCondLst>
                              <p:cond delay="1450"/>
                            </p:stCondLst>
                            <p:childTnLst>
                              <p:par>
                                <p:cTn id="11" presetID="10" presetClass="entr" presetSubtype="0" fill="hold" grpId="0" nodeType="afterEffect">
                                  <p:stCondLst>
                                    <p:cond delay="30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250"/>
                                        <p:tgtEl>
                                          <p:spTgt spid="36"/>
                                        </p:tgtEl>
                                      </p:cBhvr>
                                    </p:animEffect>
                                  </p:childTnLst>
                                </p:cTn>
                              </p:par>
                              <p:par>
                                <p:cTn id="14" presetID="10" presetClass="entr" presetSubtype="0" fill="hold" nodeType="withEffect">
                                  <p:stCondLst>
                                    <p:cond delay="3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250"/>
                                        <p:tgtEl>
                                          <p:spTgt spid="34"/>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250"/>
                                        <p:tgtEl>
                                          <p:spTgt spid="35"/>
                                        </p:tgtEl>
                                      </p:cBhvr>
                                    </p:animEffect>
                                  </p:childTnLst>
                                </p:cTn>
                              </p:par>
                            </p:childTnLst>
                          </p:cTn>
                        </p:par>
                        <p:par>
                          <p:cTn id="20" fill="hold">
                            <p:stCondLst>
                              <p:cond delay="2000"/>
                            </p:stCondLst>
                            <p:childTnLst>
                              <p:par>
                                <p:cTn id="21" presetID="10" presetClass="entr" presetSubtype="0" fill="hold" grpId="0" nodeType="afterEffect">
                                  <p:stCondLst>
                                    <p:cond delay="30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250"/>
                                        <p:tgtEl>
                                          <p:spTgt spid="39"/>
                                        </p:tgtEl>
                                      </p:cBhvr>
                                    </p:animEffect>
                                  </p:childTnLst>
                                </p:cTn>
                              </p:par>
                              <p:par>
                                <p:cTn id="24" presetID="10" presetClass="entr" presetSubtype="0" fill="hold" nodeType="withEffect">
                                  <p:stCondLst>
                                    <p:cond delay="30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250"/>
                                        <p:tgtEl>
                                          <p:spTgt spid="37"/>
                                        </p:tgtEl>
                                      </p:cBhvr>
                                    </p:animEffect>
                                  </p:childTnLst>
                                </p:cTn>
                              </p:par>
                              <p:par>
                                <p:cTn id="27" presetID="10" presetClass="entr" presetSubtype="0" fill="hold" grpId="0" nodeType="withEffect">
                                  <p:stCondLst>
                                    <p:cond delay="30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250"/>
                                        <p:tgtEl>
                                          <p:spTgt spid="38"/>
                                        </p:tgtEl>
                                      </p:cBhvr>
                                    </p:animEffect>
                                  </p:childTnLst>
                                </p:cTn>
                              </p:par>
                            </p:childTnLst>
                          </p:cTn>
                        </p:par>
                        <p:par>
                          <p:cTn id="30" fill="hold">
                            <p:stCondLst>
                              <p:cond delay="2550"/>
                            </p:stCondLst>
                            <p:childTnLst>
                              <p:par>
                                <p:cTn id="31" presetID="10" presetClass="entr" presetSubtype="0" fill="hold" grpId="0" nodeType="afterEffect">
                                  <p:stCondLst>
                                    <p:cond delay="30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250"/>
                                        <p:tgtEl>
                                          <p:spTgt spid="42"/>
                                        </p:tgtEl>
                                      </p:cBhvr>
                                    </p:animEffect>
                                  </p:childTnLst>
                                </p:cTn>
                              </p:par>
                              <p:par>
                                <p:cTn id="34" presetID="10" presetClass="entr" presetSubtype="0" fill="hold" nodeType="withEffect">
                                  <p:stCondLst>
                                    <p:cond delay="30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250"/>
                                        <p:tgtEl>
                                          <p:spTgt spid="40"/>
                                        </p:tgtEl>
                                      </p:cBhvr>
                                    </p:animEffect>
                                  </p:childTnLst>
                                </p:cTn>
                              </p:par>
                              <p:par>
                                <p:cTn id="37" presetID="10" presetClass="entr" presetSubtype="0" fill="hold" grpId="0" nodeType="withEffect">
                                  <p:stCondLst>
                                    <p:cond delay="30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250"/>
                                        <p:tgtEl>
                                          <p:spTgt spid="41"/>
                                        </p:tgtEl>
                                      </p:cBhvr>
                                    </p:animEffect>
                                  </p:childTnLst>
                                </p:cTn>
                              </p:par>
                            </p:childTnLst>
                          </p:cTn>
                        </p:par>
                        <p:par>
                          <p:cTn id="40" fill="hold">
                            <p:stCondLst>
                              <p:cond delay="3100"/>
                            </p:stCondLst>
                            <p:childTnLst>
                              <p:par>
                                <p:cTn id="41" presetID="10" presetClass="entr" presetSubtype="0" fill="hold" grpId="0" nodeType="afterEffect">
                                  <p:stCondLst>
                                    <p:cond delay="300"/>
                                  </p:stCondLst>
                                  <p:childTnLst>
                                    <p:set>
                                      <p:cBhvr>
                                        <p:cTn id="42" dur="1" fill="hold">
                                          <p:stCondLst>
                                            <p:cond delay="0"/>
                                          </p:stCondLst>
                                        </p:cTn>
                                        <p:tgtEl>
                                          <p:spTgt spid="45"/>
                                        </p:tgtEl>
                                        <p:attrNameLst>
                                          <p:attrName>style.visibility</p:attrName>
                                        </p:attrNameLst>
                                      </p:cBhvr>
                                      <p:to>
                                        <p:strVal val="visible"/>
                                      </p:to>
                                    </p:set>
                                    <p:animEffect transition="in" filter="fade">
                                      <p:cBhvr>
                                        <p:cTn id="43" dur="250"/>
                                        <p:tgtEl>
                                          <p:spTgt spid="45"/>
                                        </p:tgtEl>
                                      </p:cBhvr>
                                    </p:animEffect>
                                  </p:childTnLst>
                                </p:cTn>
                              </p:par>
                              <p:par>
                                <p:cTn id="44" presetID="10" presetClass="entr" presetSubtype="0" fill="hold" nodeType="withEffect">
                                  <p:stCondLst>
                                    <p:cond delay="300"/>
                                  </p:stCondLst>
                                  <p:childTnLst>
                                    <p:set>
                                      <p:cBhvr>
                                        <p:cTn id="45" dur="1" fill="hold">
                                          <p:stCondLst>
                                            <p:cond delay="0"/>
                                          </p:stCondLst>
                                        </p:cTn>
                                        <p:tgtEl>
                                          <p:spTgt spid="43"/>
                                        </p:tgtEl>
                                        <p:attrNameLst>
                                          <p:attrName>style.visibility</p:attrName>
                                        </p:attrNameLst>
                                      </p:cBhvr>
                                      <p:to>
                                        <p:strVal val="visible"/>
                                      </p:to>
                                    </p:set>
                                    <p:animEffect transition="in" filter="fade">
                                      <p:cBhvr>
                                        <p:cTn id="46" dur="250"/>
                                        <p:tgtEl>
                                          <p:spTgt spid="43"/>
                                        </p:tgtEl>
                                      </p:cBhvr>
                                    </p:animEffect>
                                  </p:childTnLst>
                                </p:cTn>
                              </p:par>
                              <p:par>
                                <p:cTn id="47" presetID="10" presetClass="entr" presetSubtype="0" fill="hold" grpId="0" nodeType="withEffect">
                                  <p:stCondLst>
                                    <p:cond delay="300"/>
                                  </p:stCondLst>
                                  <p:childTnLst>
                                    <p:set>
                                      <p:cBhvr>
                                        <p:cTn id="48" dur="1" fill="hold">
                                          <p:stCondLst>
                                            <p:cond delay="0"/>
                                          </p:stCondLst>
                                        </p:cTn>
                                        <p:tgtEl>
                                          <p:spTgt spid="44"/>
                                        </p:tgtEl>
                                        <p:attrNameLst>
                                          <p:attrName>style.visibility</p:attrName>
                                        </p:attrNameLst>
                                      </p:cBhvr>
                                      <p:to>
                                        <p:strVal val="visible"/>
                                      </p:to>
                                    </p:set>
                                    <p:animEffect transition="in" filter="fade">
                                      <p:cBhvr>
                                        <p:cTn id="49" dur="250"/>
                                        <p:tgtEl>
                                          <p:spTgt spid="44"/>
                                        </p:tgtEl>
                                      </p:cBhvr>
                                    </p:animEffect>
                                  </p:childTnLst>
                                </p:cTn>
                              </p:par>
                            </p:childTnLst>
                          </p:cTn>
                        </p:par>
                        <p:par>
                          <p:cTn id="50" fill="hold">
                            <p:stCondLst>
                              <p:cond delay="3650"/>
                            </p:stCondLst>
                            <p:childTnLst>
                              <p:par>
                                <p:cTn id="51" presetID="10" presetClass="entr" presetSubtype="0" fill="hold" nodeType="afterEffect">
                                  <p:stCondLst>
                                    <p:cond delay="30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250"/>
                                        <p:tgtEl>
                                          <p:spTgt spid="46"/>
                                        </p:tgtEl>
                                      </p:cBhvr>
                                    </p:animEffect>
                                  </p:childTnLst>
                                </p:cTn>
                              </p:par>
                              <p:par>
                                <p:cTn id="54" presetID="10" presetClass="entr" presetSubtype="0" fill="hold" grpId="0" nodeType="withEffect">
                                  <p:stCondLst>
                                    <p:cond delay="300"/>
                                  </p:stCondLst>
                                  <p:childTnLst>
                                    <p:set>
                                      <p:cBhvr>
                                        <p:cTn id="55" dur="1" fill="hold">
                                          <p:stCondLst>
                                            <p:cond delay="0"/>
                                          </p:stCondLst>
                                        </p:cTn>
                                        <p:tgtEl>
                                          <p:spTgt spid="48"/>
                                        </p:tgtEl>
                                        <p:attrNameLst>
                                          <p:attrName>style.visibility</p:attrName>
                                        </p:attrNameLst>
                                      </p:cBhvr>
                                      <p:to>
                                        <p:strVal val="visible"/>
                                      </p:to>
                                    </p:set>
                                    <p:animEffect transition="in" filter="fade">
                                      <p:cBhvr>
                                        <p:cTn id="56" dur="250"/>
                                        <p:tgtEl>
                                          <p:spTgt spid="48"/>
                                        </p:tgtEl>
                                      </p:cBhvr>
                                    </p:animEffect>
                                  </p:childTnLst>
                                </p:cTn>
                              </p:par>
                              <p:par>
                                <p:cTn id="57" presetID="10" presetClass="entr" presetSubtype="0" fill="hold" grpId="0" nodeType="withEffect">
                                  <p:stCondLst>
                                    <p:cond delay="30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250"/>
                                        <p:tgtEl>
                                          <p:spTgt spid="47"/>
                                        </p:tgtEl>
                                      </p:cBhvr>
                                    </p:animEffect>
                                  </p:childTnLst>
                                </p:cTn>
                              </p:par>
                            </p:childTnLst>
                          </p:cTn>
                        </p:par>
                        <p:par>
                          <p:cTn id="60" fill="hold">
                            <p:stCondLst>
                              <p:cond delay="4200"/>
                            </p:stCondLst>
                            <p:childTnLst>
                              <p:par>
                                <p:cTn id="61" presetID="10" presetClass="entr" presetSubtype="0" fill="hold" grpId="0" nodeType="afterEffect">
                                  <p:stCondLst>
                                    <p:cond delay="50"/>
                                  </p:stCondLst>
                                  <p:childTnLst>
                                    <p:set>
                                      <p:cBhvr>
                                        <p:cTn id="62" dur="1" fill="hold">
                                          <p:stCondLst>
                                            <p:cond delay="0"/>
                                          </p:stCondLst>
                                        </p:cTn>
                                        <p:tgtEl>
                                          <p:spTgt spid="52"/>
                                        </p:tgtEl>
                                        <p:attrNameLst>
                                          <p:attrName>style.visibility</p:attrName>
                                        </p:attrNameLst>
                                      </p:cBhvr>
                                      <p:to>
                                        <p:strVal val="visible"/>
                                      </p:to>
                                    </p:set>
                                    <p:animEffect transition="in" filter="fade">
                                      <p:cBhvr>
                                        <p:cTn id="63" dur="250"/>
                                        <p:tgtEl>
                                          <p:spTgt spid="5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fade">
                                      <p:cBhvr>
                                        <p:cTn id="66" dur="250"/>
                                        <p:tgtEl>
                                          <p:spTgt spid="5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animEffect transition="in" filter="fade">
                                      <p:cBhvr>
                                        <p:cTn id="69" dur="250"/>
                                        <p:tgtEl>
                                          <p:spTgt spid="5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25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8" grpId="0" animBg="1"/>
      <p:bldP spid="39" grpId="0" animBg="1"/>
      <p:bldP spid="41" grpId="0" animBg="1"/>
      <p:bldP spid="42" grpId="0" animBg="1"/>
      <p:bldP spid="44" grpId="0" animBg="1"/>
      <p:bldP spid="45" grpId="0" animBg="1"/>
      <p:bldP spid="47" grpId="0" animBg="1"/>
      <p:bldP spid="48" grpId="0" animBg="1"/>
      <p:bldP spid="50" grpId="0" animBg="1"/>
      <p:bldP spid="51" grpId="0"/>
      <p:bldP spid="52" grpId="0" animBg="1"/>
      <p:bldP spid="5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0A0A0A"/>
                </a:solidFill>
                <a:latin typeface="Segoe UI Semibold"/>
              </a:rPr>
              <a:t>Solution</a:t>
            </a:r>
          </a:p>
        </p:txBody>
      </p:sp>
      <p:sp>
        <p:nvSpPr>
          <p:cNvPr id="6" name="!!navline"/>
          <p:cNvSpPr/>
          <p:nvPr/>
        </p:nvSpPr>
        <p:spPr>
          <a:xfrm>
            <a:off x="9110167" y="621792"/>
            <a:ext cx="566927" cy="2286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8" name="!!page"/>
          <p:cNvSpPr txBox="1"/>
          <p:nvPr/>
        </p:nvSpPr>
        <p:spPr>
          <a:xfrm>
            <a:off x="10591495" y="6355080"/>
            <a:ext cx="914400" cy="228600"/>
          </a:xfrm>
          <a:prstGeom prst="rect">
            <a:avLst/>
          </a:prstGeom>
          <a:noFill/>
        </p:spPr>
        <p:txBody>
          <a:bodyPr wrap="square" lIns="0" tIns="0" rIns="0" bIns="0" anchor="t"/>
          <a:lstStyle/>
          <a:p>
            <a:pPr algn="r"/>
            <a:r>
              <a:rPr sz="900" b="0">
                <a:solidFill>
                  <a:srgbClr val="6E6E73"/>
                </a:solidFill>
                <a:latin typeface="Segoe UI"/>
              </a:rPr>
              <a:t>07</a:t>
            </a:r>
          </a:p>
        </p:txBody>
      </p:sp>
      <p:sp>
        <p:nvSpPr>
          <p:cNvPr id="9" name="el101"/>
          <p:cNvSpPr txBox="1"/>
          <p:nvPr/>
        </p:nvSpPr>
        <p:spPr>
          <a:xfrm>
            <a:off x="685800" y="914400"/>
            <a:ext cx="10515600" cy="548640"/>
          </a:xfrm>
          <a:prstGeom prst="rect">
            <a:avLst/>
          </a:prstGeom>
          <a:noFill/>
        </p:spPr>
        <p:txBody>
          <a:bodyPr wrap="square" lIns="0" tIns="0" rIns="0" bIns="0" anchor="t"/>
          <a:lstStyle/>
          <a:p>
            <a:pPr algn="l">
              <a:lnSpc>
                <a:spcPct val="102000"/>
              </a:lnSpc>
            </a:pPr>
            <a:r>
              <a:rPr sz="2800" b="0">
                <a:solidFill>
                  <a:srgbClr val="0A0A0A"/>
                </a:solidFill>
                <a:latin typeface="Segoe UI"/>
              </a:rPr>
              <a:t>OttO is for everyone.</a:t>
            </a:r>
          </a:p>
        </p:txBody>
      </p:sp>
      <p:sp>
        <p:nvSpPr>
          <p:cNvPr id="10" name="el102"/>
          <p:cNvSpPr/>
          <p:nvPr/>
        </p:nvSpPr>
        <p:spPr>
          <a:xfrm>
            <a:off x="685800" y="1691640"/>
            <a:ext cx="3423818" cy="4434840"/>
          </a:xfrm>
          <a:prstGeom prst="roundRect">
            <a:avLst>
              <a:gd name="adj" fmla="val 4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el103" descr="e_patient.png"/>
          <p:cNvPicPr>
            <a:picLocks noChangeAspect="1"/>
          </p:cNvPicPr>
          <p:nvPr/>
        </p:nvPicPr>
        <p:blipFill>
          <a:blip r:embed="rId4"/>
          <a:srcRect l="25049" r="6262"/>
          <a:stretch>
            <a:fillRect/>
          </a:stretch>
        </p:blipFill>
        <p:spPr>
          <a:xfrm>
            <a:off x="850392" y="1856231"/>
            <a:ext cx="3094634" cy="2514600"/>
          </a:xfrm>
          <a:prstGeom prst="roundRect">
            <a:avLst>
              <a:gd name="adj" fmla="val 3500"/>
            </a:avLst>
          </a:prstGeom>
        </p:spPr>
      </p:pic>
      <p:sp>
        <p:nvSpPr>
          <p:cNvPr id="12" name="el104"/>
          <p:cNvSpPr txBox="1"/>
          <p:nvPr/>
        </p:nvSpPr>
        <p:spPr>
          <a:xfrm>
            <a:off x="960120" y="4553712"/>
            <a:ext cx="2966618" cy="274320"/>
          </a:xfrm>
          <a:prstGeom prst="rect">
            <a:avLst/>
          </a:prstGeom>
          <a:noFill/>
        </p:spPr>
        <p:txBody>
          <a:bodyPr wrap="square" lIns="0" tIns="0" rIns="0" bIns="0" anchor="t"/>
          <a:lstStyle/>
          <a:p>
            <a:pPr algn="l"/>
            <a:r>
              <a:rPr sz="1200" b="0">
                <a:solidFill>
                  <a:srgbClr val="8E8E93"/>
                </a:solidFill>
                <a:latin typeface="Segoe UI Semibold"/>
              </a:rPr>
              <a:t>Patients</a:t>
            </a:r>
          </a:p>
        </p:txBody>
      </p:sp>
      <p:sp>
        <p:nvSpPr>
          <p:cNvPr id="13" name="el105"/>
          <p:cNvSpPr txBox="1"/>
          <p:nvPr/>
        </p:nvSpPr>
        <p:spPr>
          <a:xfrm>
            <a:off x="960120" y="4846320"/>
            <a:ext cx="2966618" cy="868680"/>
          </a:xfrm>
          <a:prstGeom prst="rect">
            <a:avLst/>
          </a:prstGeom>
          <a:noFill/>
        </p:spPr>
        <p:txBody>
          <a:bodyPr wrap="square" lIns="0" tIns="0" rIns="0" bIns="0" anchor="t"/>
          <a:lstStyle/>
          <a:p>
            <a:pPr algn="l">
              <a:lnSpc>
                <a:spcPct val="100000"/>
              </a:lnSpc>
            </a:pPr>
            <a:r>
              <a:rPr sz="2400" b="0">
                <a:solidFill>
                  <a:srgbClr val="0A0A0A"/>
                </a:solidFill>
                <a:latin typeface="Segoe UI Semibold"/>
              </a:rPr>
              <a:t>Never get lost</a:t>
            </a:r>
          </a:p>
        </p:txBody>
      </p:sp>
      <p:sp>
        <p:nvSpPr>
          <p:cNvPr id="14" name="el106"/>
          <p:cNvSpPr/>
          <p:nvPr/>
        </p:nvSpPr>
        <p:spPr>
          <a:xfrm>
            <a:off x="4383938" y="1691640"/>
            <a:ext cx="3423818" cy="4434840"/>
          </a:xfrm>
          <a:prstGeom prst="roundRect">
            <a:avLst>
              <a:gd name="adj" fmla="val 4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el107" descr="e_staff.png"/>
          <p:cNvPicPr>
            <a:picLocks noChangeAspect="1"/>
          </p:cNvPicPr>
          <p:nvPr/>
        </p:nvPicPr>
        <p:blipFill>
          <a:blip r:embed="rId5"/>
          <a:srcRect l="9393" r="21918"/>
          <a:stretch>
            <a:fillRect/>
          </a:stretch>
        </p:blipFill>
        <p:spPr>
          <a:xfrm>
            <a:off x="4548530" y="1856231"/>
            <a:ext cx="3094634" cy="2514600"/>
          </a:xfrm>
          <a:prstGeom prst="roundRect">
            <a:avLst>
              <a:gd name="adj" fmla="val 3500"/>
            </a:avLst>
          </a:prstGeom>
        </p:spPr>
      </p:pic>
      <p:sp>
        <p:nvSpPr>
          <p:cNvPr id="16" name="el108"/>
          <p:cNvSpPr txBox="1"/>
          <p:nvPr/>
        </p:nvSpPr>
        <p:spPr>
          <a:xfrm>
            <a:off x="4658258" y="4553712"/>
            <a:ext cx="2966618" cy="274320"/>
          </a:xfrm>
          <a:prstGeom prst="rect">
            <a:avLst/>
          </a:prstGeom>
          <a:noFill/>
        </p:spPr>
        <p:txBody>
          <a:bodyPr wrap="square" lIns="0" tIns="0" rIns="0" bIns="0" anchor="t"/>
          <a:lstStyle/>
          <a:p>
            <a:pPr algn="l"/>
            <a:r>
              <a:rPr sz="1200" b="0">
                <a:solidFill>
                  <a:srgbClr val="8E8E93"/>
                </a:solidFill>
                <a:latin typeface="Segoe UI Semibold"/>
              </a:rPr>
              <a:t>Nurses &amp; staff</a:t>
            </a:r>
          </a:p>
        </p:txBody>
      </p:sp>
      <p:sp>
        <p:nvSpPr>
          <p:cNvPr id="17" name="el109"/>
          <p:cNvSpPr txBox="1"/>
          <p:nvPr/>
        </p:nvSpPr>
        <p:spPr>
          <a:xfrm>
            <a:off x="4658258" y="4846320"/>
            <a:ext cx="2966618" cy="868680"/>
          </a:xfrm>
          <a:prstGeom prst="rect">
            <a:avLst/>
          </a:prstGeom>
          <a:noFill/>
        </p:spPr>
        <p:txBody>
          <a:bodyPr wrap="square" lIns="0" tIns="0" rIns="0" bIns="0" anchor="t"/>
          <a:lstStyle/>
          <a:p>
            <a:pPr algn="l">
              <a:lnSpc>
                <a:spcPct val="100000"/>
              </a:lnSpc>
            </a:pPr>
            <a:r>
              <a:rPr sz="2400" b="0">
                <a:solidFill>
                  <a:srgbClr val="0A0A0A"/>
                </a:solidFill>
                <a:latin typeface="Segoe UI Semibold"/>
              </a:rPr>
              <a:t>Time back</a:t>
            </a:r>
          </a:p>
          <a:p>
            <a:pPr algn="l">
              <a:lnSpc>
                <a:spcPct val="100000"/>
              </a:lnSpc>
            </a:pPr>
            <a:r>
              <a:rPr sz="2400" b="0">
                <a:solidFill>
                  <a:srgbClr val="0A0A0A"/>
                </a:solidFill>
                <a:latin typeface="Segoe UI Semibold"/>
              </a:rPr>
              <a:t>to care</a:t>
            </a:r>
          </a:p>
        </p:txBody>
      </p:sp>
      <p:sp>
        <p:nvSpPr>
          <p:cNvPr id="18" name="el110"/>
          <p:cNvSpPr/>
          <p:nvPr/>
        </p:nvSpPr>
        <p:spPr>
          <a:xfrm>
            <a:off x="8082076" y="1691640"/>
            <a:ext cx="3423818" cy="4434840"/>
          </a:xfrm>
          <a:prstGeom prst="roundRect">
            <a:avLst>
              <a:gd name="adj" fmla="val 4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el111" descr="e_visitor.png"/>
          <p:cNvPicPr>
            <a:picLocks noChangeAspect="1"/>
          </p:cNvPicPr>
          <p:nvPr/>
        </p:nvPicPr>
        <p:blipFill>
          <a:blip r:embed="rId6"/>
          <a:srcRect l="15656" r="15656"/>
          <a:stretch>
            <a:fillRect/>
          </a:stretch>
        </p:blipFill>
        <p:spPr>
          <a:xfrm>
            <a:off x="8246668" y="1856231"/>
            <a:ext cx="3094634" cy="2514600"/>
          </a:xfrm>
          <a:prstGeom prst="roundRect">
            <a:avLst>
              <a:gd name="adj" fmla="val 3500"/>
            </a:avLst>
          </a:prstGeom>
        </p:spPr>
      </p:pic>
      <p:sp>
        <p:nvSpPr>
          <p:cNvPr id="20" name="el112"/>
          <p:cNvSpPr txBox="1"/>
          <p:nvPr/>
        </p:nvSpPr>
        <p:spPr>
          <a:xfrm>
            <a:off x="8356396" y="4553712"/>
            <a:ext cx="2966618" cy="274320"/>
          </a:xfrm>
          <a:prstGeom prst="rect">
            <a:avLst/>
          </a:prstGeom>
          <a:noFill/>
        </p:spPr>
        <p:txBody>
          <a:bodyPr wrap="square" lIns="0" tIns="0" rIns="0" bIns="0" anchor="t"/>
          <a:lstStyle/>
          <a:p>
            <a:pPr algn="l"/>
            <a:r>
              <a:rPr sz="1200" b="0">
                <a:solidFill>
                  <a:srgbClr val="8E8E93"/>
                </a:solidFill>
                <a:latin typeface="Segoe UI Semibold"/>
              </a:rPr>
              <a:t>Visitors</a:t>
            </a:r>
          </a:p>
        </p:txBody>
      </p:sp>
      <p:sp>
        <p:nvSpPr>
          <p:cNvPr id="21" name="el113"/>
          <p:cNvSpPr txBox="1"/>
          <p:nvPr/>
        </p:nvSpPr>
        <p:spPr>
          <a:xfrm>
            <a:off x="8356396" y="4846320"/>
            <a:ext cx="2966618" cy="868680"/>
          </a:xfrm>
          <a:prstGeom prst="rect">
            <a:avLst/>
          </a:prstGeom>
          <a:noFill/>
        </p:spPr>
        <p:txBody>
          <a:bodyPr wrap="square" lIns="0" tIns="0" rIns="0" bIns="0" anchor="t"/>
          <a:lstStyle/>
          <a:p>
            <a:pPr algn="l">
              <a:lnSpc>
                <a:spcPct val="100000"/>
              </a:lnSpc>
            </a:pPr>
            <a:r>
              <a:rPr sz="2400" b="0">
                <a:solidFill>
                  <a:srgbClr val="0A0A0A"/>
                </a:solidFill>
                <a:latin typeface="Segoe UI Semibold"/>
              </a:rPr>
              <a:t>Guides your</a:t>
            </a:r>
          </a:p>
          <a:p>
            <a:pPr algn="l">
              <a:lnSpc>
                <a:spcPct val="100000"/>
              </a:lnSpc>
            </a:pPr>
            <a:r>
              <a:rPr sz="2400" b="0">
                <a:solidFill>
                  <a:srgbClr val="0A0A0A"/>
                </a:solidFill>
                <a:latin typeface="Segoe UI Semibold"/>
              </a:rPr>
              <a:t>family to you</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5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50"/>
                                        <p:tgtEl>
                                          <p:spTgt spid="12"/>
                                        </p:tgtEl>
                                      </p:cBhvr>
                                    </p:animEffect>
                                    <p:anim calcmode="lin" valueType="num">
                                      <p:cBhvr>
                                        <p:cTn id="14" dur="250" fill="hold"/>
                                        <p:tgtEl>
                                          <p:spTgt spid="12"/>
                                        </p:tgtEl>
                                        <p:attrNameLst>
                                          <p:attrName>ppt_x</p:attrName>
                                        </p:attrNameLst>
                                      </p:cBhvr>
                                      <p:tavLst>
                                        <p:tav tm="0">
                                          <p:val>
                                            <p:strVal val="#ppt_x"/>
                                          </p:val>
                                        </p:tav>
                                        <p:tav tm="100000">
                                          <p:val>
                                            <p:strVal val="#ppt_x"/>
                                          </p:val>
                                        </p:tav>
                                      </p:tavLst>
                                    </p:anim>
                                    <p:anim calcmode="lin" valueType="num">
                                      <p:cBhvr>
                                        <p:cTn id="15" dur="250" fill="hold"/>
                                        <p:tgtEl>
                                          <p:spTgt spid="12"/>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250"/>
                                        <p:tgtEl>
                                          <p:spTgt spid="13"/>
                                        </p:tgtEl>
                                      </p:cBhvr>
                                    </p:animEffect>
                                    <p:anim calcmode="lin" valueType="num">
                                      <p:cBhvr>
                                        <p:cTn id="19" dur="250" fill="hold"/>
                                        <p:tgtEl>
                                          <p:spTgt spid="13"/>
                                        </p:tgtEl>
                                        <p:attrNameLst>
                                          <p:attrName>ppt_x</p:attrName>
                                        </p:attrNameLst>
                                      </p:cBhvr>
                                      <p:tavLst>
                                        <p:tav tm="0">
                                          <p:val>
                                            <p:strVal val="#ppt_x"/>
                                          </p:val>
                                        </p:tav>
                                        <p:tav tm="100000">
                                          <p:val>
                                            <p:strVal val="#ppt_x"/>
                                          </p:val>
                                        </p:tav>
                                      </p:tavLst>
                                    </p:anim>
                                    <p:anim calcmode="lin" valueType="num">
                                      <p:cBhvr>
                                        <p:cTn id="20" dur="250" fill="hold"/>
                                        <p:tgtEl>
                                          <p:spTgt spid="13"/>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250"/>
                                        <p:tgtEl>
                                          <p:spTgt spid="10"/>
                                        </p:tgtEl>
                                      </p:cBhvr>
                                    </p:animEffect>
                                    <p:anim calcmode="lin" valueType="num">
                                      <p:cBhvr>
                                        <p:cTn id="24" dur="250" fill="hold"/>
                                        <p:tgtEl>
                                          <p:spTgt spid="10"/>
                                        </p:tgtEl>
                                        <p:attrNameLst>
                                          <p:attrName>ppt_x</p:attrName>
                                        </p:attrNameLst>
                                      </p:cBhvr>
                                      <p:tavLst>
                                        <p:tav tm="0">
                                          <p:val>
                                            <p:strVal val="#ppt_x"/>
                                          </p:val>
                                        </p:tav>
                                        <p:tav tm="100000">
                                          <p:val>
                                            <p:strVal val="#ppt_x"/>
                                          </p:val>
                                        </p:tav>
                                      </p:tavLst>
                                    </p:anim>
                                    <p:anim calcmode="lin" valueType="num">
                                      <p:cBhvr>
                                        <p:cTn id="25" dur="250" fill="hold"/>
                                        <p:tgtEl>
                                          <p:spTgt spid="10"/>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250"/>
                                        <p:tgtEl>
                                          <p:spTgt spid="11"/>
                                        </p:tgtEl>
                                      </p:cBhvr>
                                    </p:animEffect>
                                    <p:anim calcmode="lin" valueType="num">
                                      <p:cBhvr>
                                        <p:cTn id="29" dur="250" fill="hold"/>
                                        <p:tgtEl>
                                          <p:spTgt spid="11"/>
                                        </p:tgtEl>
                                        <p:attrNameLst>
                                          <p:attrName>ppt_x</p:attrName>
                                        </p:attrNameLst>
                                      </p:cBhvr>
                                      <p:tavLst>
                                        <p:tav tm="0">
                                          <p:val>
                                            <p:strVal val="#ppt_x"/>
                                          </p:val>
                                        </p:tav>
                                        <p:tav tm="100000">
                                          <p:val>
                                            <p:strVal val="#ppt_x"/>
                                          </p:val>
                                        </p:tav>
                                      </p:tavLst>
                                    </p:anim>
                                    <p:anim calcmode="lin" valueType="num">
                                      <p:cBhvr>
                                        <p:cTn id="30" dur="250" fill="hold"/>
                                        <p:tgtEl>
                                          <p:spTgt spid="11"/>
                                        </p:tgtEl>
                                        <p:attrNameLst>
                                          <p:attrName>ppt_y</p:attrName>
                                        </p:attrNameLst>
                                      </p:cBhvr>
                                      <p:tavLst>
                                        <p:tav tm="0">
                                          <p:val>
                                            <p:strVal val="#ppt_y+.1"/>
                                          </p:val>
                                        </p:tav>
                                        <p:tav tm="100000">
                                          <p:val>
                                            <p:strVal val="#ppt_y"/>
                                          </p:val>
                                        </p:tav>
                                      </p:tavLst>
                                    </p:anim>
                                  </p:childTnLst>
                                </p:cTn>
                              </p:par>
                            </p:childTnLst>
                          </p:cTn>
                        </p:par>
                        <p:par>
                          <p:cTn id="31" fill="hold">
                            <p:stCondLst>
                              <p:cond delay="800"/>
                            </p:stCondLst>
                            <p:childTnLst>
                              <p:par>
                                <p:cTn id="32" presetID="42" presetClass="entr" presetSubtype="0" fill="hold" grpId="0" nodeType="afterEffect">
                                  <p:stCondLst>
                                    <p:cond delay="5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250"/>
                                        <p:tgtEl>
                                          <p:spTgt spid="16"/>
                                        </p:tgtEl>
                                      </p:cBhvr>
                                    </p:animEffect>
                                    <p:anim calcmode="lin" valueType="num">
                                      <p:cBhvr>
                                        <p:cTn id="35" dur="250" fill="hold"/>
                                        <p:tgtEl>
                                          <p:spTgt spid="16"/>
                                        </p:tgtEl>
                                        <p:attrNameLst>
                                          <p:attrName>ppt_x</p:attrName>
                                        </p:attrNameLst>
                                      </p:cBhvr>
                                      <p:tavLst>
                                        <p:tav tm="0">
                                          <p:val>
                                            <p:strVal val="#ppt_x"/>
                                          </p:val>
                                        </p:tav>
                                        <p:tav tm="100000">
                                          <p:val>
                                            <p:strVal val="#ppt_x"/>
                                          </p:val>
                                        </p:tav>
                                      </p:tavLst>
                                    </p:anim>
                                    <p:anim calcmode="lin" valueType="num">
                                      <p:cBhvr>
                                        <p:cTn id="36" dur="250" fill="hold"/>
                                        <p:tgtEl>
                                          <p:spTgt spid="1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50"/>
                                        <p:tgtEl>
                                          <p:spTgt spid="17"/>
                                        </p:tgtEl>
                                      </p:cBhvr>
                                    </p:animEffect>
                                    <p:anim calcmode="lin" valueType="num">
                                      <p:cBhvr>
                                        <p:cTn id="40" dur="250" fill="hold"/>
                                        <p:tgtEl>
                                          <p:spTgt spid="17"/>
                                        </p:tgtEl>
                                        <p:attrNameLst>
                                          <p:attrName>ppt_x</p:attrName>
                                        </p:attrNameLst>
                                      </p:cBhvr>
                                      <p:tavLst>
                                        <p:tav tm="0">
                                          <p:val>
                                            <p:strVal val="#ppt_x"/>
                                          </p:val>
                                        </p:tav>
                                        <p:tav tm="100000">
                                          <p:val>
                                            <p:strVal val="#ppt_x"/>
                                          </p:val>
                                        </p:tav>
                                      </p:tavLst>
                                    </p:anim>
                                    <p:anim calcmode="lin" valueType="num">
                                      <p:cBhvr>
                                        <p:cTn id="41" dur="250" fill="hold"/>
                                        <p:tgtEl>
                                          <p:spTgt spid="1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250"/>
                                        <p:tgtEl>
                                          <p:spTgt spid="14"/>
                                        </p:tgtEl>
                                      </p:cBhvr>
                                    </p:animEffect>
                                    <p:anim calcmode="lin" valueType="num">
                                      <p:cBhvr>
                                        <p:cTn id="45" dur="250" fill="hold"/>
                                        <p:tgtEl>
                                          <p:spTgt spid="14"/>
                                        </p:tgtEl>
                                        <p:attrNameLst>
                                          <p:attrName>ppt_x</p:attrName>
                                        </p:attrNameLst>
                                      </p:cBhvr>
                                      <p:tavLst>
                                        <p:tav tm="0">
                                          <p:val>
                                            <p:strVal val="#ppt_x"/>
                                          </p:val>
                                        </p:tav>
                                        <p:tav tm="100000">
                                          <p:val>
                                            <p:strVal val="#ppt_x"/>
                                          </p:val>
                                        </p:tav>
                                      </p:tavLst>
                                    </p:anim>
                                    <p:anim calcmode="lin" valueType="num">
                                      <p:cBhvr>
                                        <p:cTn id="46" dur="250" fill="hold"/>
                                        <p:tgtEl>
                                          <p:spTgt spid="14"/>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250"/>
                                        <p:tgtEl>
                                          <p:spTgt spid="15"/>
                                        </p:tgtEl>
                                      </p:cBhvr>
                                    </p:animEffect>
                                    <p:anim calcmode="lin" valueType="num">
                                      <p:cBhvr>
                                        <p:cTn id="50" dur="250" fill="hold"/>
                                        <p:tgtEl>
                                          <p:spTgt spid="15"/>
                                        </p:tgtEl>
                                        <p:attrNameLst>
                                          <p:attrName>ppt_x</p:attrName>
                                        </p:attrNameLst>
                                      </p:cBhvr>
                                      <p:tavLst>
                                        <p:tav tm="0">
                                          <p:val>
                                            <p:strVal val="#ppt_x"/>
                                          </p:val>
                                        </p:tav>
                                        <p:tav tm="100000">
                                          <p:val>
                                            <p:strVal val="#ppt_x"/>
                                          </p:val>
                                        </p:tav>
                                      </p:tavLst>
                                    </p:anim>
                                    <p:anim calcmode="lin" valueType="num">
                                      <p:cBhvr>
                                        <p:cTn id="51" dur="250" fill="hold"/>
                                        <p:tgtEl>
                                          <p:spTgt spid="15"/>
                                        </p:tgtEl>
                                        <p:attrNameLst>
                                          <p:attrName>ppt_y</p:attrName>
                                        </p:attrNameLst>
                                      </p:cBhvr>
                                      <p:tavLst>
                                        <p:tav tm="0">
                                          <p:val>
                                            <p:strVal val="#ppt_y+.1"/>
                                          </p:val>
                                        </p:tav>
                                        <p:tav tm="100000">
                                          <p:val>
                                            <p:strVal val="#ppt_y"/>
                                          </p:val>
                                        </p:tav>
                                      </p:tavLst>
                                    </p:anim>
                                  </p:childTnLst>
                                </p:cTn>
                              </p:par>
                            </p:childTnLst>
                          </p:cTn>
                        </p:par>
                        <p:par>
                          <p:cTn id="52" fill="hold">
                            <p:stCondLst>
                              <p:cond delay="1100"/>
                            </p:stCondLst>
                            <p:childTnLst>
                              <p:par>
                                <p:cTn id="53" presetID="42" presetClass="entr" presetSubtype="0" fill="hold" grpId="0" nodeType="afterEffect">
                                  <p:stCondLst>
                                    <p:cond delay="5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50"/>
                                        <p:tgtEl>
                                          <p:spTgt spid="20"/>
                                        </p:tgtEl>
                                      </p:cBhvr>
                                    </p:animEffect>
                                    <p:anim calcmode="lin" valueType="num">
                                      <p:cBhvr>
                                        <p:cTn id="56" dur="250" fill="hold"/>
                                        <p:tgtEl>
                                          <p:spTgt spid="20"/>
                                        </p:tgtEl>
                                        <p:attrNameLst>
                                          <p:attrName>ppt_x</p:attrName>
                                        </p:attrNameLst>
                                      </p:cBhvr>
                                      <p:tavLst>
                                        <p:tav tm="0">
                                          <p:val>
                                            <p:strVal val="#ppt_x"/>
                                          </p:val>
                                        </p:tav>
                                        <p:tav tm="100000">
                                          <p:val>
                                            <p:strVal val="#ppt_x"/>
                                          </p:val>
                                        </p:tav>
                                      </p:tavLst>
                                    </p:anim>
                                    <p:anim calcmode="lin" valueType="num">
                                      <p:cBhvr>
                                        <p:cTn id="57" dur="250" fill="hold"/>
                                        <p:tgtEl>
                                          <p:spTgt spid="2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250"/>
                                        <p:tgtEl>
                                          <p:spTgt spid="21"/>
                                        </p:tgtEl>
                                      </p:cBhvr>
                                    </p:animEffect>
                                    <p:anim calcmode="lin" valueType="num">
                                      <p:cBhvr>
                                        <p:cTn id="61" dur="250" fill="hold"/>
                                        <p:tgtEl>
                                          <p:spTgt spid="21"/>
                                        </p:tgtEl>
                                        <p:attrNameLst>
                                          <p:attrName>ppt_x</p:attrName>
                                        </p:attrNameLst>
                                      </p:cBhvr>
                                      <p:tavLst>
                                        <p:tav tm="0">
                                          <p:val>
                                            <p:strVal val="#ppt_x"/>
                                          </p:val>
                                        </p:tav>
                                        <p:tav tm="100000">
                                          <p:val>
                                            <p:strVal val="#ppt_x"/>
                                          </p:val>
                                        </p:tav>
                                      </p:tavLst>
                                    </p:anim>
                                    <p:anim calcmode="lin" valueType="num">
                                      <p:cBhvr>
                                        <p:cTn id="62" dur="250" fill="hold"/>
                                        <p:tgtEl>
                                          <p:spTgt spid="21"/>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250"/>
                                        <p:tgtEl>
                                          <p:spTgt spid="18"/>
                                        </p:tgtEl>
                                      </p:cBhvr>
                                    </p:animEffect>
                                    <p:anim calcmode="lin" valueType="num">
                                      <p:cBhvr>
                                        <p:cTn id="66" dur="250" fill="hold"/>
                                        <p:tgtEl>
                                          <p:spTgt spid="18"/>
                                        </p:tgtEl>
                                        <p:attrNameLst>
                                          <p:attrName>ppt_x</p:attrName>
                                        </p:attrNameLst>
                                      </p:cBhvr>
                                      <p:tavLst>
                                        <p:tav tm="0">
                                          <p:val>
                                            <p:strVal val="#ppt_x"/>
                                          </p:val>
                                        </p:tav>
                                        <p:tav tm="100000">
                                          <p:val>
                                            <p:strVal val="#ppt_x"/>
                                          </p:val>
                                        </p:tav>
                                      </p:tavLst>
                                    </p:anim>
                                    <p:anim calcmode="lin" valueType="num">
                                      <p:cBhvr>
                                        <p:cTn id="67" dur="250" fill="hold"/>
                                        <p:tgtEl>
                                          <p:spTgt spid="18"/>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250"/>
                                        <p:tgtEl>
                                          <p:spTgt spid="19"/>
                                        </p:tgtEl>
                                      </p:cBhvr>
                                    </p:animEffect>
                                    <p:anim calcmode="lin" valueType="num">
                                      <p:cBhvr>
                                        <p:cTn id="71" dur="250" fill="hold"/>
                                        <p:tgtEl>
                                          <p:spTgt spid="19"/>
                                        </p:tgtEl>
                                        <p:attrNameLst>
                                          <p:attrName>ppt_x</p:attrName>
                                        </p:attrNameLst>
                                      </p:cBhvr>
                                      <p:tavLst>
                                        <p:tav tm="0">
                                          <p:val>
                                            <p:strVal val="#ppt_x"/>
                                          </p:val>
                                        </p:tav>
                                        <p:tav tm="100000">
                                          <p:val>
                                            <p:strVal val="#ppt_x"/>
                                          </p:val>
                                        </p:tav>
                                      </p:tavLst>
                                    </p:anim>
                                    <p:anim calcmode="lin" valueType="num">
                                      <p:cBhvr>
                                        <p:cTn id="72" dur="25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2" grpId="0"/>
      <p:bldP spid="13" grpId="0"/>
      <p:bldP spid="14" grpId="0" animBg="1"/>
      <p:bldP spid="16" grpId="0"/>
      <p:bldP spid="17" grpId="0"/>
      <p:bldP spid="18" grpId="0" animBg="1"/>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o_atrium.png"/>
          <p:cNvPicPr>
            <a:picLocks noChangeAspect="1"/>
          </p:cNvPicPr>
          <p:nvPr/>
        </p:nvPicPr>
        <p:blipFill>
          <a:blip r:embed="rId3"/>
          <a:srcRect l="389" r="389"/>
          <a:stretch>
            <a:fillRect/>
          </a:stretch>
        </p:blipFill>
        <p:spPr>
          <a:xfrm>
            <a:off x="0" y="0"/>
            <a:ext cx="12191695" cy="6858000"/>
          </a:xfrm>
          <a:prstGeom prst="rect">
            <a:avLst/>
          </a:prstGeom>
        </p:spPr>
      </p:pic>
      <p:pic>
        <p:nvPicPr>
          <p:cNvPr id="3" name="Picture 2" descr="scrim_white_left.png"/>
          <p:cNvPicPr>
            <a:picLocks noChangeAspect="1"/>
          </p:cNvPicPr>
          <p:nvPr/>
        </p:nvPicPr>
        <p:blipFill>
          <a:blip r:embed="rId4"/>
          <a:stretch>
            <a:fillRect/>
          </a:stretch>
        </p:blipFill>
        <p:spPr>
          <a:xfrm>
            <a:off x="0" y="0"/>
            <a:ext cx="12191695" cy="6858000"/>
          </a:xfrm>
          <a:prstGeom prst="rect">
            <a:avLst/>
          </a:prstGeom>
        </p:spPr>
      </p:pic>
      <p:sp>
        <p:nvSpPr>
          <p:cNvPr id="4" name="Rectangle 3"/>
          <p:cNvSpPr/>
          <p:nvPr/>
        </p:nvSpPr>
        <p:spPr>
          <a:xfrm>
            <a:off x="0" y="0"/>
            <a:ext cx="12191695"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navlogo" descr="aura_mark_ink.png"/>
          <p:cNvPicPr>
            <a:picLocks noChangeAspect="1"/>
          </p:cNvPicPr>
          <p:nvPr/>
        </p:nvPicPr>
        <p:blipFill>
          <a:blip r:embed="rId5"/>
          <a:stretch>
            <a:fillRect/>
          </a:stretch>
        </p:blipFill>
        <p:spPr>
          <a:xfrm>
            <a:off x="685800" y="384048"/>
            <a:ext cx="1254874" cy="182880"/>
          </a:xfrm>
          <a:prstGeom prst="rect">
            <a:avLst/>
          </a:prstGeom>
        </p:spPr>
      </p:pic>
      <p:sp>
        <p:nvSpPr>
          <p:cNvPr id="6"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7"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0A0A0A"/>
                </a:solidFill>
                <a:latin typeface="Segoe UI Semibold"/>
              </a:rPr>
              <a:t>Demo</a:t>
            </a:r>
          </a:p>
        </p:txBody>
      </p:sp>
      <p:sp>
        <p:nvSpPr>
          <p:cNvPr id="8" name="!!navline"/>
          <p:cNvSpPr/>
          <p:nvPr/>
        </p:nvSpPr>
        <p:spPr>
          <a:xfrm>
            <a:off x="10042855" y="621792"/>
            <a:ext cx="384048" cy="2286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10"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11" name="!!page"/>
          <p:cNvSpPr txBox="1"/>
          <p:nvPr/>
        </p:nvSpPr>
        <p:spPr>
          <a:xfrm>
            <a:off x="10591495" y="6355080"/>
            <a:ext cx="914400" cy="228600"/>
          </a:xfrm>
          <a:prstGeom prst="rect">
            <a:avLst/>
          </a:prstGeom>
          <a:noFill/>
        </p:spPr>
        <p:txBody>
          <a:bodyPr wrap="square" lIns="0" tIns="0" rIns="0" bIns="0" anchor="t"/>
          <a:lstStyle/>
          <a:p>
            <a:pPr algn="r"/>
            <a:r>
              <a:rPr sz="900" b="0">
                <a:solidFill>
                  <a:srgbClr val="6E6E73"/>
                </a:solidFill>
                <a:latin typeface="Segoe UI"/>
              </a:rPr>
              <a:t>08</a:t>
            </a:r>
          </a:p>
        </p:txBody>
      </p:sp>
      <p:sp>
        <p:nvSpPr>
          <p:cNvPr id="12" name="el114"/>
          <p:cNvSpPr txBox="1"/>
          <p:nvPr/>
        </p:nvSpPr>
        <p:spPr>
          <a:xfrm>
            <a:off x="685800" y="2377440"/>
            <a:ext cx="5486400" cy="274320"/>
          </a:xfrm>
          <a:prstGeom prst="rect">
            <a:avLst/>
          </a:prstGeom>
          <a:noFill/>
        </p:spPr>
        <p:txBody>
          <a:bodyPr wrap="square" lIns="0" tIns="0" rIns="0" bIns="0" anchor="t"/>
          <a:lstStyle/>
          <a:p>
            <a:pPr algn="l"/>
            <a:r>
              <a:rPr sz="1200" b="0">
                <a:solidFill>
                  <a:srgbClr val="6E6E73"/>
                </a:solidFill>
                <a:latin typeface="Segoe UI"/>
              </a:rPr>
              <a:t>Running live on our robot today</a:t>
            </a:r>
          </a:p>
        </p:txBody>
      </p:sp>
      <p:sp>
        <p:nvSpPr>
          <p:cNvPr id="13" name="el115"/>
          <p:cNvSpPr txBox="1"/>
          <p:nvPr/>
        </p:nvSpPr>
        <p:spPr>
          <a:xfrm>
            <a:off x="640080" y="2697480"/>
            <a:ext cx="6400800" cy="1188720"/>
          </a:xfrm>
          <a:prstGeom prst="rect">
            <a:avLst/>
          </a:prstGeom>
          <a:noFill/>
        </p:spPr>
        <p:txBody>
          <a:bodyPr wrap="square" lIns="0" tIns="0" rIns="0" bIns="0" anchor="t"/>
          <a:lstStyle/>
          <a:p>
            <a:pPr algn="l">
              <a:lnSpc>
                <a:spcPct val="95000"/>
              </a:lnSpc>
            </a:pPr>
            <a:r>
              <a:rPr sz="7200" b="0">
                <a:solidFill>
                  <a:srgbClr val="0A0A0A"/>
                </a:solidFill>
                <a:latin typeface="Segoe UI"/>
              </a:rPr>
              <a:t>Live </a:t>
            </a:r>
            <a:r>
              <a:rPr sz="7200" b="0">
                <a:solidFill>
                  <a:srgbClr val="8E8E93"/>
                </a:solidFill>
                <a:latin typeface="Segoe UI"/>
              </a:rPr>
              <a:t>demo</a:t>
            </a:r>
          </a:p>
        </p:txBody>
      </p:sp>
      <p:sp>
        <p:nvSpPr>
          <p:cNvPr id="14" name="el116"/>
          <p:cNvSpPr txBox="1"/>
          <p:nvPr/>
        </p:nvSpPr>
        <p:spPr>
          <a:xfrm>
            <a:off x="685800" y="3977639"/>
            <a:ext cx="5486400" cy="457200"/>
          </a:xfrm>
          <a:prstGeom prst="rect">
            <a:avLst/>
          </a:prstGeom>
          <a:noFill/>
        </p:spPr>
        <p:txBody>
          <a:bodyPr wrap="square" lIns="0" tIns="0" rIns="0" bIns="0" anchor="t"/>
          <a:lstStyle/>
          <a:p>
            <a:pPr algn="l"/>
            <a:r>
              <a:rPr sz="1800" b="0">
                <a:solidFill>
                  <a:srgbClr val="0A0A0A"/>
                </a:solidFill>
                <a:latin typeface="Segoe UI Semilight"/>
              </a:rPr>
              <a:t>From reception to the room, and back.</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childTnLst>
                          </p:cTn>
                        </p:par>
                        <p:par>
                          <p:cTn id="8" fill="hold">
                            <p:stCondLst>
                              <p:cond delay="500"/>
                            </p:stCondLst>
                            <p:childTnLst>
                              <p:par>
                                <p:cTn id="9" presetID="53" presetClass="entr" presetSubtype="16" fill="hold" grpId="0" nodeType="afterEffect">
                                  <p:stCondLst>
                                    <p:cond delay="50"/>
                                  </p:stCondLst>
                                  <p:childTnLst>
                                    <p:set>
                                      <p:cBhvr>
                                        <p:cTn id="10" dur="1" fill="hold">
                                          <p:stCondLst>
                                            <p:cond delay="0"/>
                                          </p:stCondLst>
                                        </p:cTn>
                                        <p:tgtEl>
                                          <p:spTgt spid="13"/>
                                        </p:tgtEl>
                                        <p:attrNameLst>
                                          <p:attrName>style.visibility</p:attrName>
                                        </p:attrNameLst>
                                      </p:cBhvr>
                                      <p:to>
                                        <p:strVal val="visible"/>
                                      </p:to>
                                    </p:set>
                                    <p:anim calcmode="lin" valueType="num">
                                      <p:cBhvr>
                                        <p:cTn id="11" dur="250" fill="hold"/>
                                        <p:tgtEl>
                                          <p:spTgt spid="13"/>
                                        </p:tgtEl>
                                        <p:attrNameLst>
                                          <p:attrName>ppt_w</p:attrName>
                                        </p:attrNameLst>
                                      </p:cBhvr>
                                      <p:tavLst>
                                        <p:tav tm="0">
                                          <p:val>
                                            <p:fltVal val="0"/>
                                          </p:val>
                                        </p:tav>
                                        <p:tav tm="100000">
                                          <p:val>
                                            <p:strVal val="#ppt_w"/>
                                          </p:val>
                                        </p:tav>
                                      </p:tavLst>
                                    </p:anim>
                                    <p:anim calcmode="lin" valueType="num">
                                      <p:cBhvr>
                                        <p:cTn id="12" dur="250" fill="hold"/>
                                        <p:tgtEl>
                                          <p:spTgt spid="13"/>
                                        </p:tgtEl>
                                        <p:attrNameLst>
                                          <p:attrName>ppt_h</p:attrName>
                                        </p:attrNameLst>
                                      </p:cBhvr>
                                      <p:tavLst>
                                        <p:tav tm="0">
                                          <p:val>
                                            <p:fltVal val="0"/>
                                          </p:val>
                                        </p:tav>
                                        <p:tav tm="100000">
                                          <p:val>
                                            <p:strVal val="#ppt_h"/>
                                          </p:val>
                                        </p:tav>
                                      </p:tavLst>
                                    </p:anim>
                                    <p:animEffect transition="in" filter="fade">
                                      <p:cBhvr>
                                        <p:cTn id="13" dur="250"/>
                                        <p:tgtEl>
                                          <p:spTgt spid="13"/>
                                        </p:tgtEl>
                                      </p:cBhvr>
                                    </p:animEffect>
                                  </p:childTnLst>
                                </p:cTn>
                              </p:par>
                            </p:childTnLst>
                          </p:cTn>
                        </p:par>
                        <p:par>
                          <p:cTn id="14" fill="hold">
                            <p:stCondLst>
                              <p:cond delay="800"/>
                            </p:stCondLst>
                            <p:childTnLst>
                              <p:par>
                                <p:cTn id="15" presetID="42" presetClass="entr" presetSubtype="0" fill="hold" grpId="0" nodeType="afterEffect">
                                  <p:stCondLst>
                                    <p:cond delay="5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250"/>
                                        <p:tgtEl>
                                          <p:spTgt spid="14"/>
                                        </p:tgtEl>
                                      </p:cBhvr>
                                    </p:animEffect>
                                    <p:anim calcmode="lin" valueType="num">
                                      <p:cBhvr>
                                        <p:cTn id="18" dur="250" fill="hold"/>
                                        <p:tgtEl>
                                          <p:spTgt spid="14"/>
                                        </p:tgtEl>
                                        <p:attrNameLst>
                                          <p:attrName>ppt_x</p:attrName>
                                        </p:attrNameLst>
                                      </p:cBhvr>
                                      <p:tavLst>
                                        <p:tav tm="0">
                                          <p:val>
                                            <p:strVal val="#ppt_x"/>
                                          </p:val>
                                        </p:tav>
                                        <p:tav tm="100000">
                                          <p:val>
                                            <p:strVal val="#ppt_x"/>
                                          </p:val>
                                        </p:tav>
                                      </p:tavLst>
                                    </p:anim>
                                    <p:anim calcmode="lin" valueType="num">
                                      <p:cBhvr>
                                        <p:cTn id="19" dur="2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7"/>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0A0A0A"/>
                </a:solidFill>
                <a:latin typeface="Segoe UI Semibold"/>
              </a:rPr>
              <a:t>Demo</a:t>
            </a:r>
          </a:p>
        </p:txBody>
      </p:sp>
      <p:sp>
        <p:nvSpPr>
          <p:cNvPr id="5" name="!!navline"/>
          <p:cNvSpPr/>
          <p:nvPr/>
        </p:nvSpPr>
        <p:spPr>
          <a:xfrm>
            <a:off x="10042855" y="621792"/>
            <a:ext cx="384048" cy="2286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7"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8" name="!!page"/>
          <p:cNvSpPr txBox="1"/>
          <p:nvPr/>
        </p:nvSpPr>
        <p:spPr>
          <a:xfrm>
            <a:off x="10591495" y="6355080"/>
            <a:ext cx="914400" cy="228600"/>
          </a:xfrm>
          <a:prstGeom prst="rect">
            <a:avLst/>
          </a:prstGeom>
          <a:noFill/>
        </p:spPr>
        <p:txBody>
          <a:bodyPr wrap="square" lIns="0" tIns="0" rIns="0" bIns="0" anchor="t"/>
          <a:lstStyle/>
          <a:p>
            <a:pPr algn="r"/>
            <a:r>
              <a:rPr sz="900" b="0">
                <a:solidFill>
                  <a:srgbClr val="6E6E73"/>
                </a:solidFill>
                <a:latin typeface="Segoe UI"/>
              </a:rPr>
              <a:t>09</a:t>
            </a:r>
          </a:p>
        </p:txBody>
      </p:sp>
      <p:sp>
        <p:nvSpPr>
          <p:cNvPr id="9" name="TextBox 8"/>
          <p:cNvSpPr txBox="1"/>
          <p:nvPr/>
        </p:nvSpPr>
        <p:spPr>
          <a:xfrm>
            <a:off x="685800" y="914400"/>
            <a:ext cx="10515600" cy="548640"/>
          </a:xfrm>
          <a:prstGeom prst="rect">
            <a:avLst/>
          </a:prstGeom>
          <a:noFill/>
        </p:spPr>
        <p:txBody>
          <a:bodyPr wrap="square" lIns="0" tIns="0" rIns="0" bIns="0" anchor="t"/>
          <a:lstStyle/>
          <a:p>
            <a:pPr algn="l">
              <a:lnSpc>
                <a:spcPct val="102000"/>
              </a:lnSpc>
            </a:pPr>
            <a:r>
              <a:rPr sz="2800" b="0">
                <a:solidFill>
                  <a:srgbClr val="0A0A0A"/>
                </a:solidFill>
                <a:latin typeface="Segoe UI"/>
              </a:rPr>
              <a:t>This is how it looks </a:t>
            </a:r>
            <a:r>
              <a:rPr sz="2800" b="0">
                <a:solidFill>
                  <a:srgbClr val="8E8E93"/>
                </a:solidFill>
                <a:latin typeface="Segoe UI"/>
              </a:rPr>
              <a:t>in the hospital.</a:t>
            </a:r>
          </a:p>
        </p:txBody>
      </p:sp>
      <p:pic>
        <p:nvPicPr>
          <p:cNvPr id="10" name="VIDEO_ONCE_workflow_film_silent">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685800" y="2240280"/>
            <a:ext cx="5227167" cy="2940281"/>
          </a:xfrm>
          <a:prstGeom prst="roundRect">
            <a:avLst>
              <a:gd name="adj" fmla="val 3500"/>
            </a:avLst>
          </a:prstGeom>
        </p:spPr>
      </p:pic>
      <p:pic>
        <p:nvPicPr>
          <p:cNvPr id="11" name="VIDEO_ONCE_dash_walk_sync">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9"/>
          <a:stretch>
            <a:fillRect/>
          </a:stretch>
        </p:blipFill>
        <p:spPr>
          <a:xfrm>
            <a:off x="6278727" y="2240280"/>
            <a:ext cx="5227167" cy="2940281"/>
          </a:xfrm>
          <a:prstGeom prst="roundRect">
            <a:avLst>
              <a:gd name="adj" fmla="val 3500"/>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par>
                                <p:cTn id="7" presetID="1" presetClass="mediacall" presetSubtype="0" fill="hold" nodeType="withEffect">
                                  <p:stCondLst>
                                    <p:cond delay="0"/>
                                  </p:stCondLst>
                                  <p:childTnLst>
                                    <p:cmd type="call" cmd="playFrom(0.0)">
                                      <p:cBhvr>
                                        <p:cTn id="8"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9" fill="hold" display="0">
                  <p:stCondLst>
                    <p:cond delay="indefinite"/>
                  </p:stCondLst>
                </p:cTn>
                <p:tgtEl>
                  <p:spTgt spid="10"/>
                </p:tgtEl>
              </p:cMediaNode>
            </p:video>
            <p:seq concurrent="1" nextAc="seek">
              <p:cTn id="10" restart="whenNotActive" fill="hold" evtFilter="cancelBubble" nodeType="interactiveSeq">
                <p:stCondLst>
                  <p:cond evt="onClick" delay="0">
                    <p:tgtEl>
                      <p:spTgt spid="10"/>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10"/>
                                        </p:tgtEl>
                                      </p:cBhvr>
                                    </p:cmd>
                                  </p:childTnLst>
                                </p:cTn>
                              </p:par>
                            </p:childTnLst>
                          </p:cTn>
                        </p:par>
                      </p:childTnLst>
                    </p:cTn>
                  </p:par>
                </p:childTnLst>
              </p:cTn>
              <p:nextCondLst>
                <p:cond evt="onClick" delay="0">
                  <p:tgtEl>
                    <p:spTgt spid="10"/>
                  </p:tgtEl>
                </p:cond>
              </p:nextCondLst>
            </p:seq>
            <p:video>
              <p:cMediaNode vol="80000" mute="1">
                <p:cTn id="15" fill="hold" display="0">
                  <p:stCondLst>
                    <p:cond delay="indefinite"/>
                  </p:stCondLst>
                </p:cTn>
                <p:tgtEl>
                  <p:spTgt spid="11"/>
                </p:tgtEl>
              </p:cMediaNode>
            </p:video>
            <p:seq concurrent="1" nextAc="seek">
              <p:cTn id="16" restart="whenNotActive" fill="hold" evtFilter="cancelBubble" nodeType="interactiveSeq">
                <p:stCondLst>
                  <p:cond evt="onClick" delay="0">
                    <p:tgtEl>
                      <p:spTgt spid="11"/>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0A0A0A"/>
                </a:solidFill>
                <a:latin typeface="Segoe UI Semibold"/>
              </a:rPr>
              <a:t>Roadmap</a:t>
            </a:r>
          </a:p>
        </p:txBody>
      </p:sp>
      <p:sp>
        <p:nvSpPr>
          <p:cNvPr id="4" name="!!navline"/>
          <p:cNvSpPr/>
          <p:nvPr/>
        </p:nvSpPr>
        <p:spPr>
          <a:xfrm>
            <a:off x="10792663" y="621792"/>
            <a:ext cx="621792" cy="2286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6"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7"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8" name="!!page"/>
          <p:cNvSpPr txBox="1"/>
          <p:nvPr/>
        </p:nvSpPr>
        <p:spPr>
          <a:xfrm>
            <a:off x="10591495" y="6355080"/>
            <a:ext cx="914400" cy="228600"/>
          </a:xfrm>
          <a:prstGeom prst="rect">
            <a:avLst/>
          </a:prstGeom>
          <a:noFill/>
        </p:spPr>
        <p:txBody>
          <a:bodyPr wrap="square" lIns="0" tIns="0" rIns="0" bIns="0" anchor="t"/>
          <a:lstStyle/>
          <a:p>
            <a:pPr algn="r"/>
            <a:r>
              <a:rPr sz="900" b="0">
                <a:solidFill>
                  <a:srgbClr val="6E6E73"/>
                </a:solidFill>
                <a:latin typeface="Segoe UI"/>
              </a:rPr>
              <a:t>10</a:t>
            </a:r>
          </a:p>
        </p:txBody>
      </p:sp>
      <p:sp>
        <p:nvSpPr>
          <p:cNvPr id="9" name="el117"/>
          <p:cNvSpPr txBox="1"/>
          <p:nvPr/>
        </p:nvSpPr>
        <p:spPr>
          <a:xfrm>
            <a:off x="685800" y="914400"/>
            <a:ext cx="10515600" cy="548640"/>
          </a:xfrm>
          <a:prstGeom prst="rect">
            <a:avLst/>
          </a:prstGeom>
          <a:noFill/>
        </p:spPr>
        <p:txBody>
          <a:bodyPr wrap="square" lIns="0" tIns="0" rIns="0" bIns="0" anchor="t"/>
          <a:lstStyle/>
          <a:p>
            <a:pPr algn="l">
              <a:lnSpc>
                <a:spcPct val="102000"/>
              </a:lnSpc>
            </a:pPr>
            <a:r>
              <a:rPr sz="2800" b="0">
                <a:solidFill>
                  <a:srgbClr val="0A0A0A"/>
                </a:solidFill>
                <a:latin typeface="Segoe UI"/>
              </a:rPr>
              <a:t>From hackathon to hospital. </a:t>
            </a:r>
            <a:r>
              <a:rPr sz="2800" b="0">
                <a:solidFill>
                  <a:srgbClr val="8E8E93"/>
                </a:solidFill>
                <a:latin typeface="Segoe UI"/>
              </a:rPr>
              <a:t>3, 6 and 12 months.</a:t>
            </a:r>
          </a:p>
        </p:txBody>
      </p:sp>
      <p:cxnSp>
        <p:nvCxnSpPr>
          <p:cNvPr id="10" name="el118"/>
          <p:cNvCxnSpPr/>
          <p:nvPr/>
        </p:nvCxnSpPr>
        <p:spPr>
          <a:xfrm>
            <a:off x="685800" y="3657600"/>
            <a:ext cx="10820095" cy="0"/>
          </a:xfrm>
          <a:prstGeom prst="line">
            <a:avLst/>
          </a:prstGeom>
          <a:ln w="15875">
            <a:solidFill>
              <a:srgbClr val="0A0A0A"/>
            </a:solidFill>
          </a:ln>
        </p:spPr>
      </p:cxnSp>
      <p:pic>
        <p:nvPicPr>
          <p:cNvPr id="11" name="el119" descr="o_studio.png"/>
          <p:cNvPicPr>
            <a:picLocks noChangeAspect="1"/>
          </p:cNvPicPr>
          <p:nvPr/>
        </p:nvPicPr>
        <p:blipFill>
          <a:blip r:embed="rId4"/>
          <a:srcRect t="4134" b="4134"/>
          <a:stretch>
            <a:fillRect/>
          </a:stretch>
        </p:blipFill>
        <p:spPr>
          <a:xfrm>
            <a:off x="685800" y="1645920"/>
            <a:ext cx="3393338" cy="1737360"/>
          </a:xfrm>
          <a:prstGeom prst="roundRect">
            <a:avLst>
              <a:gd name="adj" fmla="val 3500"/>
            </a:avLst>
          </a:prstGeom>
        </p:spPr>
      </p:pic>
      <p:sp>
        <p:nvSpPr>
          <p:cNvPr id="12" name="el120"/>
          <p:cNvSpPr/>
          <p:nvPr/>
        </p:nvSpPr>
        <p:spPr>
          <a:xfrm>
            <a:off x="685800" y="3584448"/>
            <a:ext cx="146304" cy="146304"/>
          </a:xfrm>
          <a:prstGeom prst="ellipse">
            <a:avLst/>
          </a:prstGeom>
          <a:solidFill>
            <a:srgbClr val="FFFFFF"/>
          </a:solidFill>
          <a:ln w="15875">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el121"/>
          <p:cNvSpPr txBox="1"/>
          <p:nvPr/>
        </p:nvSpPr>
        <p:spPr>
          <a:xfrm>
            <a:off x="685800" y="3840480"/>
            <a:ext cx="3393338" cy="274320"/>
          </a:xfrm>
          <a:prstGeom prst="rect">
            <a:avLst/>
          </a:prstGeom>
          <a:noFill/>
        </p:spPr>
        <p:txBody>
          <a:bodyPr wrap="square" lIns="0" tIns="0" rIns="0" bIns="0" anchor="t"/>
          <a:lstStyle/>
          <a:p>
            <a:pPr algn="l"/>
            <a:r>
              <a:rPr sz="1100" b="0">
                <a:solidFill>
                  <a:srgbClr val="8E8E93"/>
                </a:solidFill>
                <a:latin typeface="Segoe UI Semibold"/>
              </a:rPr>
              <a:t>3 months</a:t>
            </a:r>
          </a:p>
        </p:txBody>
      </p:sp>
      <p:sp>
        <p:nvSpPr>
          <p:cNvPr id="14" name="el122"/>
          <p:cNvSpPr txBox="1"/>
          <p:nvPr/>
        </p:nvSpPr>
        <p:spPr>
          <a:xfrm>
            <a:off x="685800" y="4087368"/>
            <a:ext cx="3393338" cy="411480"/>
          </a:xfrm>
          <a:prstGeom prst="rect">
            <a:avLst/>
          </a:prstGeom>
          <a:noFill/>
        </p:spPr>
        <p:txBody>
          <a:bodyPr wrap="square" lIns="0" tIns="0" rIns="0" bIns="0" anchor="t"/>
          <a:lstStyle/>
          <a:p>
            <a:pPr algn="l"/>
            <a:r>
              <a:rPr sz="1900" b="0">
                <a:solidFill>
                  <a:srgbClr val="0A0A0A"/>
                </a:solidFill>
                <a:latin typeface="Segoe UI Semibold"/>
              </a:rPr>
              <a:t>Pilot-ready</a:t>
            </a:r>
          </a:p>
        </p:txBody>
      </p:sp>
      <p:sp>
        <p:nvSpPr>
          <p:cNvPr id="15" name="el123"/>
          <p:cNvSpPr txBox="1"/>
          <p:nvPr/>
        </p:nvSpPr>
        <p:spPr>
          <a:xfrm>
            <a:off x="685800" y="4572000"/>
            <a:ext cx="3393338" cy="329184"/>
          </a:xfrm>
          <a:prstGeom prst="rect">
            <a:avLst/>
          </a:prstGeom>
          <a:noFill/>
        </p:spPr>
        <p:txBody>
          <a:bodyPr wrap="square" lIns="0" tIns="0" rIns="0" bIns="0" anchor="t"/>
          <a:lstStyle/>
          <a:p>
            <a:pPr algn="l"/>
            <a:r>
              <a:rPr sz="1500" b="0">
                <a:solidFill>
                  <a:srgbClr val="6E6E73"/>
                </a:solidFill>
                <a:latin typeface="Segoe UI"/>
              </a:rPr>
              <a:t>Technology ready</a:t>
            </a:r>
          </a:p>
        </p:txBody>
      </p:sp>
      <p:sp>
        <p:nvSpPr>
          <p:cNvPr id="16" name="el124"/>
          <p:cNvSpPr txBox="1"/>
          <p:nvPr/>
        </p:nvSpPr>
        <p:spPr>
          <a:xfrm>
            <a:off x="685800" y="4937760"/>
            <a:ext cx="3393338" cy="329184"/>
          </a:xfrm>
          <a:prstGeom prst="rect">
            <a:avLst/>
          </a:prstGeom>
          <a:noFill/>
        </p:spPr>
        <p:txBody>
          <a:bodyPr wrap="square" lIns="0" tIns="0" rIns="0" bIns="0" anchor="t"/>
          <a:lstStyle/>
          <a:p>
            <a:pPr algn="l"/>
            <a:r>
              <a:rPr sz="1500" b="0">
                <a:solidFill>
                  <a:srgbClr val="6E6E73"/>
                </a:solidFill>
                <a:latin typeface="Segoe UI"/>
              </a:rPr>
              <a:t>Regulations approved</a:t>
            </a:r>
          </a:p>
        </p:txBody>
      </p:sp>
      <p:pic>
        <p:nvPicPr>
          <p:cNvPr id="17" name="el125" descr="o_reception.png"/>
          <p:cNvPicPr>
            <a:picLocks noChangeAspect="1"/>
          </p:cNvPicPr>
          <p:nvPr/>
        </p:nvPicPr>
        <p:blipFill>
          <a:blip r:embed="rId5"/>
          <a:srcRect t="4134" b="4134"/>
          <a:stretch>
            <a:fillRect/>
          </a:stretch>
        </p:blipFill>
        <p:spPr>
          <a:xfrm>
            <a:off x="4399178" y="1645920"/>
            <a:ext cx="3393338" cy="1737360"/>
          </a:xfrm>
          <a:prstGeom prst="roundRect">
            <a:avLst>
              <a:gd name="adj" fmla="val 3500"/>
            </a:avLst>
          </a:prstGeom>
        </p:spPr>
      </p:pic>
      <p:sp>
        <p:nvSpPr>
          <p:cNvPr id="18" name="el126"/>
          <p:cNvSpPr/>
          <p:nvPr/>
        </p:nvSpPr>
        <p:spPr>
          <a:xfrm>
            <a:off x="4399178" y="3584448"/>
            <a:ext cx="146304" cy="146304"/>
          </a:xfrm>
          <a:prstGeom prst="ellipse">
            <a:avLst/>
          </a:prstGeom>
          <a:solidFill>
            <a:srgbClr val="FFFFFF"/>
          </a:solidFill>
          <a:ln w="15875">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el127"/>
          <p:cNvSpPr txBox="1"/>
          <p:nvPr/>
        </p:nvSpPr>
        <p:spPr>
          <a:xfrm>
            <a:off x="4399178" y="3840480"/>
            <a:ext cx="3393338" cy="274320"/>
          </a:xfrm>
          <a:prstGeom prst="rect">
            <a:avLst/>
          </a:prstGeom>
          <a:noFill/>
        </p:spPr>
        <p:txBody>
          <a:bodyPr wrap="square" lIns="0" tIns="0" rIns="0" bIns="0" anchor="t"/>
          <a:lstStyle/>
          <a:p>
            <a:pPr algn="l"/>
            <a:r>
              <a:rPr sz="1100" b="0">
                <a:solidFill>
                  <a:srgbClr val="8E8E93"/>
                </a:solidFill>
                <a:latin typeface="Segoe UI Semibold"/>
              </a:rPr>
              <a:t>6 months</a:t>
            </a:r>
          </a:p>
        </p:txBody>
      </p:sp>
      <p:sp>
        <p:nvSpPr>
          <p:cNvPr id="20" name="el128"/>
          <p:cNvSpPr txBox="1"/>
          <p:nvPr/>
        </p:nvSpPr>
        <p:spPr>
          <a:xfrm>
            <a:off x="4399178" y="4087368"/>
            <a:ext cx="3393338" cy="411480"/>
          </a:xfrm>
          <a:prstGeom prst="rect">
            <a:avLst/>
          </a:prstGeom>
          <a:noFill/>
        </p:spPr>
        <p:txBody>
          <a:bodyPr wrap="square" lIns="0" tIns="0" rIns="0" bIns="0" anchor="t"/>
          <a:lstStyle/>
          <a:p>
            <a:pPr algn="l"/>
            <a:r>
              <a:rPr sz="1900" b="0">
                <a:solidFill>
                  <a:srgbClr val="0A0A0A"/>
                </a:solidFill>
                <a:latin typeface="Segoe UI Semibold"/>
              </a:rPr>
              <a:t>First clinical pilot</a:t>
            </a:r>
          </a:p>
        </p:txBody>
      </p:sp>
      <p:sp>
        <p:nvSpPr>
          <p:cNvPr id="21" name="el129"/>
          <p:cNvSpPr txBox="1"/>
          <p:nvPr/>
        </p:nvSpPr>
        <p:spPr>
          <a:xfrm>
            <a:off x="4399178" y="4572000"/>
            <a:ext cx="3393338" cy="329184"/>
          </a:xfrm>
          <a:prstGeom prst="rect">
            <a:avLst/>
          </a:prstGeom>
          <a:noFill/>
        </p:spPr>
        <p:txBody>
          <a:bodyPr wrap="square" lIns="0" tIns="0" rIns="0" bIns="0" anchor="t"/>
          <a:lstStyle/>
          <a:p>
            <a:pPr algn="l"/>
            <a:r>
              <a:rPr sz="1500" b="0">
                <a:solidFill>
                  <a:srgbClr val="6E6E73"/>
                </a:solidFill>
                <a:latin typeface="Segoe UI"/>
              </a:rPr>
              <a:t>With potential local partners:</a:t>
            </a:r>
          </a:p>
        </p:txBody>
      </p:sp>
      <p:sp>
        <p:nvSpPr>
          <p:cNvPr id="22" name="el130"/>
          <p:cNvSpPr txBox="1"/>
          <p:nvPr/>
        </p:nvSpPr>
        <p:spPr>
          <a:xfrm>
            <a:off x="4399178" y="4937760"/>
            <a:ext cx="3393338" cy="329184"/>
          </a:xfrm>
          <a:prstGeom prst="rect">
            <a:avLst/>
          </a:prstGeom>
          <a:noFill/>
        </p:spPr>
        <p:txBody>
          <a:bodyPr wrap="square" lIns="0" tIns="0" rIns="0" bIns="0" anchor="t"/>
          <a:lstStyle/>
          <a:p>
            <a:pPr algn="l"/>
            <a:r>
              <a:rPr sz="1600" b="0">
                <a:solidFill>
                  <a:srgbClr val="3A3A3C"/>
                </a:solidFill>
                <a:latin typeface="Segoe UI Semibold"/>
              </a:rPr>
              <a:t>Bethel  ·  Franziskus Hospital</a:t>
            </a:r>
          </a:p>
        </p:txBody>
      </p:sp>
      <p:sp>
        <p:nvSpPr>
          <p:cNvPr id="23" name="el131"/>
          <p:cNvSpPr txBox="1"/>
          <p:nvPr/>
        </p:nvSpPr>
        <p:spPr>
          <a:xfrm>
            <a:off x="4399178" y="5303520"/>
            <a:ext cx="3393338" cy="329184"/>
          </a:xfrm>
          <a:prstGeom prst="rect">
            <a:avLst/>
          </a:prstGeom>
          <a:noFill/>
        </p:spPr>
        <p:txBody>
          <a:bodyPr wrap="square" lIns="0" tIns="0" rIns="0" bIns="0" anchor="t"/>
          <a:lstStyle/>
          <a:p>
            <a:pPr algn="l"/>
            <a:r>
              <a:rPr sz="1600" b="0">
                <a:solidFill>
                  <a:srgbClr val="3A3A3C"/>
                </a:solidFill>
                <a:latin typeface="Segoe UI Semibold"/>
              </a:rPr>
              <a:t>HDZ NRW  ·  MHH</a:t>
            </a:r>
          </a:p>
        </p:txBody>
      </p:sp>
      <p:pic>
        <p:nvPicPr>
          <p:cNvPr id="24" name="el132" descr="w_compartment.png"/>
          <p:cNvPicPr>
            <a:picLocks noChangeAspect="1"/>
          </p:cNvPicPr>
          <p:nvPr/>
        </p:nvPicPr>
        <p:blipFill>
          <a:blip r:embed="rId6"/>
          <a:srcRect t="4134" b="4134"/>
          <a:stretch>
            <a:fillRect/>
          </a:stretch>
        </p:blipFill>
        <p:spPr>
          <a:xfrm>
            <a:off x="8112556" y="1645920"/>
            <a:ext cx="3393338" cy="1737360"/>
          </a:xfrm>
          <a:prstGeom prst="roundRect">
            <a:avLst>
              <a:gd name="adj" fmla="val 3500"/>
            </a:avLst>
          </a:prstGeom>
        </p:spPr>
      </p:pic>
      <p:sp>
        <p:nvSpPr>
          <p:cNvPr id="25" name="el133"/>
          <p:cNvSpPr/>
          <p:nvPr/>
        </p:nvSpPr>
        <p:spPr>
          <a:xfrm>
            <a:off x="8112556" y="3584448"/>
            <a:ext cx="146304" cy="146304"/>
          </a:xfrm>
          <a:prstGeom prst="ellipse">
            <a:avLst/>
          </a:prstGeom>
          <a:solidFill>
            <a:srgbClr val="FFFFFF"/>
          </a:solidFill>
          <a:ln w="15875">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el134"/>
          <p:cNvSpPr txBox="1"/>
          <p:nvPr/>
        </p:nvSpPr>
        <p:spPr>
          <a:xfrm>
            <a:off x="8112556" y="3840480"/>
            <a:ext cx="3393338" cy="274320"/>
          </a:xfrm>
          <a:prstGeom prst="rect">
            <a:avLst/>
          </a:prstGeom>
          <a:noFill/>
        </p:spPr>
        <p:txBody>
          <a:bodyPr wrap="square" lIns="0" tIns="0" rIns="0" bIns="0" anchor="t"/>
          <a:lstStyle/>
          <a:p>
            <a:pPr algn="l"/>
            <a:r>
              <a:rPr sz="1100" b="0">
                <a:solidFill>
                  <a:srgbClr val="8E8E93"/>
                </a:solidFill>
                <a:latin typeface="Segoe UI Semibold"/>
              </a:rPr>
              <a:t>12 months</a:t>
            </a:r>
          </a:p>
        </p:txBody>
      </p:sp>
      <p:sp>
        <p:nvSpPr>
          <p:cNvPr id="27" name="el135"/>
          <p:cNvSpPr txBox="1"/>
          <p:nvPr/>
        </p:nvSpPr>
        <p:spPr>
          <a:xfrm>
            <a:off x="8112556" y="4087368"/>
            <a:ext cx="3393338" cy="411480"/>
          </a:xfrm>
          <a:prstGeom prst="rect">
            <a:avLst/>
          </a:prstGeom>
          <a:noFill/>
        </p:spPr>
        <p:txBody>
          <a:bodyPr wrap="square" lIns="0" tIns="0" rIns="0" bIns="0" anchor="t"/>
          <a:lstStyle/>
          <a:p>
            <a:pPr algn="l"/>
            <a:r>
              <a:rPr sz="1900" b="0">
                <a:solidFill>
                  <a:srgbClr val="0A0A0A"/>
                </a:solidFill>
                <a:latin typeface="Segoe UI Semibold"/>
              </a:rPr>
              <a:t>Scale</a:t>
            </a:r>
          </a:p>
        </p:txBody>
      </p:sp>
      <p:sp>
        <p:nvSpPr>
          <p:cNvPr id="28" name="el136"/>
          <p:cNvSpPr/>
          <p:nvPr/>
        </p:nvSpPr>
        <p:spPr>
          <a:xfrm>
            <a:off x="8240572" y="1773936"/>
            <a:ext cx="84124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a:solidFill>
                  <a:srgbClr val="0A0A0A"/>
                </a:solidFill>
                <a:latin typeface="Segoe UI Semibold"/>
              </a:rPr>
              <a:t>Concept</a:t>
            </a:r>
          </a:p>
        </p:txBody>
      </p:sp>
      <p:sp>
        <p:nvSpPr>
          <p:cNvPr id="29" name="el137"/>
          <p:cNvSpPr txBox="1"/>
          <p:nvPr/>
        </p:nvSpPr>
        <p:spPr>
          <a:xfrm>
            <a:off x="8112556" y="4572000"/>
            <a:ext cx="3393338" cy="329184"/>
          </a:xfrm>
          <a:prstGeom prst="rect">
            <a:avLst/>
          </a:prstGeom>
          <a:noFill/>
        </p:spPr>
        <p:txBody>
          <a:bodyPr wrap="square" lIns="0" tIns="0" rIns="0" bIns="0" anchor="t"/>
          <a:lstStyle/>
          <a:p>
            <a:pPr algn="l"/>
            <a:r>
              <a:rPr sz="1500" b="0">
                <a:solidFill>
                  <a:srgbClr val="6E6E73"/>
                </a:solidFill>
                <a:latin typeface="Segoe UI"/>
              </a:rPr>
              <a:t>New regions</a:t>
            </a:r>
          </a:p>
        </p:txBody>
      </p:sp>
      <p:sp>
        <p:nvSpPr>
          <p:cNvPr id="30" name="el138"/>
          <p:cNvSpPr txBox="1"/>
          <p:nvPr/>
        </p:nvSpPr>
        <p:spPr>
          <a:xfrm>
            <a:off x="8112556" y="4937760"/>
            <a:ext cx="3393338" cy="329184"/>
          </a:xfrm>
          <a:prstGeom prst="rect">
            <a:avLst/>
          </a:prstGeom>
          <a:noFill/>
        </p:spPr>
        <p:txBody>
          <a:bodyPr wrap="square" lIns="0" tIns="0" rIns="0" bIns="0" anchor="t"/>
          <a:lstStyle/>
          <a:p>
            <a:pPr algn="l"/>
            <a:r>
              <a:rPr sz="1500" b="0">
                <a:solidFill>
                  <a:srgbClr val="6E6E73"/>
                </a:solidFill>
                <a:latin typeface="Segoe UI"/>
              </a:rPr>
              <a:t>New use cases</a:t>
            </a:r>
          </a:p>
        </p:txBody>
      </p:sp>
      <p:sp>
        <p:nvSpPr>
          <p:cNvPr id="31" name="el139"/>
          <p:cNvSpPr txBox="1"/>
          <p:nvPr/>
        </p:nvSpPr>
        <p:spPr>
          <a:xfrm>
            <a:off x="8112556" y="5303520"/>
            <a:ext cx="3393338" cy="329184"/>
          </a:xfrm>
          <a:prstGeom prst="rect">
            <a:avLst/>
          </a:prstGeom>
          <a:noFill/>
        </p:spPr>
        <p:txBody>
          <a:bodyPr wrap="square" lIns="0" tIns="0" rIns="0" bIns="0" anchor="t"/>
          <a:lstStyle/>
          <a:p>
            <a:pPr algn="l"/>
            <a:r>
              <a:rPr sz="1500" b="0">
                <a:solidFill>
                  <a:srgbClr val="6E6E73"/>
                </a:solidFill>
                <a:latin typeface="Segoe UI"/>
              </a:rPr>
              <a:t>New functions</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nodeType="afterEffect">
                                  <p:stCondLst>
                                    <p:cond delay="5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par>
                          <p:cTn id="14" fill="hold">
                            <p:stCondLst>
                              <p:cond delay="1050"/>
                            </p:stCondLst>
                            <p:childTnLst>
                              <p:par>
                                <p:cTn id="15" presetID="42" presetClass="entr" presetSubtype="0" fill="hold" grpId="0" nodeType="afterEffect">
                                  <p:stCondLst>
                                    <p:cond delay="5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250"/>
                                        <p:tgtEl>
                                          <p:spTgt spid="14"/>
                                        </p:tgtEl>
                                      </p:cBhvr>
                                    </p:animEffect>
                                    <p:anim calcmode="lin" valueType="num">
                                      <p:cBhvr>
                                        <p:cTn id="18" dur="250" fill="hold"/>
                                        <p:tgtEl>
                                          <p:spTgt spid="14"/>
                                        </p:tgtEl>
                                        <p:attrNameLst>
                                          <p:attrName>ppt_x</p:attrName>
                                        </p:attrNameLst>
                                      </p:cBhvr>
                                      <p:tavLst>
                                        <p:tav tm="0">
                                          <p:val>
                                            <p:strVal val="#ppt_x"/>
                                          </p:val>
                                        </p:tav>
                                        <p:tav tm="100000">
                                          <p:val>
                                            <p:strVal val="#ppt_x"/>
                                          </p:val>
                                        </p:tav>
                                      </p:tavLst>
                                    </p:anim>
                                    <p:anim calcmode="lin" valueType="num">
                                      <p:cBhvr>
                                        <p:cTn id="19" dur="25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250"/>
                                        <p:tgtEl>
                                          <p:spTgt spid="15"/>
                                        </p:tgtEl>
                                      </p:cBhvr>
                                    </p:animEffect>
                                    <p:anim calcmode="lin" valueType="num">
                                      <p:cBhvr>
                                        <p:cTn id="23" dur="250" fill="hold"/>
                                        <p:tgtEl>
                                          <p:spTgt spid="15"/>
                                        </p:tgtEl>
                                        <p:attrNameLst>
                                          <p:attrName>ppt_x</p:attrName>
                                        </p:attrNameLst>
                                      </p:cBhvr>
                                      <p:tavLst>
                                        <p:tav tm="0">
                                          <p:val>
                                            <p:strVal val="#ppt_x"/>
                                          </p:val>
                                        </p:tav>
                                        <p:tav tm="100000">
                                          <p:val>
                                            <p:strVal val="#ppt_x"/>
                                          </p:val>
                                        </p:tav>
                                      </p:tavLst>
                                    </p:anim>
                                    <p:anim calcmode="lin" valueType="num">
                                      <p:cBhvr>
                                        <p:cTn id="24" dur="250" fill="hold"/>
                                        <p:tgtEl>
                                          <p:spTgt spid="1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250"/>
                                        <p:tgtEl>
                                          <p:spTgt spid="16"/>
                                        </p:tgtEl>
                                      </p:cBhvr>
                                    </p:animEffect>
                                    <p:anim calcmode="lin" valueType="num">
                                      <p:cBhvr>
                                        <p:cTn id="28" dur="250" fill="hold"/>
                                        <p:tgtEl>
                                          <p:spTgt spid="16"/>
                                        </p:tgtEl>
                                        <p:attrNameLst>
                                          <p:attrName>ppt_x</p:attrName>
                                        </p:attrNameLst>
                                      </p:cBhvr>
                                      <p:tavLst>
                                        <p:tav tm="0">
                                          <p:val>
                                            <p:strVal val="#ppt_x"/>
                                          </p:val>
                                        </p:tav>
                                        <p:tav tm="100000">
                                          <p:val>
                                            <p:strVal val="#ppt_x"/>
                                          </p:val>
                                        </p:tav>
                                      </p:tavLst>
                                    </p:anim>
                                    <p:anim calcmode="lin" valueType="num">
                                      <p:cBhvr>
                                        <p:cTn id="29" dur="25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250"/>
                                        <p:tgtEl>
                                          <p:spTgt spid="11"/>
                                        </p:tgtEl>
                                      </p:cBhvr>
                                    </p:animEffect>
                                    <p:anim calcmode="lin" valueType="num">
                                      <p:cBhvr>
                                        <p:cTn id="33" dur="250" fill="hold"/>
                                        <p:tgtEl>
                                          <p:spTgt spid="11"/>
                                        </p:tgtEl>
                                        <p:attrNameLst>
                                          <p:attrName>ppt_x</p:attrName>
                                        </p:attrNameLst>
                                      </p:cBhvr>
                                      <p:tavLst>
                                        <p:tav tm="0">
                                          <p:val>
                                            <p:strVal val="#ppt_x"/>
                                          </p:val>
                                        </p:tav>
                                        <p:tav tm="100000">
                                          <p:val>
                                            <p:strVal val="#ppt_x"/>
                                          </p:val>
                                        </p:tav>
                                      </p:tavLst>
                                    </p:anim>
                                    <p:anim calcmode="lin" valueType="num">
                                      <p:cBhvr>
                                        <p:cTn id="34" dur="25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250"/>
                                        <p:tgtEl>
                                          <p:spTgt spid="12"/>
                                        </p:tgtEl>
                                      </p:cBhvr>
                                    </p:animEffect>
                                    <p:anim calcmode="lin" valueType="num">
                                      <p:cBhvr>
                                        <p:cTn id="38" dur="250" fill="hold"/>
                                        <p:tgtEl>
                                          <p:spTgt spid="12"/>
                                        </p:tgtEl>
                                        <p:attrNameLst>
                                          <p:attrName>ppt_x</p:attrName>
                                        </p:attrNameLst>
                                      </p:cBhvr>
                                      <p:tavLst>
                                        <p:tav tm="0">
                                          <p:val>
                                            <p:strVal val="#ppt_x"/>
                                          </p:val>
                                        </p:tav>
                                        <p:tav tm="100000">
                                          <p:val>
                                            <p:strVal val="#ppt_x"/>
                                          </p:val>
                                        </p:tav>
                                      </p:tavLst>
                                    </p:anim>
                                    <p:anim calcmode="lin" valueType="num">
                                      <p:cBhvr>
                                        <p:cTn id="39" dur="250" fill="hold"/>
                                        <p:tgtEl>
                                          <p:spTgt spid="1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250"/>
                                        <p:tgtEl>
                                          <p:spTgt spid="13"/>
                                        </p:tgtEl>
                                      </p:cBhvr>
                                    </p:animEffect>
                                    <p:anim calcmode="lin" valueType="num">
                                      <p:cBhvr>
                                        <p:cTn id="43" dur="250" fill="hold"/>
                                        <p:tgtEl>
                                          <p:spTgt spid="13"/>
                                        </p:tgtEl>
                                        <p:attrNameLst>
                                          <p:attrName>ppt_x</p:attrName>
                                        </p:attrNameLst>
                                      </p:cBhvr>
                                      <p:tavLst>
                                        <p:tav tm="0">
                                          <p:val>
                                            <p:strVal val="#ppt_x"/>
                                          </p:val>
                                        </p:tav>
                                        <p:tav tm="100000">
                                          <p:val>
                                            <p:strVal val="#ppt_x"/>
                                          </p:val>
                                        </p:tav>
                                      </p:tavLst>
                                    </p:anim>
                                    <p:anim calcmode="lin" valueType="num">
                                      <p:cBhvr>
                                        <p:cTn id="44" dur="250" fill="hold"/>
                                        <p:tgtEl>
                                          <p:spTgt spid="13"/>
                                        </p:tgtEl>
                                        <p:attrNameLst>
                                          <p:attrName>ppt_y</p:attrName>
                                        </p:attrNameLst>
                                      </p:cBhvr>
                                      <p:tavLst>
                                        <p:tav tm="0">
                                          <p:val>
                                            <p:strVal val="#ppt_y+.1"/>
                                          </p:val>
                                        </p:tav>
                                        <p:tav tm="100000">
                                          <p:val>
                                            <p:strVal val="#ppt_y"/>
                                          </p:val>
                                        </p:tav>
                                      </p:tavLst>
                                    </p:anim>
                                  </p:childTnLst>
                                </p:cTn>
                              </p:par>
                            </p:childTnLst>
                          </p:cTn>
                        </p:par>
                        <p:par>
                          <p:cTn id="45" fill="hold">
                            <p:stCondLst>
                              <p:cond delay="1350"/>
                            </p:stCondLst>
                            <p:childTnLst>
                              <p:par>
                                <p:cTn id="46" presetID="42" presetClass="entr" presetSubtype="0" fill="hold" grpId="0" nodeType="afterEffect">
                                  <p:stCondLst>
                                    <p:cond delay="5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250"/>
                                        <p:tgtEl>
                                          <p:spTgt spid="21"/>
                                        </p:tgtEl>
                                      </p:cBhvr>
                                    </p:animEffect>
                                    <p:anim calcmode="lin" valueType="num">
                                      <p:cBhvr>
                                        <p:cTn id="49" dur="250" fill="hold"/>
                                        <p:tgtEl>
                                          <p:spTgt spid="21"/>
                                        </p:tgtEl>
                                        <p:attrNameLst>
                                          <p:attrName>ppt_x</p:attrName>
                                        </p:attrNameLst>
                                      </p:cBhvr>
                                      <p:tavLst>
                                        <p:tav tm="0">
                                          <p:val>
                                            <p:strVal val="#ppt_x"/>
                                          </p:val>
                                        </p:tav>
                                        <p:tav tm="100000">
                                          <p:val>
                                            <p:strVal val="#ppt_x"/>
                                          </p:val>
                                        </p:tav>
                                      </p:tavLst>
                                    </p:anim>
                                    <p:anim calcmode="lin" valueType="num">
                                      <p:cBhvr>
                                        <p:cTn id="50" dur="250" fill="hold"/>
                                        <p:tgtEl>
                                          <p:spTgt spid="21"/>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250"/>
                                        <p:tgtEl>
                                          <p:spTgt spid="22"/>
                                        </p:tgtEl>
                                      </p:cBhvr>
                                    </p:animEffect>
                                    <p:anim calcmode="lin" valueType="num">
                                      <p:cBhvr>
                                        <p:cTn id="54" dur="250" fill="hold"/>
                                        <p:tgtEl>
                                          <p:spTgt spid="22"/>
                                        </p:tgtEl>
                                        <p:attrNameLst>
                                          <p:attrName>ppt_x</p:attrName>
                                        </p:attrNameLst>
                                      </p:cBhvr>
                                      <p:tavLst>
                                        <p:tav tm="0">
                                          <p:val>
                                            <p:strVal val="#ppt_x"/>
                                          </p:val>
                                        </p:tav>
                                        <p:tav tm="100000">
                                          <p:val>
                                            <p:strVal val="#ppt_x"/>
                                          </p:val>
                                        </p:tav>
                                      </p:tavLst>
                                    </p:anim>
                                    <p:anim calcmode="lin" valueType="num">
                                      <p:cBhvr>
                                        <p:cTn id="55" dur="250" fill="hold"/>
                                        <p:tgtEl>
                                          <p:spTgt spid="22"/>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250"/>
                                        <p:tgtEl>
                                          <p:spTgt spid="23"/>
                                        </p:tgtEl>
                                      </p:cBhvr>
                                    </p:animEffect>
                                    <p:anim calcmode="lin" valueType="num">
                                      <p:cBhvr>
                                        <p:cTn id="59" dur="250" fill="hold"/>
                                        <p:tgtEl>
                                          <p:spTgt spid="23"/>
                                        </p:tgtEl>
                                        <p:attrNameLst>
                                          <p:attrName>ppt_x</p:attrName>
                                        </p:attrNameLst>
                                      </p:cBhvr>
                                      <p:tavLst>
                                        <p:tav tm="0">
                                          <p:val>
                                            <p:strVal val="#ppt_x"/>
                                          </p:val>
                                        </p:tav>
                                        <p:tav tm="100000">
                                          <p:val>
                                            <p:strVal val="#ppt_x"/>
                                          </p:val>
                                        </p:tav>
                                      </p:tavLst>
                                    </p:anim>
                                    <p:anim calcmode="lin" valueType="num">
                                      <p:cBhvr>
                                        <p:cTn id="60" dur="250" fill="hold"/>
                                        <p:tgtEl>
                                          <p:spTgt spid="23"/>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250"/>
                                        <p:tgtEl>
                                          <p:spTgt spid="20"/>
                                        </p:tgtEl>
                                      </p:cBhvr>
                                    </p:animEffect>
                                    <p:anim calcmode="lin" valueType="num">
                                      <p:cBhvr>
                                        <p:cTn id="64" dur="250" fill="hold"/>
                                        <p:tgtEl>
                                          <p:spTgt spid="20"/>
                                        </p:tgtEl>
                                        <p:attrNameLst>
                                          <p:attrName>ppt_x</p:attrName>
                                        </p:attrNameLst>
                                      </p:cBhvr>
                                      <p:tavLst>
                                        <p:tav tm="0">
                                          <p:val>
                                            <p:strVal val="#ppt_x"/>
                                          </p:val>
                                        </p:tav>
                                        <p:tav tm="100000">
                                          <p:val>
                                            <p:strVal val="#ppt_x"/>
                                          </p:val>
                                        </p:tav>
                                      </p:tavLst>
                                    </p:anim>
                                    <p:anim calcmode="lin" valueType="num">
                                      <p:cBhvr>
                                        <p:cTn id="65" dur="250" fill="hold"/>
                                        <p:tgtEl>
                                          <p:spTgt spid="20"/>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250"/>
                                        <p:tgtEl>
                                          <p:spTgt spid="17"/>
                                        </p:tgtEl>
                                      </p:cBhvr>
                                    </p:animEffect>
                                    <p:anim calcmode="lin" valueType="num">
                                      <p:cBhvr>
                                        <p:cTn id="69" dur="250" fill="hold"/>
                                        <p:tgtEl>
                                          <p:spTgt spid="17"/>
                                        </p:tgtEl>
                                        <p:attrNameLst>
                                          <p:attrName>ppt_x</p:attrName>
                                        </p:attrNameLst>
                                      </p:cBhvr>
                                      <p:tavLst>
                                        <p:tav tm="0">
                                          <p:val>
                                            <p:strVal val="#ppt_x"/>
                                          </p:val>
                                        </p:tav>
                                        <p:tav tm="100000">
                                          <p:val>
                                            <p:strVal val="#ppt_x"/>
                                          </p:val>
                                        </p:tav>
                                      </p:tavLst>
                                    </p:anim>
                                    <p:anim calcmode="lin" valueType="num">
                                      <p:cBhvr>
                                        <p:cTn id="70" dur="250" fill="hold"/>
                                        <p:tgtEl>
                                          <p:spTgt spid="17"/>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250"/>
                                        <p:tgtEl>
                                          <p:spTgt spid="18"/>
                                        </p:tgtEl>
                                      </p:cBhvr>
                                    </p:animEffect>
                                    <p:anim calcmode="lin" valueType="num">
                                      <p:cBhvr>
                                        <p:cTn id="74" dur="250" fill="hold"/>
                                        <p:tgtEl>
                                          <p:spTgt spid="18"/>
                                        </p:tgtEl>
                                        <p:attrNameLst>
                                          <p:attrName>ppt_x</p:attrName>
                                        </p:attrNameLst>
                                      </p:cBhvr>
                                      <p:tavLst>
                                        <p:tav tm="0">
                                          <p:val>
                                            <p:strVal val="#ppt_x"/>
                                          </p:val>
                                        </p:tav>
                                        <p:tav tm="100000">
                                          <p:val>
                                            <p:strVal val="#ppt_x"/>
                                          </p:val>
                                        </p:tav>
                                      </p:tavLst>
                                    </p:anim>
                                    <p:anim calcmode="lin" valueType="num">
                                      <p:cBhvr>
                                        <p:cTn id="75" dur="250" fill="hold"/>
                                        <p:tgtEl>
                                          <p:spTgt spid="18"/>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250"/>
                                        <p:tgtEl>
                                          <p:spTgt spid="19"/>
                                        </p:tgtEl>
                                      </p:cBhvr>
                                    </p:animEffect>
                                    <p:anim calcmode="lin" valueType="num">
                                      <p:cBhvr>
                                        <p:cTn id="79" dur="250" fill="hold"/>
                                        <p:tgtEl>
                                          <p:spTgt spid="19"/>
                                        </p:tgtEl>
                                        <p:attrNameLst>
                                          <p:attrName>ppt_x</p:attrName>
                                        </p:attrNameLst>
                                      </p:cBhvr>
                                      <p:tavLst>
                                        <p:tav tm="0">
                                          <p:val>
                                            <p:strVal val="#ppt_x"/>
                                          </p:val>
                                        </p:tav>
                                        <p:tav tm="100000">
                                          <p:val>
                                            <p:strVal val="#ppt_x"/>
                                          </p:val>
                                        </p:tav>
                                      </p:tavLst>
                                    </p:anim>
                                    <p:anim calcmode="lin" valueType="num">
                                      <p:cBhvr>
                                        <p:cTn id="80" dur="250" fill="hold"/>
                                        <p:tgtEl>
                                          <p:spTgt spid="19"/>
                                        </p:tgtEl>
                                        <p:attrNameLst>
                                          <p:attrName>ppt_y</p:attrName>
                                        </p:attrNameLst>
                                      </p:cBhvr>
                                      <p:tavLst>
                                        <p:tav tm="0">
                                          <p:val>
                                            <p:strVal val="#ppt_y+.1"/>
                                          </p:val>
                                        </p:tav>
                                        <p:tav tm="100000">
                                          <p:val>
                                            <p:strVal val="#ppt_y"/>
                                          </p:val>
                                        </p:tav>
                                      </p:tavLst>
                                    </p:anim>
                                  </p:childTnLst>
                                </p:cTn>
                              </p:par>
                            </p:childTnLst>
                          </p:cTn>
                        </p:par>
                        <p:par>
                          <p:cTn id="81" fill="hold">
                            <p:stCondLst>
                              <p:cond delay="1650"/>
                            </p:stCondLst>
                            <p:childTnLst>
                              <p:par>
                                <p:cTn id="82" presetID="42" presetClass="entr" presetSubtype="0" fill="hold" grpId="0" nodeType="afterEffect">
                                  <p:stCondLst>
                                    <p:cond delay="5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250"/>
                                        <p:tgtEl>
                                          <p:spTgt spid="29"/>
                                        </p:tgtEl>
                                      </p:cBhvr>
                                    </p:animEffect>
                                    <p:anim calcmode="lin" valueType="num">
                                      <p:cBhvr>
                                        <p:cTn id="85" dur="250" fill="hold"/>
                                        <p:tgtEl>
                                          <p:spTgt spid="29"/>
                                        </p:tgtEl>
                                        <p:attrNameLst>
                                          <p:attrName>ppt_x</p:attrName>
                                        </p:attrNameLst>
                                      </p:cBhvr>
                                      <p:tavLst>
                                        <p:tav tm="0">
                                          <p:val>
                                            <p:strVal val="#ppt_x"/>
                                          </p:val>
                                        </p:tav>
                                        <p:tav tm="100000">
                                          <p:val>
                                            <p:strVal val="#ppt_x"/>
                                          </p:val>
                                        </p:tav>
                                      </p:tavLst>
                                    </p:anim>
                                    <p:anim calcmode="lin" valueType="num">
                                      <p:cBhvr>
                                        <p:cTn id="86" dur="250" fill="hold"/>
                                        <p:tgtEl>
                                          <p:spTgt spid="2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250"/>
                                        <p:tgtEl>
                                          <p:spTgt spid="28"/>
                                        </p:tgtEl>
                                      </p:cBhvr>
                                    </p:animEffect>
                                    <p:anim calcmode="lin" valueType="num">
                                      <p:cBhvr>
                                        <p:cTn id="90" dur="250" fill="hold"/>
                                        <p:tgtEl>
                                          <p:spTgt spid="28"/>
                                        </p:tgtEl>
                                        <p:attrNameLst>
                                          <p:attrName>ppt_x</p:attrName>
                                        </p:attrNameLst>
                                      </p:cBhvr>
                                      <p:tavLst>
                                        <p:tav tm="0">
                                          <p:val>
                                            <p:strVal val="#ppt_x"/>
                                          </p:val>
                                        </p:tav>
                                        <p:tav tm="100000">
                                          <p:val>
                                            <p:strVal val="#ppt_x"/>
                                          </p:val>
                                        </p:tav>
                                      </p:tavLst>
                                    </p:anim>
                                    <p:anim calcmode="lin" valueType="num">
                                      <p:cBhvr>
                                        <p:cTn id="91" dur="250" fill="hold"/>
                                        <p:tgtEl>
                                          <p:spTgt spid="28"/>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250"/>
                                        <p:tgtEl>
                                          <p:spTgt spid="31"/>
                                        </p:tgtEl>
                                      </p:cBhvr>
                                    </p:animEffect>
                                    <p:anim calcmode="lin" valueType="num">
                                      <p:cBhvr>
                                        <p:cTn id="95" dur="250" fill="hold"/>
                                        <p:tgtEl>
                                          <p:spTgt spid="31"/>
                                        </p:tgtEl>
                                        <p:attrNameLst>
                                          <p:attrName>ppt_x</p:attrName>
                                        </p:attrNameLst>
                                      </p:cBhvr>
                                      <p:tavLst>
                                        <p:tav tm="0">
                                          <p:val>
                                            <p:strVal val="#ppt_x"/>
                                          </p:val>
                                        </p:tav>
                                        <p:tav tm="100000">
                                          <p:val>
                                            <p:strVal val="#ppt_x"/>
                                          </p:val>
                                        </p:tav>
                                      </p:tavLst>
                                    </p:anim>
                                    <p:anim calcmode="lin" valueType="num">
                                      <p:cBhvr>
                                        <p:cTn id="96" dur="250" fill="hold"/>
                                        <p:tgtEl>
                                          <p:spTgt spid="3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30"/>
                                        </p:tgtEl>
                                        <p:attrNameLst>
                                          <p:attrName>style.visibility</p:attrName>
                                        </p:attrNameLst>
                                      </p:cBhvr>
                                      <p:to>
                                        <p:strVal val="visible"/>
                                      </p:to>
                                    </p:set>
                                    <p:animEffect transition="in" filter="fade">
                                      <p:cBhvr>
                                        <p:cTn id="99" dur="250"/>
                                        <p:tgtEl>
                                          <p:spTgt spid="30"/>
                                        </p:tgtEl>
                                      </p:cBhvr>
                                    </p:animEffect>
                                    <p:anim calcmode="lin" valueType="num">
                                      <p:cBhvr>
                                        <p:cTn id="100" dur="250" fill="hold"/>
                                        <p:tgtEl>
                                          <p:spTgt spid="30"/>
                                        </p:tgtEl>
                                        <p:attrNameLst>
                                          <p:attrName>ppt_x</p:attrName>
                                        </p:attrNameLst>
                                      </p:cBhvr>
                                      <p:tavLst>
                                        <p:tav tm="0">
                                          <p:val>
                                            <p:strVal val="#ppt_x"/>
                                          </p:val>
                                        </p:tav>
                                        <p:tav tm="100000">
                                          <p:val>
                                            <p:strVal val="#ppt_x"/>
                                          </p:val>
                                        </p:tav>
                                      </p:tavLst>
                                    </p:anim>
                                    <p:anim calcmode="lin" valueType="num">
                                      <p:cBhvr>
                                        <p:cTn id="101" dur="250" fill="hold"/>
                                        <p:tgtEl>
                                          <p:spTgt spid="30"/>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5"/>
                                        </p:tgtEl>
                                        <p:attrNameLst>
                                          <p:attrName>style.visibility</p:attrName>
                                        </p:attrNameLst>
                                      </p:cBhvr>
                                      <p:to>
                                        <p:strVal val="visible"/>
                                      </p:to>
                                    </p:set>
                                    <p:animEffect transition="in" filter="fade">
                                      <p:cBhvr>
                                        <p:cTn id="104" dur="250"/>
                                        <p:tgtEl>
                                          <p:spTgt spid="25"/>
                                        </p:tgtEl>
                                      </p:cBhvr>
                                    </p:animEffect>
                                    <p:anim calcmode="lin" valueType="num">
                                      <p:cBhvr>
                                        <p:cTn id="105" dur="250" fill="hold"/>
                                        <p:tgtEl>
                                          <p:spTgt spid="25"/>
                                        </p:tgtEl>
                                        <p:attrNameLst>
                                          <p:attrName>ppt_x</p:attrName>
                                        </p:attrNameLst>
                                      </p:cBhvr>
                                      <p:tavLst>
                                        <p:tav tm="0">
                                          <p:val>
                                            <p:strVal val="#ppt_x"/>
                                          </p:val>
                                        </p:tav>
                                        <p:tav tm="100000">
                                          <p:val>
                                            <p:strVal val="#ppt_x"/>
                                          </p:val>
                                        </p:tav>
                                      </p:tavLst>
                                    </p:anim>
                                    <p:anim calcmode="lin" valueType="num">
                                      <p:cBhvr>
                                        <p:cTn id="106" dur="250" fill="hold"/>
                                        <p:tgtEl>
                                          <p:spTgt spid="25"/>
                                        </p:tgtEl>
                                        <p:attrNameLst>
                                          <p:attrName>ppt_y</p:attrName>
                                        </p:attrNameLst>
                                      </p:cBhvr>
                                      <p:tavLst>
                                        <p:tav tm="0">
                                          <p:val>
                                            <p:strVal val="#ppt_y+.1"/>
                                          </p:val>
                                        </p:tav>
                                        <p:tav tm="100000">
                                          <p:val>
                                            <p:strVal val="#ppt_y"/>
                                          </p:val>
                                        </p:tav>
                                      </p:tavLst>
                                    </p:anim>
                                  </p:childTnLst>
                                </p:cTn>
                              </p:par>
                              <p:par>
                                <p:cTn id="107" presetID="42" presetClass="entr" presetSubtype="0" fill="hold" nodeType="withEffect">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250"/>
                                        <p:tgtEl>
                                          <p:spTgt spid="24"/>
                                        </p:tgtEl>
                                      </p:cBhvr>
                                    </p:animEffect>
                                    <p:anim calcmode="lin" valueType="num">
                                      <p:cBhvr>
                                        <p:cTn id="110" dur="250" fill="hold"/>
                                        <p:tgtEl>
                                          <p:spTgt spid="24"/>
                                        </p:tgtEl>
                                        <p:attrNameLst>
                                          <p:attrName>ppt_x</p:attrName>
                                        </p:attrNameLst>
                                      </p:cBhvr>
                                      <p:tavLst>
                                        <p:tav tm="0">
                                          <p:val>
                                            <p:strVal val="#ppt_x"/>
                                          </p:val>
                                        </p:tav>
                                        <p:tav tm="100000">
                                          <p:val>
                                            <p:strVal val="#ppt_x"/>
                                          </p:val>
                                        </p:tav>
                                      </p:tavLst>
                                    </p:anim>
                                    <p:anim calcmode="lin" valueType="num">
                                      <p:cBhvr>
                                        <p:cTn id="111" dur="250" fill="hold"/>
                                        <p:tgtEl>
                                          <p:spTgt spid="24"/>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7"/>
                                        </p:tgtEl>
                                        <p:attrNameLst>
                                          <p:attrName>style.visibility</p:attrName>
                                        </p:attrNameLst>
                                      </p:cBhvr>
                                      <p:to>
                                        <p:strVal val="visible"/>
                                      </p:to>
                                    </p:set>
                                    <p:animEffect transition="in" filter="fade">
                                      <p:cBhvr>
                                        <p:cTn id="114" dur="250"/>
                                        <p:tgtEl>
                                          <p:spTgt spid="27"/>
                                        </p:tgtEl>
                                      </p:cBhvr>
                                    </p:animEffect>
                                    <p:anim calcmode="lin" valueType="num">
                                      <p:cBhvr>
                                        <p:cTn id="115" dur="250" fill="hold"/>
                                        <p:tgtEl>
                                          <p:spTgt spid="27"/>
                                        </p:tgtEl>
                                        <p:attrNameLst>
                                          <p:attrName>ppt_x</p:attrName>
                                        </p:attrNameLst>
                                      </p:cBhvr>
                                      <p:tavLst>
                                        <p:tav tm="0">
                                          <p:val>
                                            <p:strVal val="#ppt_x"/>
                                          </p:val>
                                        </p:tav>
                                        <p:tav tm="100000">
                                          <p:val>
                                            <p:strVal val="#ppt_x"/>
                                          </p:val>
                                        </p:tav>
                                      </p:tavLst>
                                    </p:anim>
                                    <p:anim calcmode="lin" valueType="num">
                                      <p:cBhvr>
                                        <p:cTn id="116" dur="250" fill="hold"/>
                                        <p:tgtEl>
                                          <p:spTgt spid="27"/>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250"/>
                                        <p:tgtEl>
                                          <p:spTgt spid="26"/>
                                        </p:tgtEl>
                                      </p:cBhvr>
                                    </p:animEffect>
                                    <p:anim calcmode="lin" valueType="num">
                                      <p:cBhvr>
                                        <p:cTn id="120" dur="250" fill="hold"/>
                                        <p:tgtEl>
                                          <p:spTgt spid="26"/>
                                        </p:tgtEl>
                                        <p:attrNameLst>
                                          <p:attrName>ppt_x</p:attrName>
                                        </p:attrNameLst>
                                      </p:cBhvr>
                                      <p:tavLst>
                                        <p:tav tm="0">
                                          <p:val>
                                            <p:strVal val="#ppt_x"/>
                                          </p:val>
                                        </p:tav>
                                        <p:tav tm="100000">
                                          <p:val>
                                            <p:strVal val="#ppt_x"/>
                                          </p:val>
                                        </p:tav>
                                      </p:tavLst>
                                    </p:anim>
                                    <p:anim calcmode="lin" valueType="num">
                                      <p:cBhvr>
                                        <p:cTn id="121" dur="25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animBg="1"/>
      <p:bldP spid="13" grpId="0"/>
      <p:bldP spid="14" grpId="0"/>
      <p:bldP spid="15" grpId="0"/>
      <p:bldP spid="16" grpId="0"/>
      <p:bldP spid="18" grpId="0" animBg="1"/>
      <p:bldP spid="19" grpId="0"/>
      <p:bldP spid="20" grpId="0"/>
      <p:bldP spid="21" grpId="0"/>
      <p:bldP spid="22" grpId="0"/>
      <p:bldP spid="23" grpId="0"/>
      <p:bldP spid="25" grpId="0" animBg="1"/>
      <p:bldP spid="26" grpId="0"/>
      <p:bldP spid="27" grpId="0"/>
      <p:bldP spid="28" grpId="0" animBg="1"/>
      <p:bldP spid="29" grpId="0"/>
      <p:bldP spid="30" grpId="0"/>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0A0A0A"/>
                </a:solidFill>
                <a:latin typeface="Segoe UI Semibold"/>
              </a:rPr>
              <a:t>Roadmap</a:t>
            </a:r>
          </a:p>
        </p:txBody>
      </p:sp>
      <p:sp>
        <p:nvSpPr>
          <p:cNvPr id="4" name="!!navline"/>
          <p:cNvSpPr/>
          <p:nvPr/>
        </p:nvSpPr>
        <p:spPr>
          <a:xfrm>
            <a:off x="10792663" y="621792"/>
            <a:ext cx="621792" cy="2286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6"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7"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8" name="!!page"/>
          <p:cNvSpPr txBox="1"/>
          <p:nvPr/>
        </p:nvSpPr>
        <p:spPr>
          <a:xfrm>
            <a:off x="10591495" y="6355080"/>
            <a:ext cx="914400" cy="228600"/>
          </a:xfrm>
          <a:prstGeom prst="rect">
            <a:avLst/>
          </a:prstGeom>
          <a:noFill/>
        </p:spPr>
        <p:txBody>
          <a:bodyPr wrap="square" lIns="0" tIns="0" rIns="0" bIns="0" anchor="t"/>
          <a:lstStyle/>
          <a:p>
            <a:pPr algn="r"/>
            <a:r>
              <a:rPr sz="900" b="0">
                <a:solidFill>
                  <a:srgbClr val="6E6E73"/>
                </a:solidFill>
                <a:latin typeface="Segoe UI"/>
              </a:rPr>
              <a:t>11</a:t>
            </a:r>
          </a:p>
        </p:txBody>
      </p:sp>
      <p:pic>
        <p:nvPicPr>
          <p:cNvPr id="9" name="el140" descr="w_goodbye.jpg"/>
          <p:cNvPicPr>
            <a:picLocks noChangeAspect="1"/>
          </p:cNvPicPr>
          <p:nvPr/>
        </p:nvPicPr>
        <p:blipFill>
          <a:blip r:embed="rId4"/>
          <a:srcRect l="13231" r="13231"/>
          <a:stretch>
            <a:fillRect/>
          </a:stretch>
        </p:blipFill>
        <p:spPr>
          <a:xfrm>
            <a:off x="5120640" y="1188720"/>
            <a:ext cx="6385255" cy="4846320"/>
          </a:xfrm>
          <a:prstGeom prst="roundRect">
            <a:avLst>
              <a:gd name="adj" fmla="val 3500"/>
            </a:avLst>
          </a:prstGeom>
        </p:spPr>
      </p:pic>
      <p:sp>
        <p:nvSpPr>
          <p:cNvPr id="10" name="el141"/>
          <p:cNvSpPr txBox="1"/>
          <p:nvPr/>
        </p:nvSpPr>
        <p:spPr>
          <a:xfrm>
            <a:off x="685800" y="2240280"/>
            <a:ext cx="4297680" cy="320040"/>
          </a:xfrm>
          <a:prstGeom prst="rect">
            <a:avLst/>
          </a:prstGeom>
          <a:noFill/>
        </p:spPr>
        <p:txBody>
          <a:bodyPr wrap="square" lIns="0" tIns="0" rIns="0" bIns="0" anchor="t"/>
          <a:lstStyle/>
          <a:p>
            <a:pPr algn="l"/>
            <a:r>
              <a:rPr sz="1400" b="0">
                <a:solidFill>
                  <a:srgbClr val="6E6E73"/>
                </a:solidFill>
                <a:latin typeface="Segoe UI"/>
              </a:rPr>
              <a:t>Remember her from the film?</a:t>
            </a:r>
          </a:p>
        </p:txBody>
      </p:sp>
      <p:sp>
        <p:nvSpPr>
          <p:cNvPr id="11" name="el142"/>
          <p:cNvSpPr txBox="1"/>
          <p:nvPr/>
        </p:nvSpPr>
        <p:spPr>
          <a:xfrm>
            <a:off x="658368" y="2606040"/>
            <a:ext cx="4389120" cy="1280160"/>
          </a:xfrm>
          <a:prstGeom prst="rect">
            <a:avLst/>
          </a:prstGeom>
          <a:noFill/>
        </p:spPr>
        <p:txBody>
          <a:bodyPr wrap="square" lIns="0" tIns="0" rIns="0" bIns="0" anchor="t"/>
          <a:lstStyle/>
          <a:p>
            <a:pPr algn="l">
              <a:lnSpc>
                <a:spcPct val="98000"/>
              </a:lnSpc>
            </a:pPr>
            <a:r>
              <a:rPr sz="4000" b="0">
                <a:solidFill>
                  <a:srgbClr val="0A0A0A"/>
                </a:solidFill>
                <a:latin typeface="Segoe UI"/>
              </a:rPr>
              <a:t>She isn’t</a:t>
            </a:r>
          </a:p>
          <a:p>
            <a:pPr algn="l">
              <a:lnSpc>
                <a:spcPct val="98000"/>
              </a:lnSpc>
            </a:pPr>
            <a:r>
              <a:rPr sz="4000" b="0">
                <a:solidFill>
                  <a:srgbClr val="0A0A0A"/>
                </a:solidFill>
                <a:latin typeface="Segoe UI"/>
              </a:rPr>
              <a:t>lost anymore.</a:t>
            </a:r>
          </a:p>
        </p:txBody>
      </p:sp>
      <p:sp>
        <p:nvSpPr>
          <p:cNvPr id="12" name="el143"/>
          <p:cNvSpPr txBox="1"/>
          <p:nvPr/>
        </p:nvSpPr>
        <p:spPr>
          <a:xfrm>
            <a:off x="685800" y="4069080"/>
            <a:ext cx="4297680" cy="731520"/>
          </a:xfrm>
          <a:prstGeom prst="rect">
            <a:avLst/>
          </a:prstGeom>
          <a:noFill/>
        </p:spPr>
        <p:txBody>
          <a:bodyPr wrap="square" lIns="0" tIns="0" rIns="0" bIns="0" anchor="t"/>
          <a:lstStyle/>
          <a:p>
            <a:pPr algn="l">
              <a:lnSpc>
                <a:spcPct val="110000"/>
              </a:lnSpc>
            </a:pPr>
            <a:r>
              <a:rPr sz="1800" b="0">
                <a:solidFill>
                  <a:srgbClr val="6E6E73"/>
                </a:solidFill>
                <a:latin typeface="Segoe UI"/>
              </a:rPr>
              <a:t>Let’s make sure your loved ones</a:t>
            </a:r>
          </a:p>
          <a:p>
            <a:pPr algn="l">
              <a:lnSpc>
                <a:spcPct val="110000"/>
              </a:lnSpc>
            </a:pPr>
            <a:r>
              <a:rPr sz="1800" b="0">
                <a:solidFill>
                  <a:srgbClr val="6E6E73"/>
                </a:solidFill>
                <a:latin typeface="Segoe UI"/>
              </a:rPr>
              <a:t>never walk a hospital alone.</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500"/>
                            </p:stCondLst>
                            <p:childTnLst>
                              <p:par>
                                <p:cTn id="9" presetID="42" presetClass="entr" presetSubtype="0" fill="hold" grpId="0" nodeType="afterEffect">
                                  <p:stCondLst>
                                    <p:cond delay="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250"/>
                                        <p:tgtEl>
                                          <p:spTgt spid="11"/>
                                        </p:tgtEl>
                                      </p:cBhvr>
                                    </p:animEffect>
                                    <p:anim calcmode="lin" valueType="num">
                                      <p:cBhvr>
                                        <p:cTn id="12" dur="250" fill="hold"/>
                                        <p:tgtEl>
                                          <p:spTgt spid="11"/>
                                        </p:tgtEl>
                                        <p:attrNameLst>
                                          <p:attrName>ppt_x</p:attrName>
                                        </p:attrNameLst>
                                      </p:cBhvr>
                                      <p:tavLst>
                                        <p:tav tm="0">
                                          <p:val>
                                            <p:strVal val="#ppt_x"/>
                                          </p:val>
                                        </p:tav>
                                        <p:tav tm="100000">
                                          <p:val>
                                            <p:strVal val="#ppt_x"/>
                                          </p:val>
                                        </p:tav>
                                      </p:tavLst>
                                    </p:anim>
                                    <p:anim calcmode="lin" valueType="num">
                                      <p:cBhvr>
                                        <p:cTn id="13" dur="250" fill="hold"/>
                                        <p:tgtEl>
                                          <p:spTgt spid="11"/>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250"/>
                                        <p:tgtEl>
                                          <p:spTgt spid="10"/>
                                        </p:tgtEl>
                                      </p:cBhvr>
                                    </p:animEffect>
                                    <p:anim calcmode="lin" valueType="num">
                                      <p:cBhvr>
                                        <p:cTn id="17" dur="250" fill="hold"/>
                                        <p:tgtEl>
                                          <p:spTgt spid="10"/>
                                        </p:tgtEl>
                                        <p:attrNameLst>
                                          <p:attrName>ppt_x</p:attrName>
                                        </p:attrNameLst>
                                      </p:cBhvr>
                                      <p:tavLst>
                                        <p:tav tm="0">
                                          <p:val>
                                            <p:strVal val="#ppt_x"/>
                                          </p:val>
                                        </p:tav>
                                        <p:tav tm="100000">
                                          <p:val>
                                            <p:strVal val="#ppt_x"/>
                                          </p:val>
                                        </p:tav>
                                      </p:tavLst>
                                    </p:anim>
                                    <p:anim calcmode="lin" valueType="num">
                                      <p:cBhvr>
                                        <p:cTn id="18" dur="250" fill="hold"/>
                                        <p:tgtEl>
                                          <p:spTgt spid="10"/>
                                        </p:tgtEl>
                                        <p:attrNameLst>
                                          <p:attrName>ppt_y</p:attrName>
                                        </p:attrNameLst>
                                      </p:cBhvr>
                                      <p:tavLst>
                                        <p:tav tm="0">
                                          <p:val>
                                            <p:strVal val="#ppt_y+.1"/>
                                          </p:val>
                                        </p:tav>
                                        <p:tav tm="100000">
                                          <p:val>
                                            <p:strVal val="#ppt_y"/>
                                          </p:val>
                                        </p:tav>
                                      </p:tavLst>
                                    </p:anim>
                                  </p:childTnLst>
                                </p:cTn>
                              </p:par>
                            </p:childTnLst>
                          </p:cTn>
                        </p:par>
                        <p:par>
                          <p:cTn id="19" fill="hold">
                            <p:stCondLst>
                              <p:cond delay="800"/>
                            </p:stCondLst>
                            <p:childTnLst>
                              <p:par>
                                <p:cTn id="20" presetID="10" presetClass="entr" presetSubtype="0" fill="hold" grpId="0" nodeType="afterEffect">
                                  <p:stCondLst>
                                    <p:cond delay="5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6"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7" name="el144"/>
          <p:cNvSpPr txBox="1"/>
          <p:nvPr/>
        </p:nvSpPr>
        <p:spPr>
          <a:xfrm>
            <a:off x="685800" y="914400"/>
            <a:ext cx="10515600" cy="548640"/>
          </a:xfrm>
          <a:prstGeom prst="rect">
            <a:avLst/>
          </a:prstGeom>
          <a:noFill/>
        </p:spPr>
        <p:txBody>
          <a:bodyPr wrap="square" lIns="0" tIns="0" rIns="0" bIns="0" anchor="t"/>
          <a:lstStyle/>
          <a:p>
            <a:pPr algn="l">
              <a:lnSpc>
                <a:spcPct val="102000"/>
              </a:lnSpc>
            </a:pPr>
            <a:r>
              <a:rPr sz="2800" b="0">
                <a:solidFill>
                  <a:srgbClr val="0A0A0A"/>
                </a:solidFill>
                <a:latin typeface="Segoe UI"/>
              </a:rPr>
              <a:t>This is us. </a:t>
            </a:r>
            <a:r>
              <a:rPr sz="2800" b="0">
                <a:solidFill>
                  <a:srgbClr val="8E8E93"/>
                </a:solidFill>
                <a:latin typeface="Segoe UI"/>
              </a:rPr>
              <a:t>Let’s talk.</a:t>
            </a:r>
          </a:p>
        </p:txBody>
      </p:sp>
      <p:pic>
        <p:nvPicPr>
          <p:cNvPr id="8" name="el145" descr="team_group_crop.jpg"/>
          <p:cNvPicPr>
            <a:picLocks noChangeAspect="1"/>
          </p:cNvPicPr>
          <p:nvPr/>
        </p:nvPicPr>
        <p:blipFill>
          <a:blip r:embed="rId4"/>
          <a:stretch>
            <a:fillRect/>
          </a:stretch>
        </p:blipFill>
        <p:spPr>
          <a:xfrm>
            <a:off x="685800" y="1481328"/>
            <a:ext cx="10820095" cy="4026253"/>
          </a:xfrm>
          <a:prstGeom prst="roundRect">
            <a:avLst>
              <a:gd name="adj" fmla="val 3500"/>
            </a:avLst>
          </a:prstGeom>
        </p:spPr>
      </p:pic>
      <p:cxnSp>
        <p:nvCxnSpPr>
          <p:cNvPr id="9" name="el146"/>
          <p:cNvCxnSpPr/>
          <p:nvPr/>
        </p:nvCxnSpPr>
        <p:spPr>
          <a:xfrm>
            <a:off x="3372422" y="4719995"/>
            <a:ext cx="0" cy="787586"/>
          </a:xfrm>
          <a:prstGeom prst="line">
            <a:avLst/>
          </a:prstGeom>
          <a:ln w="15875">
            <a:solidFill>
              <a:srgbClr val="FFFFFF"/>
            </a:solidFill>
          </a:ln>
        </p:spPr>
      </p:cxnSp>
      <p:cxnSp>
        <p:nvCxnSpPr>
          <p:cNvPr id="10" name="el147"/>
          <p:cNvCxnSpPr/>
          <p:nvPr/>
        </p:nvCxnSpPr>
        <p:spPr>
          <a:xfrm>
            <a:off x="3372422" y="5507581"/>
            <a:ext cx="0" cy="118872"/>
          </a:xfrm>
          <a:prstGeom prst="line">
            <a:avLst/>
          </a:prstGeom>
          <a:ln w="12700">
            <a:solidFill>
              <a:srgbClr val="0A0A0A"/>
            </a:solidFill>
          </a:ln>
        </p:spPr>
      </p:cxnSp>
      <p:sp>
        <p:nvSpPr>
          <p:cNvPr id="11" name="el148"/>
          <p:cNvSpPr/>
          <p:nvPr/>
        </p:nvSpPr>
        <p:spPr>
          <a:xfrm>
            <a:off x="3308414" y="4655987"/>
            <a:ext cx="128016" cy="128016"/>
          </a:xfrm>
          <a:prstGeom prst="ellipse">
            <a:avLst/>
          </a:prstGeom>
          <a:solidFill>
            <a:srgbClr val="FFFFFF"/>
          </a:solidFill>
          <a:ln w="15875">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el149"/>
          <p:cNvSpPr/>
          <p:nvPr/>
        </p:nvSpPr>
        <p:spPr>
          <a:xfrm>
            <a:off x="914400" y="5626453"/>
            <a:ext cx="2670048" cy="127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el150"/>
          <p:cNvSpPr txBox="1"/>
          <p:nvPr/>
        </p:nvSpPr>
        <p:spPr>
          <a:xfrm>
            <a:off x="914400" y="5708749"/>
            <a:ext cx="1783080" cy="256032"/>
          </a:xfrm>
          <a:prstGeom prst="rect">
            <a:avLst/>
          </a:prstGeom>
          <a:noFill/>
        </p:spPr>
        <p:txBody>
          <a:bodyPr wrap="square" lIns="0" tIns="0" rIns="0" bIns="0" anchor="t"/>
          <a:lstStyle/>
          <a:p>
            <a:pPr algn="l"/>
            <a:r>
              <a:rPr sz="1300" b="0">
                <a:solidFill>
                  <a:srgbClr val="0A0A0A"/>
                </a:solidFill>
                <a:latin typeface="Segoe UI Semibold"/>
              </a:rPr>
              <a:t>The Vinh Nguyen Trong</a:t>
            </a:r>
          </a:p>
        </p:txBody>
      </p:sp>
      <p:sp>
        <p:nvSpPr>
          <p:cNvPr id="14" name="el151"/>
          <p:cNvSpPr txBox="1"/>
          <p:nvPr/>
        </p:nvSpPr>
        <p:spPr>
          <a:xfrm>
            <a:off x="914400" y="5964781"/>
            <a:ext cx="1783080" cy="384048"/>
          </a:xfrm>
          <a:prstGeom prst="rect">
            <a:avLst/>
          </a:prstGeom>
          <a:noFill/>
        </p:spPr>
        <p:txBody>
          <a:bodyPr wrap="square" lIns="0" tIns="0" rIns="0" bIns="0" anchor="t"/>
          <a:lstStyle/>
          <a:p>
            <a:pPr algn="l">
              <a:lnSpc>
                <a:spcPct val="105000"/>
              </a:lnSpc>
            </a:pPr>
            <a:r>
              <a:rPr sz="1000" b="0">
                <a:solidFill>
                  <a:srgbClr val="6E6E73"/>
                </a:solidFill>
                <a:latin typeface="Segoe UI"/>
              </a:rPr>
              <a:t>Construction robotics and AI, RWTH Aachen</a:t>
            </a:r>
          </a:p>
        </p:txBody>
      </p:sp>
      <p:sp>
        <p:nvSpPr>
          <p:cNvPr id="15" name="el152"/>
          <p:cNvSpPr txBox="1"/>
          <p:nvPr/>
        </p:nvSpPr>
        <p:spPr>
          <a:xfrm>
            <a:off x="914400" y="6339685"/>
            <a:ext cx="1783080" cy="182880"/>
          </a:xfrm>
          <a:prstGeom prst="rect">
            <a:avLst/>
          </a:prstGeom>
          <a:noFill/>
        </p:spPr>
        <p:txBody>
          <a:bodyPr wrap="square" lIns="0" tIns="0" rIns="0" bIns="0" anchor="t"/>
          <a:lstStyle/>
          <a:p>
            <a:pPr algn="l"/>
            <a:r>
              <a:rPr sz="850" b="0">
                <a:solidFill>
                  <a:srgbClr val="8E8E93"/>
                </a:solidFill>
                <a:latin typeface="Segoe UI"/>
              </a:rPr>
              <a:t>LinkedIn →</a:t>
            </a:r>
          </a:p>
        </p:txBody>
      </p:sp>
      <p:pic>
        <p:nvPicPr>
          <p:cNvPr id="16" name="el153" descr="qr_vinh.png"/>
          <p:cNvPicPr>
            <a:picLocks noChangeAspect="1"/>
          </p:cNvPicPr>
          <p:nvPr/>
        </p:nvPicPr>
        <p:blipFill>
          <a:blip r:embed="rId5"/>
          <a:stretch>
            <a:fillRect/>
          </a:stretch>
        </p:blipFill>
        <p:spPr>
          <a:xfrm>
            <a:off x="2807208" y="5708749"/>
            <a:ext cx="777240" cy="777240"/>
          </a:xfrm>
          <a:prstGeom prst="rect">
            <a:avLst/>
          </a:prstGeom>
        </p:spPr>
      </p:pic>
      <p:cxnSp>
        <p:nvCxnSpPr>
          <p:cNvPr id="17" name="el154"/>
          <p:cNvCxnSpPr/>
          <p:nvPr/>
        </p:nvCxnSpPr>
        <p:spPr>
          <a:xfrm>
            <a:off x="4660528" y="5124829"/>
            <a:ext cx="0" cy="382752"/>
          </a:xfrm>
          <a:prstGeom prst="line">
            <a:avLst/>
          </a:prstGeom>
          <a:ln w="15875">
            <a:solidFill>
              <a:srgbClr val="FFFFFF"/>
            </a:solidFill>
          </a:ln>
        </p:spPr>
      </p:cxnSp>
      <p:cxnSp>
        <p:nvCxnSpPr>
          <p:cNvPr id="18" name="el155"/>
          <p:cNvCxnSpPr/>
          <p:nvPr/>
        </p:nvCxnSpPr>
        <p:spPr>
          <a:xfrm>
            <a:off x="4660528" y="5507581"/>
            <a:ext cx="0" cy="118872"/>
          </a:xfrm>
          <a:prstGeom prst="line">
            <a:avLst/>
          </a:prstGeom>
          <a:ln w="12700">
            <a:solidFill>
              <a:srgbClr val="0A0A0A"/>
            </a:solidFill>
          </a:ln>
        </p:spPr>
      </p:cxnSp>
      <p:sp>
        <p:nvSpPr>
          <p:cNvPr id="19" name="el156"/>
          <p:cNvSpPr/>
          <p:nvPr/>
        </p:nvSpPr>
        <p:spPr>
          <a:xfrm>
            <a:off x="4596520" y="5060821"/>
            <a:ext cx="128016" cy="128016"/>
          </a:xfrm>
          <a:prstGeom prst="ellipse">
            <a:avLst/>
          </a:prstGeom>
          <a:solidFill>
            <a:srgbClr val="FFFFFF"/>
          </a:solidFill>
          <a:ln w="15875">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el157"/>
          <p:cNvSpPr/>
          <p:nvPr/>
        </p:nvSpPr>
        <p:spPr>
          <a:xfrm>
            <a:off x="3931920" y="5626453"/>
            <a:ext cx="1463040" cy="127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el158"/>
          <p:cNvSpPr txBox="1"/>
          <p:nvPr/>
        </p:nvSpPr>
        <p:spPr>
          <a:xfrm>
            <a:off x="3931920" y="5708749"/>
            <a:ext cx="1463040" cy="256032"/>
          </a:xfrm>
          <a:prstGeom prst="rect">
            <a:avLst/>
          </a:prstGeom>
          <a:noFill/>
        </p:spPr>
        <p:txBody>
          <a:bodyPr wrap="square" lIns="0" tIns="0" rIns="0" bIns="0" anchor="t"/>
          <a:lstStyle/>
          <a:p>
            <a:pPr algn="l"/>
            <a:r>
              <a:rPr sz="1300" b="0" dirty="0" err="1">
                <a:solidFill>
                  <a:srgbClr val="0A0A0A"/>
                </a:solidFill>
                <a:latin typeface="Segoe UI Semibold"/>
              </a:rPr>
              <a:t>OttO</a:t>
            </a:r>
            <a:endParaRPr sz="1300" b="0" dirty="0">
              <a:solidFill>
                <a:srgbClr val="0A0A0A"/>
              </a:solidFill>
              <a:latin typeface="Segoe UI Semibold"/>
            </a:endParaRPr>
          </a:p>
        </p:txBody>
      </p:sp>
      <p:sp>
        <p:nvSpPr>
          <p:cNvPr id="22" name="el159"/>
          <p:cNvSpPr txBox="1"/>
          <p:nvPr/>
        </p:nvSpPr>
        <p:spPr>
          <a:xfrm>
            <a:off x="3931920" y="5964781"/>
            <a:ext cx="1463040" cy="384048"/>
          </a:xfrm>
          <a:prstGeom prst="rect">
            <a:avLst/>
          </a:prstGeom>
          <a:noFill/>
        </p:spPr>
        <p:txBody>
          <a:bodyPr wrap="square" lIns="0" tIns="0" rIns="0" bIns="0" anchor="t"/>
          <a:lstStyle/>
          <a:p>
            <a:pPr algn="l">
              <a:lnSpc>
                <a:spcPct val="105000"/>
              </a:lnSpc>
            </a:pPr>
            <a:r>
              <a:rPr sz="1000" b="0">
                <a:solidFill>
                  <a:srgbClr val="6E6E73"/>
                </a:solidFill>
                <a:latin typeface="Segoe UI"/>
              </a:rPr>
              <a:t>Our robot guide</a:t>
            </a:r>
          </a:p>
        </p:txBody>
      </p:sp>
      <p:cxnSp>
        <p:nvCxnSpPr>
          <p:cNvPr id="23" name="el160"/>
          <p:cNvCxnSpPr/>
          <p:nvPr/>
        </p:nvCxnSpPr>
        <p:spPr>
          <a:xfrm>
            <a:off x="8304030" y="4904011"/>
            <a:ext cx="0" cy="603570"/>
          </a:xfrm>
          <a:prstGeom prst="line">
            <a:avLst/>
          </a:prstGeom>
          <a:ln w="15875">
            <a:solidFill>
              <a:srgbClr val="FFFFFF"/>
            </a:solidFill>
          </a:ln>
        </p:spPr>
      </p:cxnSp>
      <p:cxnSp>
        <p:nvCxnSpPr>
          <p:cNvPr id="24" name="el161"/>
          <p:cNvCxnSpPr/>
          <p:nvPr/>
        </p:nvCxnSpPr>
        <p:spPr>
          <a:xfrm>
            <a:off x="8304030" y="5507581"/>
            <a:ext cx="0" cy="118872"/>
          </a:xfrm>
          <a:prstGeom prst="line">
            <a:avLst/>
          </a:prstGeom>
          <a:ln w="12700">
            <a:solidFill>
              <a:srgbClr val="0A0A0A"/>
            </a:solidFill>
          </a:ln>
        </p:spPr>
      </p:cxnSp>
      <p:sp>
        <p:nvSpPr>
          <p:cNvPr id="25" name="el162"/>
          <p:cNvSpPr/>
          <p:nvPr/>
        </p:nvSpPr>
        <p:spPr>
          <a:xfrm>
            <a:off x="8240022" y="4840003"/>
            <a:ext cx="128016" cy="128016"/>
          </a:xfrm>
          <a:prstGeom prst="ellipse">
            <a:avLst/>
          </a:prstGeom>
          <a:solidFill>
            <a:srgbClr val="FFFFFF"/>
          </a:solidFill>
          <a:ln w="15875">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el163"/>
          <p:cNvSpPr/>
          <p:nvPr/>
        </p:nvSpPr>
        <p:spPr>
          <a:xfrm>
            <a:off x="5852160" y="5626453"/>
            <a:ext cx="2670048" cy="127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el164"/>
          <p:cNvSpPr txBox="1"/>
          <p:nvPr/>
        </p:nvSpPr>
        <p:spPr>
          <a:xfrm>
            <a:off x="5852160" y="5708749"/>
            <a:ext cx="1783080" cy="256032"/>
          </a:xfrm>
          <a:prstGeom prst="rect">
            <a:avLst/>
          </a:prstGeom>
          <a:noFill/>
        </p:spPr>
        <p:txBody>
          <a:bodyPr wrap="square" lIns="0" tIns="0" rIns="0" bIns="0" anchor="t"/>
          <a:lstStyle/>
          <a:p>
            <a:pPr algn="l"/>
            <a:r>
              <a:rPr sz="1300" b="0" dirty="0">
                <a:solidFill>
                  <a:srgbClr val="0A0A0A"/>
                </a:solidFill>
                <a:latin typeface="Segoe UI Semibold"/>
              </a:rPr>
              <a:t>Sebastian Jack Maier</a:t>
            </a:r>
          </a:p>
        </p:txBody>
      </p:sp>
      <p:sp>
        <p:nvSpPr>
          <p:cNvPr id="28" name="el165"/>
          <p:cNvSpPr txBox="1"/>
          <p:nvPr/>
        </p:nvSpPr>
        <p:spPr>
          <a:xfrm>
            <a:off x="5852160" y="5964781"/>
            <a:ext cx="1783080" cy="384048"/>
          </a:xfrm>
          <a:prstGeom prst="rect">
            <a:avLst/>
          </a:prstGeom>
          <a:noFill/>
        </p:spPr>
        <p:txBody>
          <a:bodyPr wrap="square" lIns="0" tIns="0" rIns="0" bIns="0" anchor="t"/>
          <a:lstStyle/>
          <a:p>
            <a:pPr algn="l">
              <a:lnSpc>
                <a:spcPct val="105000"/>
              </a:lnSpc>
            </a:pPr>
            <a:r>
              <a:rPr sz="1000" b="0">
                <a:solidFill>
                  <a:srgbClr val="6E6E73"/>
                </a:solidFill>
                <a:latin typeface="Segoe UI"/>
              </a:rPr>
              <a:t>Cognitive computer science (AI), Bielefeld University</a:t>
            </a:r>
          </a:p>
        </p:txBody>
      </p:sp>
      <p:sp>
        <p:nvSpPr>
          <p:cNvPr id="29" name="el166"/>
          <p:cNvSpPr txBox="1"/>
          <p:nvPr/>
        </p:nvSpPr>
        <p:spPr>
          <a:xfrm>
            <a:off x="5852160" y="6339685"/>
            <a:ext cx="1783080" cy="182880"/>
          </a:xfrm>
          <a:prstGeom prst="rect">
            <a:avLst/>
          </a:prstGeom>
          <a:noFill/>
        </p:spPr>
        <p:txBody>
          <a:bodyPr wrap="square" lIns="0" tIns="0" rIns="0" bIns="0" anchor="t"/>
          <a:lstStyle/>
          <a:p>
            <a:pPr algn="l"/>
            <a:r>
              <a:rPr sz="850" b="0">
                <a:solidFill>
                  <a:srgbClr val="8E8E93"/>
                </a:solidFill>
                <a:latin typeface="Segoe UI"/>
              </a:rPr>
              <a:t>LinkedIn →</a:t>
            </a:r>
          </a:p>
        </p:txBody>
      </p:sp>
      <p:pic>
        <p:nvPicPr>
          <p:cNvPr id="30" name="el167" descr="qr_sebastian.png"/>
          <p:cNvPicPr>
            <a:picLocks noChangeAspect="1"/>
          </p:cNvPicPr>
          <p:nvPr/>
        </p:nvPicPr>
        <p:blipFill>
          <a:blip r:embed="rId6"/>
          <a:stretch>
            <a:fillRect/>
          </a:stretch>
        </p:blipFill>
        <p:spPr>
          <a:xfrm>
            <a:off x="7744967" y="5708749"/>
            <a:ext cx="777240" cy="777240"/>
          </a:xfrm>
          <a:prstGeom prst="rect">
            <a:avLst/>
          </a:prstGeom>
        </p:spPr>
      </p:pic>
      <p:cxnSp>
        <p:nvCxnSpPr>
          <p:cNvPr id="31" name="el168"/>
          <p:cNvCxnSpPr/>
          <p:nvPr/>
        </p:nvCxnSpPr>
        <p:spPr>
          <a:xfrm>
            <a:off x="10033773" y="4904011"/>
            <a:ext cx="0" cy="603570"/>
          </a:xfrm>
          <a:prstGeom prst="line">
            <a:avLst/>
          </a:prstGeom>
          <a:ln w="15875">
            <a:solidFill>
              <a:srgbClr val="FFFFFF"/>
            </a:solidFill>
          </a:ln>
        </p:spPr>
      </p:cxnSp>
      <p:cxnSp>
        <p:nvCxnSpPr>
          <p:cNvPr id="32" name="el169"/>
          <p:cNvCxnSpPr/>
          <p:nvPr/>
        </p:nvCxnSpPr>
        <p:spPr>
          <a:xfrm>
            <a:off x="10033773" y="5507581"/>
            <a:ext cx="0" cy="118872"/>
          </a:xfrm>
          <a:prstGeom prst="line">
            <a:avLst/>
          </a:prstGeom>
          <a:ln w="12700">
            <a:solidFill>
              <a:srgbClr val="0A0A0A"/>
            </a:solidFill>
          </a:ln>
        </p:spPr>
      </p:cxnSp>
      <p:sp>
        <p:nvSpPr>
          <p:cNvPr id="33" name="el170"/>
          <p:cNvSpPr/>
          <p:nvPr/>
        </p:nvSpPr>
        <p:spPr>
          <a:xfrm>
            <a:off x="9969765" y="4840003"/>
            <a:ext cx="128016" cy="128016"/>
          </a:xfrm>
          <a:prstGeom prst="ellipse">
            <a:avLst/>
          </a:prstGeom>
          <a:solidFill>
            <a:srgbClr val="FFFFFF"/>
          </a:solidFill>
          <a:ln w="15875">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el171"/>
          <p:cNvSpPr/>
          <p:nvPr/>
        </p:nvSpPr>
        <p:spPr>
          <a:xfrm>
            <a:off x="8833104" y="5626453"/>
            <a:ext cx="2670048" cy="127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el172"/>
          <p:cNvSpPr txBox="1"/>
          <p:nvPr/>
        </p:nvSpPr>
        <p:spPr>
          <a:xfrm>
            <a:off x="8833104" y="5708749"/>
            <a:ext cx="1783080" cy="256032"/>
          </a:xfrm>
          <a:prstGeom prst="rect">
            <a:avLst/>
          </a:prstGeom>
          <a:noFill/>
        </p:spPr>
        <p:txBody>
          <a:bodyPr wrap="square" lIns="0" tIns="0" rIns="0" bIns="0" anchor="t"/>
          <a:lstStyle/>
          <a:p>
            <a:pPr algn="l"/>
            <a:r>
              <a:rPr lang="en-GB" sz="1300" b="0" dirty="0">
                <a:solidFill>
                  <a:srgbClr val="0A0A0A"/>
                </a:solidFill>
                <a:latin typeface="Segoe UI Semibold"/>
              </a:rPr>
              <a:t>Dr. </a:t>
            </a:r>
            <a:r>
              <a:rPr sz="1300" b="0" dirty="0">
                <a:solidFill>
                  <a:srgbClr val="0A0A0A"/>
                </a:solidFill>
                <a:latin typeface="Segoe UI Semibold"/>
              </a:rPr>
              <a:t>Evgenii </a:t>
            </a:r>
            <a:r>
              <a:rPr sz="1300" b="0" dirty="0" err="1">
                <a:solidFill>
                  <a:srgbClr val="0A0A0A"/>
                </a:solidFill>
                <a:latin typeface="Segoe UI Semibold"/>
              </a:rPr>
              <a:t>Pustozerov</a:t>
            </a:r>
            <a:endParaRPr sz="1300" b="0" dirty="0">
              <a:solidFill>
                <a:srgbClr val="0A0A0A"/>
              </a:solidFill>
              <a:latin typeface="Segoe UI Semibold"/>
            </a:endParaRPr>
          </a:p>
        </p:txBody>
      </p:sp>
      <p:sp>
        <p:nvSpPr>
          <p:cNvPr id="36" name="el173"/>
          <p:cNvSpPr txBox="1"/>
          <p:nvPr/>
        </p:nvSpPr>
        <p:spPr>
          <a:xfrm>
            <a:off x="8833104" y="5964781"/>
            <a:ext cx="1783080" cy="384048"/>
          </a:xfrm>
          <a:prstGeom prst="rect">
            <a:avLst/>
          </a:prstGeom>
          <a:noFill/>
        </p:spPr>
        <p:txBody>
          <a:bodyPr wrap="square" lIns="0" tIns="0" rIns="0" bIns="0" anchor="t"/>
          <a:lstStyle/>
          <a:p>
            <a:pPr algn="l">
              <a:lnSpc>
                <a:spcPct val="105000"/>
              </a:lnSpc>
            </a:pPr>
            <a:r>
              <a:rPr sz="1000" b="0">
                <a:solidFill>
                  <a:srgbClr val="6E6E73"/>
                </a:solidFill>
                <a:latin typeface="Segoe UI"/>
              </a:rPr>
              <a:t>ML researcher, medical assistance systems</a:t>
            </a:r>
          </a:p>
        </p:txBody>
      </p:sp>
      <p:sp>
        <p:nvSpPr>
          <p:cNvPr id="37" name="el174"/>
          <p:cNvSpPr txBox="1"/>
          <p:nvPr/>
        </p:nvSpPr>
        <p:spPr>
          <a:xfrm>
            <a:off x="8833104" y="6339685"/>
            <a:ext cx="1783080" cy="182880"/>
          </a:xfrm>
          <a:prstGeom prst="rect">
            <a:avLst/>
          </a:prstGeom>
          <a:noFill/>
        </p:spPr>
        <p:txBody>
          <a:bodyPr wrap="square" lIns="0" tIns="0" rIns="0" bIns="0" anchor="t"/>
          <a:lstStyle/>
          <a:p>
            <a:pPr algn="l"/>
            <a:r>
              <a:rPr sz="850" b="0">
                <a:solidFill>
                  <a:srgbClr val="8E8E93"/>
                </a:solidFill>
                <a:latin typeface="Segoe UI"/>
              </a:rPr>
              <a:t>LinkedIn →</a:t>
            </a:r>
          </a:p>
        </p:txBody>
      </p:sp>
      <p:pic>
        <p:nvPicPr>
          <p:cNvPr id="38" name="el175" descr="qr_evgenii.png"/>
          <p:cNvPicPr>
            <a:picLocks noChangeAspect="1"/>
          </p:cNvPicPr>
          <p:nvPr/>
        </p:nvPicPr>
        <p:blipFill>
          <a:blip r:embed="rId7"/>
          <a:stretch>
            <a:fillRect/>
          </a:stretch>
        </p:blipFill>
        <p:spPr>
          <a:xfrm>
            <a:off x="10725911" y="5708749"/>
            <a:ext cx="777240" cy="7772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5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50"/>
                                        <p:tgtEl>
                                          <p:spTgt spid="8"/>
                                        </p:tgtEl>
                                      </p:cBhvr>
                                    </p:animEffect>
                                  </p:childTnLst>
                                </p:cTn>
                              </p:par>
                            </p:childTnLst>
                          </p:cTn>
                        </p:par>
                        <p:par>
                          <p:cTn id="14" fill="hold">
                            <p:stCondLst>
                              <p:cond delay="800"/>
                            </p:stCondLst>
                            <p:childTnLst>
                              <p:par>
                                <p:cTn id="15" presetID="42" presetClass="entr" presetSubtype="0" fill="hold" grpId="0" nodeType="afterEffect">
                                  <p:stCondLst>
                                    <p:cond delay="5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250"/>
                                        <p:tgtEl>
                                          <p:spTgt spid="14"/>
                                        </p:tgtEl>
                                      </p:cBhvr>
                                    </p:animEffect>
                                    <p:anim calcmode="lin" valueType="num">
                                      <p:cBhvr>
                                        <p:cTn id="18" dur="250" fill="hold"/>
                                        <p:tgtEl>
                                          <p:spTgt spid="14"/>
                                        </p:tgtEl>
                                        <p:attrNameLst>
                                          <p:attrName>ppt_x</p:attrName>
                                        </p:attrNameLst>
                                      </p:cBhvr>
                                      <p:tavLst>
                                        <p:tav tm="0">
                                          <p:val>
                                            <p:strVal val="#ppt_x"/>
                                          </p:val>
                                        </p:tav>
                                        <p:tav tm="100000">
                                          <p:val>
                                            <p:strVal val="#ppt_x"/>
                                          </p:val>
                                        </p:tav>
                                      </p:tavLst>
                                    </p:anim>
                                    <p:anim calcmode="lin" valueType="num">
                                      <p:cBhvr>
                                        <p:cTn id="19" dur="25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50"/>
                                        <p:tgtEl>
                                          <p:spTgt spid="13"/>
                                        </p:tgtEl>
                                      </p:cBhvr>
                                    </p:animEffect>
                                    <p:anim calcmode="lin" valueType="num">
                                      <p:cBhvr>
                                        <p:cTn id="23" dur="250" fill="hold"/>
                                        <p:tgtEl>
                                          <p:spTgt spid="13"/>
                                        </p:tgtEl>
                                        <p:attrNameLst>
                                          <p:attrName>ppt_x</p:attrName>
                                        </p:attrNameLst>
                                      </p:cBhvr>
                                      <p:tavLst>
                                        <p:tav tm="0">
                                          <p:val>
                                            <p:strVal val="#ppt_x"/>
                                          </p:val>
                                        </p:tav>
                                        <p:tav tm="100000">
                                          <p:val>
                                            <p:strVal val="#ppt_x"/>
                                          </p:val>
                                        </p:tav>
                                      </p:tavLst>
                                    </p:anim>
                                    <p:anim calcmode="lin" valueType="num">
                                      <p:cBhvr>
                                        <p:cTn id="24" dur="25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250"/>
                                        <p:tgtEl>
                                          <p:spTgt spid="16"/>
                                        </p:tgtEl>
                                      </p:cBhvr>
                                    </p:animEffect>
                                    <p:anim calcmode="lin" valueType="num">
                                      <p:cBhvr>
                                        <p:cTn id="28" dur="250" fill="hold"/>
                                        <p:tgtEl>
                                          <p:spTgt spid="16"/>
                                        </p:tgtEl>
                                        <p:attrNameLst>
                                          <p:attrName>ppt_x</p:attrName>
                                        </p:attrNameLst>
                                      </p:cBhvr>
                                      <p:tavLst>
                                        <p:tav tm="0">
                                          <p:val>
                                            <p:strVal val="#ppt_x"/>
                                          </p:val>
                                        </p:tav>
                                        <p:tav tm="100000">
                                          <p:val>
                                            <p:strVal val="#ppt_x"/>
                                          </p:val>
                                        </p:tav>
                                      </p:tavLst>
                                    </p:anim>
                                    <p:anim calcmode="lin" valueType="num">
                                      <p:cBhvr>
                                        <p:cTn id="29" dur="25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250"/>
                                        <p:tgtEl>
                                          <p:spTgt spid="15"/>
                                        </p:tgtEl>
                                      </p:cBhvr>
                                    </p:animEffect>
                                    <p:anim calcmode="lin" valueType="num">
                                      <p:cBhvr>
                                        <p:cTn id="33" dur="250" fill="hold"/>
                                        <p:tgtEl>
                                          <p:spTgt spid="15"/>
                                        </p:tgtEl>
                                        <p:attrNameLst>
                                          <p:attrName>ppt_x</p:attrName>
                                        </p:attrNameLst>
                                      </p:cBhvr>
                                      <p:tavLst>
                                        <p:tav tm="0">
                                          <p:val>
                                            <p:strVal val="#ppt_x"/>
                                          </p:val>
                                        </p:tav>
                                        <p:tav tm="100000">
                                          <p:val>
                                            <p:strVal val="#ppt_x"/>
                                          </p:val>
                                        </p:tav>
                                      </p:tavLst>
                                    </p:anim>
                                    <p:anim calcmode="lin" valueType="num">
                                      <p:cBhvr>
                                        <p:cTn id="34" dur="250" fill="hold"/>
                                        <p:tgtEl>
                                          <p:spTgt spid="15"/>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250"/>
                                        <p:tgtEl>
                                          <p:spTgt spid="10"/>
                                        </p:tgtEl>
                                      </p:cBhvr>
                                    </p:animEffect>
                                    <p:anim calcmode="lin" valueType="num">
                                      <p:cBhvr>
                                        <p:cTn id="38" dur="250" fill="hold"/>
                                        <p:tgtEl>
                                          <p:spTgt spid="10"/>
                                        </p:tgtEl>
                                        <p:attrNameLst>
                                          <p:attrName>ppt_x</p:attrName>
                                        </p:attrNameLst>
                                      </p:cBhvr>
                                      <p:tavLst>
                                        <p:tav tm="0">
                                          <p:val>
                                            <p:strVal val="#ppt_x"/>
                                          </p:val>
                                        </p:tav>
                                        <p:tav tm="100000">
                                          <p:val>
                                            <p:strVal val="#ppt_x"/>
                                          </p:val>
                                        </p:tav>
                                      </p:tavLst>
                                    </p:anim>
                                    <p:anim calcmode="lin" valueType="num">
                                      <p:cBhvr>
                                        <p:cTn id="39" dur="2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50"/>
                                        <p:tgtEl>
                                          <p:spTgt spid="9"/>
                                        </p:tgtEl>
                                      </p:cBhvr>
                                    </p:animEffect>
                                    <p:anim calcmode="lin" valueType="num">
                                      <p:cBhvr>
                                        <p:cTn id="43" dur="250" fill="hold"/>
                                        <p:tgtEl>
                                          <p:spTgt spid="9"/>
                                        </p:tgtEl>
                                        <p:attrNameLst>
                                          <p:attrName>ppt_x</p:attrName>
                                        </p:attrNameLst>
                                      </p:cBhvr>
                                      <p:tavLst>
                                        <p:tav tm="0">
                                          <p:val>
                                            <p:strVal val="#ppt_x"/>
                                          </p:val>
                                        </p:tav>
                                        <p:tav tm="100000">
                                          <p:val>
                                            <p:strVal val="#ppt_x"/>
                                          </p:val>
                                        </p:tav>
                                      </p:tavLst>
                                    </p:anim>
                                    <p:anim calcmode="lin" valueType="num">
                                      <p:cBhvr>
                                        <p:cTn id="44" dur="25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250"/>
                                        <p:tgtEl>
                                          <p:spTgt spid="12"/>
                                        </p:tgtEl>
                                      </p:cBhvr>
                                    </p:animEffect>
                                    <p:anim calcmode="lin" valueType="num">
                                      <p:cBhvr>
                                        <p:cTn id="48" dur="250" fill="hold"/>
                                        <p:tgtEl>
                                          <p:spTgt spid="12"/>
                                        </p:tgtEl>
                                        <p:attrNameLst>
                                          <p:attrName>ppt_x</p:attrName>
                                        </p:attrNameLst>
                                      </p:cBhvr>
                                      <p:tavLst>
                                        <p:tav tm="0">
                                          <p:val>
                                            <p:strVal val="#ppt_x"/>
                                          </p:val>
                                        </p:tav>
                                        <p:tav tm="100000">
                                          <p:val>
                                            <p:strVal val="#ppt_x"/>
                                          </p:val>
                                        </p:tav>
                                      </p:tavLst>
                                    </p:anim>
                                    <p:anim calcmode="lin" valueType="num">
                                      <p:cBhvr>
                                        <p:cTn id="49" dur="2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50"/>
                                        <p:tgtEl>
                                          <p:spTgt spid="11"/>
                                        </p:tgtEl>
                                      </p:cBhvr>
                                    </p:animEffect>
                                    <p:anim calcmode="lin" valueType="num">
                                      <p:cBhvr>
                                        <p:cTn id="53" dur="250" fill="hold"/>
                                        <p:tgtEl>
                                          <p:spTgt spid="11"/>
                                        </p:tgtEl>
                                        <p:attrNameLst>
                                          <p:attrName>ppt_x</p:attrName>
                                        </p:attrNameLst>
                                      </p:cBhvr>
                                      <p:tavLst>
                                        <p:tav tm="0">
                                          <p:val>
                                            <p:strVal val="#ppt_x"/>
                                          </p:val>
                                        </p:tav>
                                        <p:tav tm="100000">
                                          <p:val>
                                            <p:strVal val="#ppt_x"/>
                                          </p:val>
                                        </p:tav>
                                      </p:tavLst>
                                    </p:anim>
                                    <p:anim calcmode="lin" valueType="num">
                                      <p:cBhvr>
                                        <p:cTn id="54" dur="250" fill="hold"/>
                                        <p:tgtEl>
                                          <p:spTgt spid="11"/>
                                        </p:tgtEl>
                                        <p:attrNameLst>
                                          <p:attrName>ppt_y</p:attrName>
                                        </p:attrNameLst>
                                      </p:cBhvr>
                                      <p:tavLst>
                                        <p:tav tm="0">
                                          <p:val>
                                            <p:strVal val="#ppt_y+.1"/>
                                          </p:val>
                                        </p:tav>
                                        <p:tav tm="100000">
                                          <p:val>
                                            <p:strVal val="#ppt_y"/>
                                          </p:val>
                                        </p:tav>
                                      </p:tavLst>
                                    </p:anim>
                                  </p:childTnLst>
                                </p:cTn>
                              </p:par>
                            </p:childTnLst>
                          </p:cTn>
                        </p:par>
                        <p:par>
                          <p:cTn id="55" fill="hold">
                            <p:stCondLst>
                              <p:cond delay="1100"/>
                            </p:stCondLst>
                            <p:childTnLst>
                              <p:par>
                                <p:cTn id="56" presetID="42" presetClass="entr" presetSubtype="0" fill="hold" grpId="0" nodeType="afterEffect">
                                  <p:stCondLst>
                                    <p:cond delay="5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50"/>
                                        <p:tgtEl>
                                          <p:spTgt spid="20"/>
                                        </p:tgtEl>
                                      </p:cBhvr>
                                    </p:animEffect>
                                    <p:anim calcmode="lin" valueType="num">
                                      <p:cBhvr>
                                        <p:cTn id="59" dur="250" fill="hold"/>
                                        <p:tgtEl>
                                          <p:spTgt spid="20"/>
                                        </p:tgtEl>
                                        <p:attrNameLst>
                                          <p:attrName>ppt_x</p:attrName>
                                        </p:attrNameLst>
                                      </p:cBhvr>
                                      <p:tavLst>
                                        <p:tav tm="0">
                                          <p:val>
                                            <p:strVal val="#ppt_x"/>
                                          </p:val>
                                        </p:tav>
                                        <p:tav tm="100000">
                                          <p:val>
                                            <p:strVal val="#ppt_x"/>
                                          </p:val>
                                        </p:tav>
                                      </p:tavLst>
                                    </p:anim>
                                    <p:anim calcmode="lin" valueType="num">
                                      <p:cBhvr>
                                        <p:cTn id="60" dur="250" fill="hold"/>
                                        <p:tgtEl>
                                          <p:spTgt spid="20"/>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250"/>
                                        <p:tgtEl>
                                          <p:spTgt spid="21"/>
                                        </p:tgtEl>
                                      </p:cBhvr>
                                    </p:animEffect>
                                    <p:anim calcmode="lin" valueType="num">
                                      <p:cBhvr>
                                        <p:cTn id="64" dur="250" fill="hold"/>
                                        <p:tgtEl>
                                          <p:spTgt spid="21"/>
                                        </p:tgtEl>
                                        <p:attrNameLst>
                                          <p:attrName>ppt_x</p:attrName>
                                        </p:attrNameLst>
                                      </p:cBhvr>
                                      <p:tavLst>
                                        <p:tav tm="0">
                                          <p:val>
                                            <p:strVal val="#ppt_x"/>
                                          </p:val>
                                        </p:tav>
                                        <p:tav tm="100000">
                                          <p:val>
                                            <p:strVal val="#ppt_x"/>
                                          </p:val>
                                        </p:tav>
                                      </p:tavLst>
                                    </p:anim>
                                    <p:anim calcmode="lin" valueType="num">
                                      <p:cBhvr>
                                        <p:cTn id="65" dur="250" fill="hold"/>
                                        <p:tgtEl>
                                          <p:spTgt spid="21"/>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250"/>
                                        <p:tgtEl>
                                          <p:spTgt spid="22"/>
                                        </p:tgtEl>
                                      </p:cBhvr>
                                    </p:animEffect>
                                    <p:anim calcmode="lin" valueType="num">
                                      <p:cBhvr>
                                        <p:cTn id="69" dur="250" fill="hold"/>
                                        <p:tgtEl>
                                          <p:spTgt spid="22"/>
                                        </p:tgtEl>
                                        <p:attrNameLst>
                                          <p:attrName>ppt_x</p:attrName>
                                        </p:attrNameLst>
                                      </p:cBhvr>
                                      <p:tavLst>
                                        <p:tav tm="0">
                                          <p:val>
                                            <p:strVal val="#ppt_x"/>
                                          </p:val>
                                        </p:tav>
                                        <p:tav tm="100000">
                                          <p:val>
                                            <p:strVal val="#ppt_x"/>
                                          </p:val>
                                        </p:tav>
                                      </p:tavLst>
                                    </p:anim>
                                    <p:anim calcmode="lin" valueType="num">
                                      <p:cBhvr>
                                        <p:cTn id="70" dur="250" fill="hold"/>
                                        <p:tgtEl>
                                          <p:spTgt spid="22"/>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250"/>
                                        <p:tgtEl>
                                          <p:spTgt spid="17"/>
                                        </p:tgtEl>
                                      </p:cBhvr>
                                    </p:animEffect>
                                    <p:anim calcmode="lin" valueType="num">
                                      <p:cBhvr>
                                        <p:cTn id="74" dur="250" fill="hold"/>
                                        <p:tgtEl>
                                          <p:spTgt spid="17"/>
                                        </p:tgtEl>
                                        <p:attrNameLst>
                                          <p:attrName>ppt_x</p:attrName>
                                        </p:attrNameLst>
                                      </p:cBhvr>
                                      <p:tavLst>
                                        <p:tav tm="0">
                                          <p:val>
                                            <p:strVal val="#ppt_x"/>
                                          </p:val>
                                        </p:tav>
                                        <p:tav tm="100000">
                                          <p:val>
                                            <p:strVal val="#ppt_x"/>
                                          </p:val>
                                        </p:tav>
                                      </p:tavLst>
                                    </p:anim>
                                    <p:anim calcmode="lin" valueType="num">
                                      <p:cBhvr>
                                        <p:cTn id="75" dur="250" fill="hold"/>
                                        <p:tgtEl>
                                          <p:spTgt spid="17"/>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250"/>
                                        <p:tgtEl>
                                          <p:spTgt spid="18"/>
                                        </p:tgtEl>
                                      </p:cBhvr>
                                    </p:animEffect>
                                    <p:anim calcmode="lin" valueType="num">
                                      <p:cBhvr>
                                        <p:cTn id="79" dur="250" fill="hold"/>
                                        <p:tgtEl>
                                          <p:spTgt spid="18"/>
                                        </p:tgtEl>
                                        <p:attrNameLst>
                                          <p:attrName>ppt_x</p:attrName>
                                        </p:attrNameLst>
                                      </p:cBhvr>
                                      <p:tavLst>
                                        <p:tav tm="0">
                                          <p:val>
                                            <p:strVal val="#ppt_x"/>
                                          </p:val>
                                        </p:tav>
                                        <p:tav tm="100000">
                                          <p:val>
                                            <p:strVal val="#ppt_x"/>
                                          </p:val>
                                        </p:tav>
                                      </p:tavLst>
                                    </p:anim>
                                    <p:anim calcmode="lin" valueType="num">
                                      <p:cBhvr>
                                        <p:cTn id="80" dur="250" fill="hold"/>
                                        <p:tgtEl>
                                          <p:spTgt spid="18"/>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250"/>
                                        <p:tgtEl>
                                          <p:spTgt spid="19"/>
                                        </p:tgtEl>
                                      </p:cBhvr>
                                    </p:animEffect>
                                    <p:anim calcmode="lin" valueType="num">
                                      <p:cBhvr>
                                        <p:cTn id="84" dur="250" fill="hold"/>
                                        <p:tgtEl>
                                          <p:spTgt spid="19"/>
                                        </p:tgtEl>
                                        <p:attrNameLst>
                                          <p:attrName>ppt_x</p:attrName>
                                        </p:attrNameLst>
                                      </p:cBhvr>
                                      <p:tavLst>
                                        <p:tav tm="0">
                                          <p:val>
                                            <p:strVal val="#ppt_x"/>
                                          </p:val>
                                        </p:tav>
                                        <p:tav tm="100000">
                                          <p:val>
                                            <p:strVal val="#ppt_x"/>
                                          </p:val>
                                        </p:tav>
                                      </p:tavLst>
                                    </p:anim>
                                    <p:anim calcmode="lin" valueType="num">
                                      <p:cBhvr>
                                        <p:cTn id="85" dur="250" fill="hold"/>
                                        <p:tgtEl>
                                          <p:spTgt spid="19"/>
                                        </p:tgtEl>
                                        <p:attrNameLst>
                                          <p:attrName>ppt_y</p:attrName>
                                        </p:attrNameLst>
                                      </p:cBhvr>
                                      <p:tavLst>
                                        <p:tav tm="0">
                                          <p:val>
                                            <p:strVal val="#ppt_y+.1"/>
                                          </p:val>
                                        </p:tav>
                                        <p:tav tm="100000">
                                          <p:val>
                                            <p:strVal val="#ppt_y"/>
                                          </p:val>
                                        </p:tav>
                                      </p:tavLst>
                                    </p:anim>
                                  </p:childTnLst>
                                </p:cTn>
                              </p:par>
                            </p:childTnLst>
                          </p:cTn>
                        </p:par>
                        <p:par>
                          <p:cTn id="86" fill="hold">
                            <p:stCondLst>
                              <p:cond delay="1400"/>
                            </p:stCondLst>
                            <p:childTnLst>
                              <p:par>
                                <p:cTn id="87" presetID="42" presetClass="entr" presetSubtype="0" fill="hold" grpId="0" nodeType="afterEffect">
                                  <p:stCondLst>
                                    <p:cond delay="5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250"/>
                                        <p:tgtEl>
                                          <p:spTgt spid="28"/>
                                        </p:tgtEl>
                                      </p:cBhvr>
                                    </p:animEffect>
                                    <p:anim calcmode="lin" valueType="num">
                                      <p:cBhvr>
                                        <p:cTn id="90" dur="250" fill="hold"/>
                                        <p:tgtEl>
                                          <p:spTgt spid="28"/>
                                        </p:tgtEl>
                                        <p:attrNameLst>
                                          <p:attrName>ppt_x</p:attrName>
                                        </p:attrNameLst>
                                      </p:cBhvr>
                                      <p:tavLst>
                                        <p:tav tm="0">
                                          <p:val>
                                            <p:strVal val="#ppt_x"/>
                                          </p:val>
                                        </p:tav>
                                        <p:tav tm="100000">
                                          <p:val>
                                            <p:strVal val="#ppt_x"/>
                                          </p:val>
                                        </p:tav>
                                      </p:tavLst>
                                    </p:anim>
                                    <p:anim calcmode="lin" valueType="num">
                                      <p:cBhvr>
                                        <p:cTn id="91" dur="250" fill="hold"/>
                                        <p:tgtEl>
                                          <p:spTgt spid="28"/>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7"/>
                                        </p:tgtEl>
                                        <p:attrNameLst>
                                          <p:attrName>style.visibility</p:attrName>
                                        </p:attrNameLst>
                                      </p:cBhvr>
                                      <p:to>
                                        <p:strVal val="visible"/>
                                      </p:to>
                                    </p:set>
                                    <p:animEffect transition="in" filter="fade">
                                      <p:cBhvr>
                                        <p:cTn id="94" dur="250"/>
                                        <p:tgtEl>
                                          <p:spTgt spid="27"/>
                                        </p:tgtEl>
                                      </p:cBhvr>
                                    </p:animEffect>
                                    <p:anim calcmode="lin" valueType="num">
                                      <p:cBhvr>
                                        <p:cTn id="95" dur="250" fill="hold"/>
                                        <p:tgtEl>
                                          <p:spTgt spid="27"/>
                                        </p:tgtEl>
                                        <p:attrNameLst>
                                          <p:attrName>ppt_x</p:attrName>
                                        </p:attrNameLst>
                                      </p:cBhvr>
                                      <p:tavLst>
                                        <p:tav tm="0">
                                          <p:val>
                                            <p:strVal val="#ppt_x"/>
                                          </p:val>
                                        </p:tav>
                                        <p:tav tm="100000">
                                          <p:val>
                                            <p:strVal val="#ppt_x"/>
                                          </p:val>
                                        </p:tav>
                                      </p:tavLst>
                                    </p:anim>
                                    <p:anim calcmode="lin" valueType="num">
                                      <p:cBhvr>
                                        <p:cTn id="96" dur="250" fill="hold"/>
                                        <p:tgtEl>
                                          <p:spTgt spid="27"/>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30"/>
                                        </p:tgtEl>
                                        <p:attrNameLst>
                                          <p:attrName>style.visibility</p:attrName>
                                        </p:attrNameLst>
                                      </p:cBhvr>
                                      <p:to>
                                        <p:strVal val="visible"/>
                                      </p:to>
                                    </p:set>
                                    <p:animEffect transition="in" filter="fade">
                                      <p:cBhvr>
                                        <p:cTn id="99" dur="250"/>
                                        <p:tgtEl>
                                          <p:spTgt spid="30"/>
                                        </p:tgtEl>
                                      </p:cBhvr>
                                    </p:animEffect>
                                    <p:anim calcmode="lin" valueType="num">
                                      <p:cBhvr>
                                        <p:cTn id="100" dur="250" fill="hold"/>
                                        <p:tgtEl>
                                          <p:spTgt spid="30"/>
                                        </p:tgtEl>
                                        <p:attrNameLst>
                                          <p:attrName>ppt_x</p:attrName>
                                        </p:attrNameLst>
                                      </p:cBhvr>
                                      <p:tavLst>
                                        <p:tav tm="0">
                                          <p:val>
                                            <p:strVal val="#ppt_x"/>
                                          </p:val>
                                        </p:tav>
                                        <p:tav tm="100000">
                                          <p:val>
                                            <p:strVal val="#ppt_x"/>
                                          </p:val>
                                        </p:tav>
                                      </p:tavLst>
                                    </p:anim>
                                    <p:anim calcmode="lin" valueType="num">
                                      <p:cBhvr>
                                        <p:cTn id="101" dur="250" fill="hold"/>
                                        <p:tgtEl>
                                          <p:spTgt spid="30"/>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9"/>
                                        </p:tgtEl>
                                        <p:attrNameLst>
                                          <p:attrName>style.visibility</p:attrName>
                                        </p:attrNameLst>
                                      </p:cBhvr>
                                      <p:to>
                                        <p:strVal val="visible"/>
                                      </p:to>
                                    </p:set>
                                    <p:animEffect transition="in" filter="fade">
                                      <p:cBhvr>
                                        <p:cTn id="104" dur="250"/>
                                        <p:tgtEl>
                                          <p:spTgt spid="29"/>
                                        </p:tgtEl>
                                      </p:cBhvr>
                                    </p:animEffect>
                                    <p:anim calcmode="lin" valueType="num">
                                      <p:cBhvr>
                                        <p:cTn id="105" dur="250" fill="hold"/>
                                        <p:tgtEl>
                                          <p:spTgt spid="29"/>
                                        </p:tgtEl>
                                        <p:attrNameLst>
                                          <p:attrName>ppt_x</p:attrName>
                                        </p:attrNameLst>
                                      </p:cBhvr>
                                      <p:tavLst>
                                        <p:tav tm="0">
                                          <p:val>
                                            <p:strVal val="#ppt_x"/>
                                          </p:val>
                                        </p:tav>
                                        <p:tav tm="100000">
                                          <p:val>
                                            <p:strVal val="#ppt_x"/>
                                          </p:val>
                                        </p:tav>
                                      </p:tavLst>
                                    </p:anim>
                                    <p:anim calcmode="lin" valueType="num">
                                      <p:cBhvr>
                                        <p:cTn id="106" dur="250" fill="hold"/>
                                        <p:tgtEl>
                                          <p:spTgt spid="29"/>
                                        </p:tgtEl>
                                        <p:attrNameLst>
                                          <p:attrName>ppt_y</p:attrName>
                                        </p:attrNameLst>
                                      </p:cBhvr>
                                      <p:tavLst>
                                        <p:tav tm="0">
                                          <p:val>
                                            <p:strVal val="#ppt_y+.1"/>
                                          </p:val>
                                        </p:tav>
                                        <p:tav tm="100000">
                                          <p:val>
                                            <p:strVal val="#ppt_y"/>
                                          </p:val>
                                        </p:tav>
                                      </p:tavLst>
                                    </p:anim>
                                  </p:childTnLst>
                                </p:cTn>
                              </p:par>
                              <p:par>
                                <p:cTn id="107" presetID="42" presetClass="entr" presetSubtype="0" fill="hold" nodeType="withEffect">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250"/>
                                        <p:tgtEl>
                                          <p:spTgt spid="24"/>
                                        </p:tgtEl>
                                      </p:cBhvr>
                                    </p:animEffect>
                                    <p:anim calcmode="lin" valueType="num">
                                      <p:cBhvr>
                                        <p:cTn id="110" dur="250" fill="hold"/>
                                        <p:tgtEl>
                                          <p:spTgt spid="24"/>
                                        </p:tgtEl>
                                        <p:attrNameLst>
                                          <p:attrName>ppt_x</p:attrName>
                                        </p:attrNameLst>
                                      </p:cBhvr>
                                      <p:tavLst>
                                        <p:tav tm="0">
                                          <p:val>
                                            <p:strVal val="#ppt_x"/>
                                          </p:val>
                                        </p:tav>
                                        <p:tav tm="100000">
                                          <p:val>
                                            <p:strVal val="#ppt_x"/>
                                          </p:val>
                                        </p:tav>
                                      </p:tavLst>
                                    </p:anim>
                                    <p:anim calcmode="lin" valueType="num">
                                      <p:cBhvr>
                                        <p:cTn id="111" dur="250" fill="hold"/>
                                        <p:tgtEl>
                                          <p:spTgt spid="24"/>
                                        </p:tgtEl>
                                        <p:attrNameLst>
                                          <p:attrName>ppt_y</p:attrName>
                                        </p:attrNameLst>
                                      </p:cBhvr>
                                      <p:tavLst>
                                        <p:tav tm="0">
                                          <p:val>
                                            <p:strVal val="#ppt_y+.1"/>
                                          </p:val>
                                        </p:tav>
                                        <p:tav tm="100000">
                                          <p:val>
                                            <p:strVal val="#ppt_y"/>
                                          </p:val>
                                        </p:tav>
                                      </p:tavLst>
                                    </p:anim>
                                  </p:childTnLst>
                                </p:cTn>
                              </p:par>
                              <p:par>
                                <p:cTn id="112" presetID="42" presetClass="entr" presetSubtype="0" fill="hold" nodeType="withEffect">
                                  <p:stCondLst>
                                    <p:cond delay="0"/>
                                  </p:stCondLst>
                                  <p:childTnLst>
                                    <p:set>
                                      <p:cBhvr>
                                        <p:cTn id="113" dur="1" fill="hold">
                                          <p:stCondLst>
                                            <p:cond delay="0"/>
                                          </p:stCondLst>
                                        </p:cTn>
                                        <p:tgtEl>
                                          <p:spTgt spid="23"/>
                                        </p:tgtEl>
                                        <p:attrNameLst>
                                          <p:attrName>style.visibility</p:attrName>
                                        </p:attrNameLst>
                                      </p:cBhvr>
                                      <p:to>
                                        <p:strVal val="visible"/>
                                      </p:to>
                                    </p:set>
                                    <p:animEffect transition="in" filter="fade">
                                      <p:cBhvr>
                                        <p:cTn id="114" dur="250"/>
                                        <p:tgtEl>
                                          <p:spTgt spid="23"/>
                                        </p:tgtEl>
                                      </p:cBhvr>
                                    </p:animEffect>
                                    <p:anim calcmode="lin" valueType="num">
                                      <p:cBhvr>
                                        <p:cTn id="115" dur="250" fill="hold"/>
                                        <p:tgtEl>
                                          <p:spTgt spid="23"/>
                                        </p:tgtEl>
                                        <p:attrNameLst>
                                          <p:attrName>ppt_x</p:attrName>
                                        </p:attrNameLst>
                                      </p:cBhvr>
                                      <p:tavLst>
                                        <p:tav tm="0">
                                          <p:val>
                                            <p:strVal val="#ppt_x"/>
                                          </p:val>
                                        </p:tav>
                                        <p:tav tm="100000">
                                          <p:val>
                                            <p:strVal val="#ppt_x"/>
                                          </p:val>
                                        </p:tav>
                                      </p:tavLst>
                                    </p:anim>
                                    <p:anim calcmode="lin" valueType="num">
                                      <p:cBhvr>
                                        <p:cTn id="116" dur="250" fill="hold"/>
                                        <p:tgtEl>
                                          <p:spTgt spid="23"/>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250"/>
                                        <p:tgtEl>
                                          <p:spTgt spid="26"/>
                                        </p:tgtEl>
                                      </p:cBhvr>
                                    </p:animEffect>
                                    <p:anim calcmode="lin" valueType="num">
                                      <p:cBhvr>
                                        <p:cTn id="120" dur="250" fill="hold"/>
                                        <p:tgtEl>
                                          <p:spTgt spid="26"/>
                                        </p:tgtEl>
                                        <p:attrNameLst>
                                          <p:attrName>ppt_x</p:attrName>
                                        </p:attrNameLst>
                                      </p:cBhvr>
                                      <p:tavLst>
                                        <p:tav tm="0">
                                          <p:val>
                                            <p:strVal val="#ppt_x"/>
                                          </p:val>
                                        </p:tav>
                                        <p:tav tm="100000">
                                          <p:val>
                                            <p:strVal val="#ppt_x"/>
                                          </p:val>
                                        </p:tav>
                                      </p:tavLst>
                                    </p:anim>
                                    <p:anim calcmode="lin" valueType="num">
                                      <p:cBhvr>
                                        <p:cTn id="121" dur="250" fill="hold"/>
                                        <p:tgtEl>
                                          <p:spTgt spid="26"/>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25"/>
                                        </p:tgtEl>
                                        <p:attrNameLst>
                                          <p:attrName>style.visibility</p:attrName>
                                        </p:attrNameLst>
                                      </p:cBhvr>
                                      <p:to>
                                        <p:strVal val="visible"/>
                                      </p:to>
                                    </p:set>
                                    <p:animEffect transition="in" filter="fade">
                                      <p:cBhvr>
                                        <p:cTn id="124" dur="250"/>
                                        <p:tgtEl>
                                          <p:spTgt spid="25"/>
                                        </p:tgtEl>
                                      </p:cBhvr>
                                    </p:animEffect>
                                    <p:anim calcmode="lin" valueType="num">
                                      <p:cBhvr>
                                        <p:cTn id="125" dur="250" fill="hold"/>
                                        <p:tgtEl>
                                          <p:spTgt spid="25"/>
                                        </p:tgtEl>
                                        <p:attrNameLst>
                                          <p:attrName>ppt_x</p:attrName>
                                        </p:attrNameLst>
                                      </p:cBhvr>
                                      <p:tavLst>
                                        <p:tav tm="0">
                                          <p:val>
                                            <p:strVal val="#ppt_x"/>
                                          </p:val>
                                        </p:tav>
                                        <p:tav tm="100000">
                                          <p:val>
                                            <p:strVal val="#ppt_x"/>
                                          </p:val>
                                        </p:tav>
                                      </p:tavLst>
                                    </p:anim>
                                    <p:anim calcmode="lin" valueType="num">
                                      <p:cBhvr>
                                        <p:cTn id="126" dur="250" fill="hold"/>
                                        <p:tgtEl>
                                          <p:spTgt spid="25"/>
                                        </p:tgtEl>
                                        <p:attrNameLst>
                                          <p:attrName>ppt_y</p:attrName>
                                        </p:attrNameLst>
                                      </p:cBhvr>
                                      <p:tavLst>
                                        <p:tav tm="0">
                                          <p:val>
                                            <p:strVal val="#ppt_y+.1"/>
                                          </p:val>
                                        </p:tav>
                                        <p:tav tm="100000">
                                          <p:val>
                                            <p:strVal val="#ppt_y"/>
                                          </p:val>
                                        </p:tav>
                                      </p:tavLst>
                                    </p:anim>
                                  </p:childTnLst>
                                </p:cTn>
                              </p:par>
                            </p:childTnLst>
                          </p:cTn>
                        </p:par>
                        <p:par>
                          <p:cTn id="127" fill="hold">
                            <p:stCondLst>
                              <p:cond delay="1700"/>
                            </p:stCondLst>
                            <p:childTnLst>
                              <p:par>
                                <p:cTn id="128" presetID="42" presetClass="entr" presetSubtype="0" fill="hold" grpId="0" nodeType="afterEffect">
                                  <p:stCondLst>
                                    <p:cond delay="50"/>
                                  </p:stCondLst>
                                  <p:childTnLst>
                                    <p:set>
                                      <p:cBhvr>
                                        <p:cTn id="129" dur="1" fill="hold">
                                          <p:stCondLst>
                                            <p:cond delay="0"/>
                                          </p:stCondLst>
                                        </p:cTn>
                                        <p:tgtEl>
                                          <p:spTgt spid="36"/>
                                        </p:tgtEl>
                                        <p:attrNameLst>
                                          <p:attrName>style.visibility</p:attrName>
                                        </p:attrNameLst>
                                      </p:cBhvr>
                                      <p:to>
                                        <p:strVal val="visible"/>
                                      </p:to>
                                    </p:set>
                                    <p:animEffect transition="in" filter="fade">
                                      <p:cBhvr>
                                        <p:cTn id="130" dur="250"/>
                                        <p:tgtEl>
                                          <p:spTgt spid="36"/>
                                        </p:tgtEl>
                                      </p:cBhvr>
                                    </p:animEffect>
                                    <p:anim calcmode="lin" valueType="num">
                                      <p:cBhvr>
                                        <p:cTn id="131" dur="250" fill="hold"/>
                                        <p:tgtEl>
                                          <p:spTgt spid="36"/>
                                        </p:tgtEl>
                                        <p:attrNameLst>
                                          <p:attrName>ppt_x</p:attrName>
                                        </p:attrNameLst>
                                      </p:cBhvr>
                                      <p:tavLst>
                                        <p:tav tm="0">
                                          <p:val>
                                            <p:strVal val="#ppt_x"/>
                                          </p:val>
                                        </p:tav>
                                        <p:tav tm="100000">
                                          <p:val>
                                            <p:strVal val="#ppt_x"/>
                                          </p:val>
                                        </p:tav>
                                      </p:tavLst>
                                    </p:anim>
                                    <p:anim calcmode="lin" valueType="num">
                                      <p:cBhvr>
                                        <p:cTn id="132" dur="250" fill="hold"/>
                                        <p:tgtEl>
                                          <p:spTgt spid="36"/>
                                        </p:tgtEl>
                                        <p:attrNameLst>
                                          <p:attrName>ppt_y</p:attrName>
                                        </p:attrNameLst>
                                      </p:cBhvr>
                                      <p:tavLst>
                                        <p:tav tm="0">
                                          <p:val>
                                            <p:strVal val="#ppt_y+.1"/>
                                          </p:val>
                                        </p:tav>
                                        <p:tav tm="100000">
                                          <p:val>
                                            <p:strVal val="#ppt_y"/>
                                          </p:val>
                                        </p:tav>
                                      </p:tavLst>
                                    </p:anim>
                                  </p:childTnLst>
                                </p:cTn>
                              </p:par>
                              <p:par>
                                <p:cTn id="133" presetID="42" presetClass="entr" presetSubtype="0" fill="hold" grpId="0" nodeType="withEffect">
                                  <p:stCondLst>
                                    <p:cond delay="0"/>
                                  </p:stCondLst>
                                  <p:childTnLst>
                                    <p:set>
                                      <p:cBhvr>
                                        <p:cTn id="134" dur="1" fill="hold">
                                          <p:stCondLst>
                                            <p:cond delay="0"/>
                                          </p:stCondLst>
                                        </p:cTn>
                                        <p:tgtEl>
                                          <p:spTgt spid="35"/>
                                        </p:tgtEl>
                                        <p:attrNameLst>
                                          <p:attrName>style.visibility</p:attrName>
                                        </p:attrNameLst>
                                      </p:cBhvr>
                                      <p:to>
                                        <p:strVal val="visible"/>
                                      </p:to>
                                    </p:set>
                                    <p:animEffect transition="in" filter="fade">
                                      <p:cBhvr>
                                        <p:cTn id="135" dur="250"/>
                                        <p:tgtEl>
                                          <p:spTgt spid="35"/>
                                        </p:tgtEl>
                                      </p:cBhvr>
                                    </p:animEffect>
                                    <p:anim calcmode="lin" valueType="num">
                                      <p:cBhvr>
                                        <p:cTn id="136" dur="250" fill="hold"/>
                                        <p:tgtEl>
                                          <p:spTgt spid="35"/>
                                        </p:tgtEl>
                                        <p:attrNameLst>
                                          <p:attrName>ppt_x</p:attrName>
                                        </p:attrNameLst>
                                      </p:cBhvr>
                                      <p:tavLst>
                                        <p:tav tm="0">
                                          <p:val>
                                            <p:strVal val="#ppt_x"/>
                                          </p:val>
                                        </p:tav>
                                        <p:tav tm="100000">
                                          <p:val>
                                            <p:strVal val="#ppt_x"/>
                                          </p:val>
                                        </p:tav>
                                      </p:tavLst>
                                    </p:anim>
                                    <p:anim calcmode="lin" valueType="num">
                                      <p:cBhvr>
                                        <p:cTn id="137" dur="250" fill="hold"/>
                                        <p:tgtEl>
                                          <p:spTgt spid="35"/>
                                        </p:tgtEl>
                                        <p:attrNameLst>
                                          <p:attrName>ppt_y</p:attrName>
                                        </p:attrNameLst>
                                      </p:cBhvr>
                                      <p:tavLst>
                                        <p:tav tm="0">
                                          <p:val>
                                            <p:strVal val="#ppt_y+.1"/>
                                          </p:val>
                                        </p:tav>
                                        <p:tav tm="100000">
                                          <p:val>
                                            <p:strVal val="#ppt_y"/>
                                          </p:val>
                                        </p:tav>
                                      </p:tavLst>
                                    </p:anim>
                                  </p:childTnLst>
                                </p:cTn>
                              </p:par>
                              <p:par>
                                <p:cTn id="138" presetID="42" presetClass="entr" presetSubtype="0" fill="hold" nodeType="withEffect">
                                  <p:stCondLst>
                                    <p:cond delay="0"/>
                                  </p:stCondLst>
                                  <p:childTnLst>
                                    <p:set>
                                      <p:cBhvr>
                                        <p:cTn id="139" dur="1" fill="hold">
                                          <p:stCondLst>
                                            <p:cond delay="0"/>
                                          </p:stCondLst>
                                        </p:cTn>
                                        <p:tgtEl>
                                          <p:spTgt spid="38"/>
                                        </p:tgtEl>
                                        <p:attrNameLst>
                                          <p:attrName>style.visibility</p:attrName>
                                        </p:attrNameLst>
                                      </p:cBhvr>
                                      <p:to>
                                        <p:strVal val="visible"/>
                                      </p:to>
                                    </p:set>
                                    <p:animEffect transition="in" filter="fade">
                                      <p:cBhvr>
                                        <p:cTn id="140" dur="250"/>
                                        <p:tgtEl>
                                          <p:spTgt spid="38"/>
                                        </p:tgtEl>
                                      </p:cBhvr>
                                    </p:animEffect>
                                    <p:anim calcmode="lin" valueType="num">
                                      <p:cBhvr>
                                        <p:cTn id="141" dur="250" fill="hold"/>
                                        <p:tgtEl>
                                          <p:spTgt spid="38"/>
                                        </p:tgtEl>
                                        <p:attrNameLst>
                                          <p:attrName>ppt_x</p:attrName>
                                        </p:attrNameLst>
                                      </p:cBhvr>
                                      <p:tavLst>
                                        <p:tav tm="0">
                                          <p:val>
                                            <p:strVal val="#ppt_x"/>
                                          </p:val>
                                        </p:tav>
                                        <p:tav tm="100000">
                                          <p:val>
                                            <p:strVal val="#ppt_x"/>
                                          </p:val>
                                        </p:tav>
                                      </p:tavLst>
                                    </p:anim>
                                    <p:anim calcmode="lin" valueType="num">
                                      <p:cBhvr>
                                        <p:cTn id="142" dur="250" fill="hold"/>
                                        <p:tgtEl>
                                          <p:spTgt spid="38"/>
                                        </p:tgtEl>
                                        <p:attrNameLst>
                                          <p:attrName>ppt_y</p:attrName>
                                        </p:attrNameLst>
                                      </p:cBhvr>
                                      <p:tavLst>
                                        <p:tav tm="0">
                                          <p:val>
                                            <p:strVal val="#ppt_y+.1"/>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37"/>
                                        </p:tgtEl>
                                        <p:attrNameLst>
                                          <p:attrName>style.visibility</p:attrName>
                                        </p:attrNameLst>
                                      </p:cBhvr>
                                      <p:to>
                                        <p:strVal val="visible"/>
                                      </p:to>
                                    </p:set>
                                    <p:animEffect transition="in" filter="fade">
                                      <p:cBhvr>
                                        <p:cTn id="145" dur="250"/>
                                        <p:tgtEl>
                                          <p:spTgt spid="37"/>
                                        </p:tgtEl>
                                      </p:cBhvr>
                                    </p:animEffect>
                                    <p:anim calcmode="lin" valueType="num">
                                      <p:cBhvr>
                                        <p:cTn id="146" dur="250" fill="hold"/>
                                        <p:tgtEl>
                                          <p:spTgt spid="37"/>
                                        </p:tgtEl>
                                        <p:attrNameLst>
                                          <p:attrName>ppt_x</p:attrName>
                                        </p:attrNameLst>
                                      </p:cBhvr>
                                      <p:tavLst>
                                        <p:tav tm="0">
                                          <p:val>
                                            <p:strVal val="#ppt_x"/>
                                          </p:val>
                                        </p:tav>
                                        <p:tav tm="100000">
                                          <p:val>
                                            <p:strVal val="#ppt_x"/>
                                          </p:val>
                                        </p:tav>
                                      </p:tavLst>
                                    </p:anim>
                                    <p:anim calcmode="lin" valueType="num">
                                      <p:cBhvr>
                                        <p:cTn id="147" dur="250" fill="hold"/>
                                        <p:tgtEl>
                                          <p:spTgt spid="37"/>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0"/>
                                  </p:stCondLst>
                                  <p:childTnLst>
                                    <p:set>
                                      <p:cBhvr>
                                        <p:cTn id="149" dur="1" fill="hold">
                                          <p:stCondLst>
                                            <p:cond delay="0"/>
                                          </p:stCondLst>
                                        </p:cTn>
                                        <p:tgtEl>
                                          <p:spTgt spid="32"/>
                                        </p:tgtEl>
                                        <p:attrNameLst>
                                          <p:attrName>style.visibility</p:attrName>
                                        </p:attrNameLst>
                                      </p:cBhvr>
                                      <p:to>
                                        <p:strVal val="visible"/>
                                      </p:to>
                                    </p:set>
                                    <p:animEffect transition="in" filter="fade">
                                      <p:cBhvr>
                                        <p:cTn id="150" dur="250"/>
                                        <p:tgtEl>
                                          <p:spTgt spid="32"/>
                                        </p:tgtEl>
                                      </p:cBhvr>
                                    </p:animEffect>
                                    <p:anim calcmode="lin" valueType="num">
                                      <p:cBhvr>
                                        <p:cTn id="151" dur="250" fill="hold"/>
                                        <p:tgtEl>
                                          <p:spTgt spid="32"/>
                                        </p:tgtEl>
                                        <p:attrNameLst>
                                          <p:attrName>ppt_x</p:attrName>
                                        </p:attrNameLst>
                                      </p:cBhvr>
                                      <p:tavLst>
                                        <p:tav tm="0">
                                          <p:val>
                                            <p:strVal val="#ppt_x"/>
                                          </p:val>
                                        </p:tav>
                                        <p:tav tm="100000">
                                          <p:val>
                                            <p:strVal val="#ppt_x"/>
                                          </p:val>
                                        </p:tav>
                                      </p:tavLst>
                                    </p:anim>
                                    <p:anim calcmode="lin" valueType="num">
                                      <p:cBhvr>
                                        <p:cTn id="152" dur="250" fill="hold"/>
                                        <p:tgtEl>
                                          <p:spTgt spid="32"/>
                                        </p:tgtEl>
                                        <p:attrNameLst>
                                          <p:attrName>ppt_y</p:attrName>
                                        </p:attrNameLst>
                                      </p:cBhvr>
                                      <p:tavLst>
                                        <p:tav tm="0">
                                          <p:val>
                                            <p:strVal val="#ppt_y+.1"/>
                                          </p:val>
                                        </p:tav>
                                        <p:tav tm="100000">
                                          <p:val>
                                            <p:strVal val="#ppt_y"/>
                                          </p:val>
                                        </p:tav>
                                      </p:tavLst>
                                    </p:anim>
                                  </p:childTnLst>
                                </p:cTn>
                              </p:par>
                              <p:par>
                                <p:cTn id="153" presetID="42" presetClass="entr" presetSubtype="0" fill="hold" nodeType="withEffect">
                                  <p:stCondLst>
                                    <p:cond delay="0"/>
                                  </p:stCondLst>
                                  <p:childTnLst>
                                    <p:set>
                                      <p:cBhvr>
                                        <p:cTn id="154" dur="1" fill="hold">
                                          <p:stCondLst>
                                            <p:cond delay="0"/>
                                          </p:stCondLst>
                                        </p:cTn>
                                        <p:tgtEl>
                                          <p:spTgt spid="31"/>
                                        </p:tgtEl>
                                        <p:attrNameLst>
                                          <p:attrName>style.visibility</p:attrName>
                                        </p:attrNameLst>
                                      </p:cBhvr>
                                      <p:to>
                                        <p:strVal val="visible"/>
                                      </p:to>
                                    </p:set>
                                    <p:animEffect transition="in" filter="fade">
                                      <p:cBhvr>
                                        <p:cTn id="155" dur="250"/>
                                        <p:tgtEl>
                                          <p:spTgt spid="31"/>
                                        </p:tgtEl>
                                      </p:cBhvr>
                                    </p:animEffect>
                                    <p:anim calcmode="lin" valueType="num">
                                      <p:cBhvr>
                                        <p:cTn id="156" dur="250" fill="hold"/>
                                        <p:tgtEl>
                                          <p:spTgt spid="31"/>
                                        </p:tgtEl>
                                        <p:attrNameLst>
                                          <p:attrName>ppt_x</p:attrName>
                                        </p:attrNameLst>
                                      </p:cBhvr>
                                      <p:tavLst>
                                        <p:tav tm="0">
                                          <p:val>
                                            <p:strVal val="#ppt_x"/>
                                          </p:val>
                                        </p:tav>
                                        <p:tav tm="100000">
                                          <p:val>
                                            <p:strVal val="#ppt_x"/>
                                          </p:val>
                                        </p:tav>
                                      </p:tavLst>
                                    </p:anim>
                                    <p:anim calcmode="lin" valueType="num">
                                      <p:cBhvr>
                                        <p:cTn id="157" dur="250" fill="hold"/>
                                        <p:tgtEl>
                                          <p:spTgt spid="31"/>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34"/>
                                        </p:tgtEl>
                                        <p:attrNameLst>
                                          <p:attrName>style.visibility</p:attrName>
                                        </p:attrNameLst>
                                      </p:cBhvr>
                                      <p:to>
                                        <p:strVal val="visible"/>
                                      </p:to>
                                    </p:set>
                                    <p:animEffect transition="in" filter="fade">
                                      <p:cBhvr>
                                        <p:cTn id="160" dur="250"/>
                                        <p:tgtEl>
                                          <p:spTgt spid="34"/>
                                        </p:tgtEl>
                                      </p:cBhvr>
                                    </p:animEffect>
                                    <p:anim calcmode="lin" valueType="num">
                                      <p:cBhvr>
                                        <p:cTn id="161" dur="250" fill="hold"/>
                                        <p:tgtEl>
                                          <p:spTgt spid="34"/>
                                        </p:tgtEl>
                                        <p:attrNameLst>
                                          <p:attrName>ppt_x</p:attrName>
                                        </p:attrNameLst>
                                      </p:cBhvr>
                                      <p:tavLst>
                                        <p:tav tm="0">
                                          <p:val>
                                            <p:strVal val="#ppt_x"/>
                                          </p:val>
                                        </p:tav>
                                        <p:tav tm="100000">
                                          <p:val>
                                            <p:strVal val="#ppt_x"/>
                                          </p:val>
                                        </p:tav>
                                      </p:tavLst>
                                    </p:anim>
                                    <p:anim calcmode="lin" valueType="num">
                                      <p:cBhvr>
                                        <p:cTn id="162" dur="250" fill="hold"/>
                                        <p:tgtEl>
                                          <p:spTgt spid="34"/>
                                        </p:tgtEl>
                                        <p:attrNameLst>
                                          <p:attrName>ppt_y</p:attrName>
                                        </p:attrNameLst>
                                      </p:cBhvr>
                                      <p:tavLst>
                                        <p:tav tm="0">
                                          <p:val>
                                            <p:strVal val="#ppt_y+.1"/>
                                          </p:val>
                                        </p:tav>
                                        <p:tav tm="100000">
                                          <p:val>
                                            <p:strVal val="#ppt_y"/>
                                          </p:val>
                                        </p:tav>
                                      </p:tavLst>
                                    </p:anim>
                                  </p:childTnLst>
                                </p:cTn>
                              </p:par>
                              <p:par>
                                <p:cTn id="163" presetID="42" presetClass="entr" presetSubtype="0" fill="hold" grpId="0" nodeType="withEffect">
                                  <p:stCondLst>
                                    <p:cond delay="0"/>
                                  </p:stCondLst>
                                  <p:childTnLst>
                                    <p:set>
                                      <p:cBhvr>
                                        <p:cTn id="164" dur="1" fill="hold">
                                          <p:stCondLst>
                                            <p:cond delay="0"/>
                                          </p:stCondLst>
                                        </p:cTn>
                                        <p:tgtEl>
                                          <p:spTgt spid="33"/>
                                        </p:tgtEl>
                                        <p:attrNameLst>
                                          <p:attrName>style.visibility</p:attrName>
                                        </p:attrNameLst>
                                      </p:cBhvr>
                                      <p:to>
                                        <p:strVal val="visible"/>
                                      </p:to>
                                    </p:set>
                                    <p:animEffect transition="in" filter="fade">
                                      <p:cBhvr>
                                        <p:cTn id="165" dur="250"/>
                                        <p:tgtEl>
                                          <p:spTgt spid="33"/>
                                        </p:tgtEl>
                                      </p:cBhvr>
                                    </p:animEffect>
                                    <p:anim calcmode="lin" valueType="num">
                                      <p:cBhvr>
                                        <p:cTn id="166" dur="250" fill="hold"/>
                                        <p:tgtEl>
                                          <p:spTgt spid="33"/>
                                        </p:tgtEl>
                                        <p:attrNameLst>
                                          <p:attrName>ppt_x</p:attrName>
                                        </p:attrNameLst>
                                      </p:cBhvr>
                                      <p:tavLst>
                                        <p:tav tm="0">
                                          <p:val>
                                            <p:strVal val="#ppt_x"/>
                                          </p:val>
                                        </p:tav>
                                        <p:tav tm="100000">
                                          <p:val>
                                            <p:strVal val="#ppt_x"/>
                                          </p:val>
                                        </p:tav>
                                      </p:tavLst>
                                    </p:anim>
                                    <p:anim calcmode="lin" valueType="num">
                                      <p:cBhvr>
                                        <p:cTn id="167" dur="25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animBg="1"/>
      <p:bldP spid="12" grpId="0" animBg="1"/>
      <p:bldP spid="13" grpId="0"/>
      <p:bldP spid="14" grpId="0"/>
      <p:bldP spid="15" grpId="0"/>
      <p:bldP spid="19" grpId="0" animBg="1"/>
      <p:bldP spid="20" grpId="0" animBg="1"/>
      <p:bldP spid="21" grpId="0"/>
      <p:bldP spid="22" grpId="0"/>
      <p:bldP spid="25" grpId="0" animBg="1"/>
      <p:bldP spid="26" grpId="0" animBg="1"/>
      <p:bldP spid="27" grpId="0"/>
      <p:bldP spid="28" grpId="0"/>
      <p:bldP spid="29" grpId="0"/>
      <p:bldP spid="33" grpId="0" animBg="1"/>
      <p:bldP spid="34" grpId="0" animBg="1"/>
      <p:bldP spid="35" grpId="0"/>
      <p:bldP spid="36" grpId="0"/>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6"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7" name="TextBox 6"/>
          <p:cNvSpPr txBox="1"/>
          <p:nvPr/>
        </p:nvSpPr>
        <p:spPr>
          <a:xfrm>
            <a:off x="685800" y="914400"/>
            <a:ext cx="10515600" cy="548640"/>
          </a:xfrm>
          <a:prstGeom prst="rect">
            <a:avLst/>
          </a:prstGeom>
          <a:noFill/>
        </p:spPr>
        <p:txBody>
          <a:bodyPr wrap="square" lIns="0" tIns="0" rIns="0" bIns="0" anchor="t"/>
          <a:lstStyle/>
          <a:p>
            <a:pPr algn="l">
              <a:lnSpc>
                <a:spcPct val="102000"/>
              </a:lnSpc>
            </a:pPr>
            <a:r>
              <a:rPr sz="2600" b="0">
                <a:solidFill>
                  <a:srgbClr val="0A0A0A"/>
                </a:solidFill>
                <a:latin typeface="Segoe UI"/>
              </a:rPr>
              <a:t>Backup. </a:t>
            </a:r>
            <a:r>
              <a:rPr sz="2600" b="0">
                <a:solidFill>
                  <a:srgbClr val="8E8E93"/>
                </a:solidFill>
                <a:latin typeface="Segoe UI"/>
              </a:rPr>
              <a:t>Situations OttO handles.</a:t>
            </a:r>
          </a:p>
        </p:txBody>
      </p:sp>
      <p:sp>
        <p:nvSpPr>
          <p:cNvPr id="8" name="Rounded Rectangle 7"/>
          <p:cNvSpPr/>
          <p:nvPr/>
        </p:nvSpPr>
        <p:spPr>
          <a:xfrm>
            <a:off x="685800" y="1737360"/>
            <a:ext cx="3423818" cy="2011680"/>
          </a:xfrm>
          <a:prstGeom prst="roundRect">
            <a:avLst>
              <a:gd name="adj" fmla="val 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993391"/>
            <a:ext cx="2875178" cy="548640"/>
          </a:xfrm>
          <a:prstGeom prst="rect">
            <a:avLst/>
          </a:prstGeom>
          <a:noFill/>
        </p:spPr>
        <p:txBody>
          <a:bodyPr wrap="square" lIns="0" tIns="0" rIns="0" bIns="0" anchor="t"/>
          <a:lstStyle/>
          <a:p>
            <a:pPr algn="l">
              <a:lnSpc>
                <a:spcPct val="105000"/>
              </a:lnSpc>
            </a:pPr>
            <a:r>
              <a:rPr sz="1600" b="0">
                <a:solidFill>
                  <a:srgbClr val="0A0A0A"/>
                </a:solidFill>
                <a:latin typeface="Segoe UI Semibold"/>
              </a:rPr>
              <a:t>First visit, 78, with a walker</a:t>
            </a:r>
          </a:p>
        </p:txBody>
      </p:sp>
      <p:sp>
        <p:nvSpPr>
          <p:cNvPr id="10" name="TextBox 9"/>
          <p:cNvSpPr txBox="1"/>
          <p:nvPr/>
        </p:nvSpPr>
        <p:spPr>
          <a:xfrm>
            <a:off x="960120" y="2606039"/>
            <a:ext cx="2875178" cy="1051560"/>
          </a:xfrm>
          <a:prstGeom prst="rect">
            <a:avLst/>
          </a:prstGeom>
          <a:noFill/>
        </p:spPr>
        <p:txBody>
          <a:bodyPr wrap="square" lIns="0" tIns="0" rIns="0" bIns="0" anchor="t"/>
          <a:lstStyle/>
          <a:p>
            <a:pPr algn="l">
              <a:lnSpc>
                <a:spcPct val="120000"/>
              </a:lnSpc>
            </a:pPr>
            <a:r>
              <a:rPr sz="1250" b="0">
                <a:solidFill>
                  <a:srgbClr val="6E6E73"/>
                </a:solidFill>
                <a:latin typeface="Segoe UI"/>
              </a:rPr>
              <a:t>A nurse at reception sends her to cardiology. OttO walks at her pace and waits when she stops.</a:t>
            </a:r>
          </a:p>
        </p:txBody>
      </p:sp>
      <p:sp>
        <p:nvSpPr>
          <p:cNvPr id="11" name="Rounded Rectangle 10"/>
          <p:cNvSpPr/>
          <p:nvPr/>
        </p:nvSpPr>
        <p:spPr>
          <a:xfrm>
            <a:off x="4383938" y="1737360"/>
            <a:ext cx="3423818" cy="2011680"/>
          </a:xfrm>
          <a:prstGeom prst="roundRect">
            <a:avLst>
              <a:gd name="adj" fmla="val 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58258" y="1993391"/>
            <a:ext cx="2875178" cy="548640"/>
          </a:xfrm>
          <a:prstGeom prst="rect">
            <a:avLst/>
          </a:prstGeom>
          <a:noFill/>
        </p:spPr>
        <p:txBody>
          <a:bodyPr wrap="square" lIns="0" tIns="0" rIns="0" bIns="0" anchor="t"/>
          <a:lstStyle/>
          <a:p>
            <a:pPr algn="l">
              <a:lnSpc>
                <a:spcPct val="105000"/>
              </a:lnSpc>
            </a:pPr>
            <a:r>
              <a:rPr sz="1600" b="0">
                <a:solidFill>
                  <a:srgbClr val="0A0A0A"/>
                </a:solidFill>
                <a:latin typeface="Segoe UI Semibold"/>
              </a:rPr>
              <a:t>A visitor with flowers</a:t>
            </a:r>
          </a:p>
        </p:txBody>
      </p:sp>
      <p:sp>
        <p:nvSpPr>
          <p:cNvPr id="13" name="TextBox 12"/>
          <p:cNvSpPr txBox="1"/>
          <p:nvPr/>
        </p:nvSpPr>
        <p:spPr>
          <a:xfrm>
            <a:off x="4658258" y="2606039"/>
            <a:ext cx="2875178" cy="1051560"/>
          </a:xfrm>
          <a:prstGeom prst="rect">
            <a:avLst/>
          </a:prstGeom>
          <a:noFill/>
        </p:spPr>
        <p:txBody>
          <a:bodyPr wrap="square" lIns="0" tIns="0" rIns="0" bIns="0" anchor="t"/>
          <a:lstStyle/>
          <a:p>
            <a:pPr algn="l">
              <a:lnSpc>
                <a:spcPct val="120000"/>
              </a:lnSpc>
            </a:pPr>
            <a:r>
              <a:rPr sz="1250" b="0">
                <a:solidFill>
                  <a:srgbClr val="6E6E73"/>
                </a:solidFill>
                <a:latin typeface="Segoe UI"/>
              </a:rPr>
              <a:t>He gives the patient’s name to a person at reception, who looks up the room. OttO walks him there and never learns the name.</a:t>
            </a:r>
          </a:p>
        </p:txBody>
      </p:sp>
      <p:sp>
        <p:nvSpPr>
          <p:cNvPr id="14" name="Rounded Rectangle 13"/>
          <p:cNvSpPr/>
          <p:nvPr/>
        </p:nvSpPr>
        <p:spPr>
          <a:xfrm>
            <a:off x="8082076" y="1737360"/>
            <a:ext cx="3423818" cy="2011680"/>
          </a:xfrm>
          <a:prstGeom prst="roundRect">
            <a:avLst>
              <a:gd name="adj" fmla="val 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56396" y="1993391"/>
            <a:ext cx="2875178" cy="548640"/>
          </a:xfrm>
          <a:prstGeom prst="rect">
            <a:avLst/>
          </a:prstGeom>
          <a:noFill/>
        </p:spPr>
        <p:txBody>
          <a:bodyPr wrap="square" lIns="0" tIns="0" rIns="0" bIns="0" anchor="t"/>
          <a:lstStyle/>
          <a:p>
            <a:pPr algn="l">
              <a:lnSpc>
                <a:spcPct val="105000"/>
              </a:lnSpc>
            </a:pPr>
            <a:r>
              <a:rPr sz="1600" b="0">
                <a:solidFill>
                  <a:srgbClr val="0A0A0A"/>
                </a:solidFill>
                <a:latin typeface="Segoe UI Semibold"/>
              </a:rPr>
              <a:t>Monthly check-up, the room moved</a:t>
            </a:r>
          </a:p>
        </p:txBody>
      </p:sp>
      <p:sp>
        <p:nvSpPr>
          <p:cNvPr id="16" name="TextBox 15"/>
          <p:cNvSpPr txBox="1"/>
          <p:nvPr/>
        </p:nvSpPr>
        <p:spPr>
          <a:xfrm>
            <a:off x="8356396" y="2606039"/>
            <a:ext cx="2875178" cy="1051560"/>
          </a:xfrm>
          <a:prstGeom prst="rect">
            <a:avLst/>
          </a:prstGeom>
          <a:noFill/>
        </p:spPr>
        <p:txBody>
          <a:bodyPr wrap="square" lIns="0" tIns="0" rIns="0" bIns="0" anchor="t"/>
          <a:lstStyle/>
          <a:p>
            <a:pPr algn="l">
              <a:lnSpc>
                <a:spcPct val="120000"/>
              </a:lnSpc>
            </a:pPr>
            <a:r>
              <a:rPr sz="1250" b="0">
                <a:solidFill>
                  <a:srgbClr val="6E6E73"/>
                </a:solidFill>
                <a:latin typeface="Segoe UI"/>
              </a:rPr>
              <a:t>Reception picks the new room. OttO knows the way, so the patient does not have to.</a:t>
            </a:r>
          </a:p>
        </p:txBody>
      </p:sp>
      <p:sp>
        <p:nvSpPr>
          <p:cNvPr id="17" name="Rounded Rectangle 16"/>
          <p:cNvSpPr/>
          <p:nvPr/>
        </p:nvSpPr>
        <p:spPr>
          <a:xfrm>
            <a:off x="685800" y="4023360"/>
            <a:ext cx="3423818" cy="2011680"/>
          </a:xfrm>
          <a:prstGeom prst="roundRect">
            <a:avLst>
              <a:gd name="adj" fmla="val 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4279392"/>
            <a:ext cx="2875178" cy="548640"/>
          </a:xfrm>
          <a:prstGeom prst="rect">
            <a:avLst/>
          </a:prstGeom>
          <a:noFill/>
        </p:spPr>
        <p:txBody>
          <a:bodyPr wrap="square" lIns="0" tIns="0" rIns="0" bIns="0" anchor="t"/>
          <a:lstStyle/>
          <a:p>
            <a:pPr algn="l">
              <a:lnSpc>
                <a:spcPct val="105000"/>
              </a:lnSpc>
            </a:pPr>
            <a:r>
              <a:rPr sz="1600" b="0">
                <a:solidFill>
                  <a:srgbClr val="0A0A0A"/>
                </a:solidFill>
                <a:latin typeface="Segoe UI Semibold"/>
              </a:rPr>
              <a:t>From consultation to X-ray</a:t>
            </a:r>
          </a:p>
        </p:txBody>
      </p:sp>
      <p:sp>
        <p:nvSpPr>
          <p:cNvPr id="19" name="TextBox 18"/>
          <p:cNvSpPr txBox="1"/>
          <p:nvPr/>
        </p:nvSpPr>
        <p:spPr>
          <a:xfrm>
            <a:off x="960120" y="4892040"/>
            <a:ext cx="2875178" cy="1051560"/>
          </a:xfrm>
          <a:prstGeom prst="rect">
            <a:avLst/>
          </a:prstGeom>
          <a:noFill/>
        </p:spPr>
        <p:txBody>
          <a:bodyPr wrap="square" lIns="0" tIns="0" rIns="0" bIns="0" anchor="t"/>
          <a:lstStyle/>
          <a:p>
            <a:pPr algn="l">
              <a:lnSpc>
                <a:spcPct val="120000"/>
              </a:lnSpc>
            </a:pPr>
            <a:r>
              <a:rPr sz="1250" b="0">
                <a:solidFill>
                  <a:srgbClr val="6E6E73"/>
                </a:solidFill>
                <a:latin typeface="Segoe UI"/>
              </a:rPr>
              <a:t>The doctor marks the visit as done. OttO picks the patient up, walks them to X-ray, then to the exit.</a:t>
            </a:r>
          </a:p>
        </p:txBody>
      </p:sp>
      <p:sp>
        <p:nvSpPr>
          <p:cNvPr id="20" name="Rounded Rectangle 19"/>
          <p:cNvSpPr/>
          <p:nvPr/>
        </p:nvSpPr>
        <p:spPr>
          <a:xfrm>
            <a:off x="4383938" y="4023360"/>
            <a:ext cx="3423818" cy="2011680"/>
          </a:xfrm>
          <a:prstGeom prst="roundRect">
            <a:avLst>
              <a:gd name="adj" fmla="val 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58258" y="4279392"/>
            <a:ext cx="2875178" cy="548640"/>
          </a:xfrm>
          <a:prstGeom prst="rect">
            <a:avLst/>
          </a:prstGeom>
          <a:noFill/>
        </p:spPr>
        <p:txBody>
          <a:bodyPr wrap="square" lIns="0" tIns="0" rIns="0" bIns="0" anchor="t"/>
          <a:lstStyle/>
          <a:p>
            <a:pPr algn="l">
              <a:lnSpc>
                <a:spcPct val="105000"/>
              </a:lnSpc>
            </a:pPr>
            <a:r>
              <a:rPr sz="1600" b="0">
                <a:solidFill>
                  <a:srgbClr val="0A0A0A"/>
                </a:solidFill>
                <a:latin typeface="Segoe UI Semibold"/>
              </a:rPr>
              <a:t>A wrong turn</a:t>
            </a:r>
          </a:p>
        </p:txBody>
      </p:sp>
      <p:sp>
        <p:nvSpPr>
          <p:cNvPr id="22" name="TextBox 21"/>
          <p:cNvSpPr txBox="1"/>
          <p:nvPr/>
        </p:nvSpPr>
        <p:spPr>
          <a:xfrm>
            <a:off x="4658258" y="4892040"/>
            <a:ext cx="2875178" cy="1051560"/>
          </a:xfrm>
          <a:prstGeom prst="rect">
            <a:avLst/>
          </a:prstGeom>
          <a:noFill/>
        </p:spPr>
        <p:txBody>
          <a:bodyPr wrap="square" lIns="0" tIns="0" rIns="0" bIns="0" anchor="t"/>
          <a:lstStyle/>
          <a:p>
            <a:pPr algn="l">
              <a:lnSpc>
                <a:spcPct val="120000"/>
              </a:lnSpc>
            </a:pPr>
            <a:r>
              <a:rPr sz="1250" b="0">
                <a:solidFill>
                  <a:srgbClr val="6E6E73"/>
                </a:solidFill>
                <a:latin typeface="Segoe UI"/>
              </a:rPr>
              <a:t>OttO notices, waits, asks if everything is all right, and gets them back on the way.</a:t>
            </a:r>
          </a:p>
        </p:txBody>
      </p:sp>
      <p:sp>
        <p:nvSpPr>
          <p:cNvPr id="23" name="Rounded Rectangle 22"/>
          <p:cNvSpPr/>
          <p:nvPr/>
        </p:nvSpPr>
        <p:spPr>
          <a:xfrm>
            <a:off x="8082076" y="4023360"/>
            <a:ext cx="3423818" cy="2011680"/>
          </a:xfrm>
          <a:prstGeom prst="roundRect">
            <a:avLst>
              <a:gd name="adj" fmla="val 5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56396" y="4279392"/>
            <a:ext cx="2875178" cy="548640"/>
          </a:xfrm>
          <a:prstGeom prst="rect">
            <a:avLst/>
          </a:prstGeom>
          <a:noFill/>
        </p:spPr>
        <p:txBody>
          <a:bodyPr wrap="square" lIns="0" tIns="0" rIns="0" bIns="0" anchor="t"/>
          <a:lstStyle/>
          <a:p>
            <a:pPr algn="l">
              <a:lnSpc>
                <a:spcPct val="105000"/>
              </a:lnSpc>
            </a:pPr>
            <a:r>
              <a:rPr sz="1600" b="0">
                <a:solidFill>
                  <a:srgbClr val="FFFFFF"/>
                </a:solidFill>
                <a:latin typeface="Segoe UI Semibold"/>
              </a:rPr>
              <a:t>People decide. OttO walks.</a:t>
            </a:r>
          </a:p>
        </p:txBody>
      </p:sp>
      <p:sp>
        <p:nvSpPr>
          <p:cNvPr id="25" name="TextBox 24"/>
          <p:cNvSpPr txBox="1"/>
          <p:nvPr/>
        </p:nvSpPr>
        <p:spPr>
          <a:xfrm>
            <a:off x="8356396" y="4892040"/>
            <a:ext cx="2875178" cy="1051560"/>
          </a:xfrm>
          <a:prstGeom prst="rect">
            <a:avLst/>
          </a:prstGeom>
          <a:noFill/>
        </p:spPr>
        <p:txBody>
          <a:bodyPr wrap="square" lIns="0" tIns="0" rIns="0" bIns="0" anchor="t"/>
          <a:lstStyle/>
          <a:p>
            <a:pPr algn="l">
              <a:lnSpc>
                <a:spcPct val="120000"/>
              </a:lnSpc>
            </a:pPr>
            <a:r>
              <a:rPr sz="1250" b="0">
                <a:solidFill>
                  <a:srgbClr val="C7C7CC"/>
                </a:solidFill>
                <a:latin typeface="Segoe UI"/>
              </a:rPr>
              <a:t>Reception and nurses greet you, take your data and decide where you go. OttO only knows the next room: no personal or clinical data.</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6"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7" name="TextBox 6"/>
          <p:cNvSpPr txBox="1"/>
          <p:nvPr/>
        </p:nvSpPr>
        <p:spPr>
          <a:xfrm>
            <a:off x="685800" y="914400"/>
            <a:ext cx="10515600" cy="548640"/>
          </a:xfrm>
          <a:prstGeom prst="rect">
            <a:avLst/>
          </a:prstGeom>
          <a:noFill/>
        </p:spPr>
        <p:txBody>
          <a:bodyPr wrap="square" lIns="0" tIns="0" rIns="0" bIns="0" anchor="t"/>
          <a:lstStyle/>
          <a:p>
            <a:pPr algn="l">
              <a:lnSpc>
                <a:spcPct val="102000"/>
              </a:lnSpc>
            </a:pPr>
            <a:r>
              <a:rPr sz="2600" b="0">
                <a:solidFill>
                  <a:srgbClr val="0A0A0A"/>
                </a:solidFill>
                <a:latin typeface="Segoe UI"/>
              </a:rPr>
              <a:t>Backup. </a:t>
            </a:r>
            <a:r>
              <a:rPr sz="2600" b="0">
                <a:solidFill>
                  <a:srgbClr val="8E8E93"/>
                </a:solidFill>
                <a:latin typeface="Segoe UI"/>
              </a:rPr>
              <a:t>Market size, bottom-up.</a:t>
            </a:r>
          </a:p>
        </p:txBody>
      </p:sp>
      <p:sp>
        <p:nvSpPr>
          <p:cNvPr id="8" name="Oval 7"/>
          <p:cNvSpPr/>
          <p:nvPr/>
        </p:nvSpPr>
        <p:spPr>
          <a:xfrm>
            <a:off x="1005840" y="2057400"/>
            <a:ext cx="3931920" cy="3931920"/>
          </a:xfrm>
          <a:prstGeom prst="ellipse">
            <a:avLst/>
          </a:prstGeom>
          <a:solidFill>
            <a:srgbClr val="EF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57400" y="2240280"/>
            <a:ext cx="1828800" cy="274320"/>
          </a:xfrm>
          <a:prstGeom prst="rect">
            <a:avLst/>
          </a:prstGeom>
          <a:noFill/>
        </p:spPr>
        <p:txBody>
          <a:bodyPr wrap="square" lIns="0" tIns="0" rIns="0" bIns="0" anchor="t"/>
          <a:lstStyle/>
          <a:p>
            <a:pPr algn="ctr"/>
            <a:r>
              <a:rPr sz="1200" b="0">
                <a:solidFill>
                  <a:srgbClr val="6E6E73"/>
                </a:solidFill>
                <a:latin typeface="Segoe UI Semibold"/>
              </a:rPr>
              <a:t>TAM · EU</a:t>
            </a:r>
          </a:p>
        </p:txBody>
      </p:sp>
      <p:sp>
        <p:nvSpPr>
          <p:cNvPr id="10" name="Oval 9"/>
          <p:cNvSpPr/>
          <p:nvPr/>
        </p:nvSpPr>
        <p:spPr>
          <a:xfrm>
            <a:off x="1645920" y="3337560"/>
            <a:ext cx="2651760" cy="2651760"/>
          </a:xfrm>
          <a:prstGeom prst="ellipse">
            <a:avLst/>
          </a:prstGeom>
          <a:solidFill>
            <a:srgbClr val="D9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57400" y="3520440"/>
            <a:ext cx="1828800" cy="274320"/>
          </a:xfrm>
          <a:prstGeom prst="rect">
            <a:avLst/>
          </a:prstGeom>
          <a:noFill/>
        </p:spPr>
        <p:txBody>
          <a:bodyPr wrap="square" lIns="0" tIns="0" rIns="0" bIns="0" anchor="t"/>
          <a:lstStyle/>
          <a:p>
            <a:pPr algn="ctr"/>
            <a:r>
              <a:rPr sz="1200" b="0">
                <a:solidFill>
                  <a:srgbClr val="0A0A0A"/>
                </a:solidFill>
                <a:latin typeface="Segoe UI Semibold"/>
              </a:rPr>
              <a:t>SAM · Germany</a:t>
            </a:r>
          </a:p>
        </p:txBody>
      </p:sp>
      <p:sp>
        <p:nvSpPr>
          <p:cNvPr id="12" name="Oval 11"/>
          <p:cNvSpPr/>
          <p:nvPr/>
        </p:nvSpPr>
        <p:spPr>
          <a:xfrm>
            <a:off x="2313432" y="4672583"/>
            <a:ext cx="1316736" cy="1316736"/>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57400" y="4855464"/>
            <a:ext cx="1828800" cy="274320"/>
          </a:xfrm>
          <a:prstGeom prst="rect">
            <a:avLst/>
          </a:prstGeom>
          <a:noFill/>
        </p:spPr>
        <p:txBody>
          <a:bodyPr wrap="square" lIns="0" tIns="0" rIns="0" bIns="0" anchor="t"/>
          <a:lstStyle/>
          <a:p>
            <a:pPr algn="ctr"/>
            <a:r>
              <a:rPr sz="1200" b="0">
                <a:solidFill>
                  <a:srgbClr val="FFFFFF"/>
                </a:solidFill>
                <a:latin typeface="Segoe UI Semibold"/>
              </a:rPr>
              <a:t>SOM</a:t>
            </a:r>
          </a:p>
        </p:txBody>
      </p:sp>
      <p:sp>
        <p:nvSpPr>
          <p:cNvPr id="14" name="TextBox 13"/>
          <p:cNvSpPr txBox="1"/>
          <p:nvPr/>
        </p:nvSpPr>
        <p:spPr>
          <a:xfrm>
            <a:off x="2331720" y="5120640"/>
            <a:ext cx="1280160" cy="274320"/>
          </a:xfrm>
          <a:prstGeom prst="rect">
            <a:avLst/>
          </a:prstGeom>
          <a:noFill/>
        </p:spPr>
        <p:txBody>
          <a:bodyPr wrap="square" lIns="0" tIns="0" rIns="0" bIns="0" anchor="t"/>
          <a:lstStyle/>
          <a:p>
            <a:pPr algn="ctr"/>
            <a:r>
              <a:rPr sz="1000" b="0">
                <a:solidFill>
                  <a:srgbClr val="FFFFFF"/>
                </a:solidFill>
                <a:latin typeface="Segoe UI"/>
              </a:rPr>
              <a:t>Niedersachsen</a:t>
            </a:r>
          </a:p>
        </p:txBody>
      </p:sp>
      <p:sp>
        <p:nvSpPr>
          <p:cNvPr id="15" name="Rectangle 14"/>
          <p:cNvSpPr/>
          <p:nvPr/>
        </p:nvSpPr>
        <p:spPr>
          <a:xfrm>
            <a:off x="5760720" y="1691640"/>
            <a:ext cx="574517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60720" y="1828800"/>
            <a:ext cx="731520" cy="274320"/>
          </a:xfrm>
          <a:prstGeom prst="rect">
            <a:avLst/>
          </a:prstGeom>
          <a:noFill/>
        </p:spPr>
        <p:txBody>
          <a:bodyPr wrap="square" lIns="0" tIns="0" rIns="0" bIns="0" anchor="t"/>
          <a:lstStyle/>
          <a:p>
            <a:pPr algn="l"/>
            <a:r>
              <a:rPr sz="1100" b="0">
                <a:solidFill>
                  <a:srgbClr val="8E8E93"/>
                </a:solidFill>
                <a:latin typeface="Segoe UI Semibold"/>
              </a:rPr>
              <a:t>SOM</a:t>
            </a:r>
          </a:p>
        </p:txBody>
      </p:sp>
      <p:sp>
        <p:nvSpPr>
          <p:cNvPr id="17" name="TextBox 16"/>
          <p:cNvSpPr txBox="1"/>
          <p:nvPr/>
        </p:nvSpPr>
        <p:spPr>
          <a:xfrm>
            <a:off x="6492240" y="1737360"/>
            <a:ext cx="5013655" cy="502920"/>
          </a:xfrm>
          <a:prstGeom prst="rect">
            <a:avLst/>
          </a:prstGeom>
          <a:noFill/>
        </p:spPr>
        <p:txBody>
          <a:bodyPr wrap="square" lIns="0" tIns="0" rIns="0" bIns="0" anchor="t"/>
          <a:lstStyle/>
          <a:p>
            <a:pPr algn="l"/>
            <a:r>
              <a:rPr sz="2600" b="0">
                <a:solidFill>
                  <a:srgbClr val="0A0A0A"/>
                </a:solidFill>
                <a:latin typeface="Segoe UI Semilight"/>
              </a:rPr>
              <a:t>≈ €4M a year</a:t>
            </a:r>
          </a:p>
        </p:txBody>
      </p:sp>
      <p:sp>
        <p:nvSpPr>
          <p:cNvPr id="18" name="TextBox 17"/>
          <p:cNvSpPr txBox="1"/>
          <p:nvPr/>
        </p:nvSpPr>
        <p:spPr>
          <a:xfrm>
            <a:off x="6492240" y="2258568"/>
            <a:ext cx="5013655" cy="457200"/>
          </a:xfrm>
          <a:prstGeom prst="rect">
            <a:avLst/>
          </a:prstGeom>
          <a:noFill/>
        </p:spPr>
        <p:txBody>
          <a:bodyPr wrap="square" lIns="0" tIns="0" rIns="0" bIns="0" anchor="t"/>
          <a:lstStyle/>
          <a:p>
            <a:pPr algn="l">
              <a:lnSpc>
                <a:spcPct val="110000"/>
              </a:lnSpc>
            </a:pPr>
            <a:r>
              <a:rPr sz="1200" b="0">
                <a:solidFill>
                  <a:srgbClr val="6E6E73"/>
                </a:solidFill>
                <a:latin typeface="Segoe UI"/>
              </a:rPr>
              <a:t>Niedersachsen, our start: 165 hospitals × 2 robots × €12k</a:t>
            </a:r>
          </a:p>
        </p:txBody>
      </p:sp>
      <p:sp>
        <p:nvSpPr>
          <p:cNvPr id="19" name="TextBox 18"/>
          <p:cNvSpPr txBox="1"/>
          <p:nvPr/>
        </p:nvSpPr>
        <p:spPr>
          <a:xfrm>
            <a:off x="6492240" y="2587752"/>
            <a:ext cx="5013655" cy="274320"/>
          </a:xfrm>
          <a:prstGeom prst="rect">
            <a:avLst/>
          </a:prstGeom>
          <a:noFill/>
        </p:spPr>
        <p:txBody>
          <a:bodyPr wrap="square" lIns="0" tIns="0" rIns="0" bIns="0" anchor="t"/>
          <a:lstStyle/>
          <a:p>
            <a:pPr algn="l"/>
            <a:r>
              <a:rPr sz="900" b="0">
                <a:solidFill>
                  <a:srgbClr val="8E8E93"/>
                </a:solidFill>
                <a:latin typeface="Segoe UI"/>
              </a:rPr>
              <a:t>Niedersachsen state parliament, Drs. 19/4737 (hospitals end of 2023) · own calculation</a:t>
            </a:r>
          </a:p>
        </p:txBody>
      </p:sp>
      <p:sp>
        <p:nvSpPr>
          <p:cNvPr id="20" name="Rectangle 19"/>
          <p:cNvSpPr/>
          <p:nvPr/>
        </p:nvSpPr>
        <p:spPr>
          <a:xfrm>
            <a:off x="5760720" y="2953512"/>
            <a:ext cx="574517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60720" y="3090672"/>
            <a:ext cx="731520" cy="274320"/>
          </a:xfrm>
          <a:prstGeom prst="rect">
            <a:avLst/>
          </a:prstGeom>
          <a:noFill/>
        </p:spPr>
        <p:txBody>
          <a:bodyPr wrap="square" lIns="0" tIns="0" rIns="0" bIns="0" anchor="t"/>
          <a:lstStyle/>
          <a:p>
            <a:pPr algn="l"/>
            <a:r>
              <a:rPr sz="1100" b="0">
                <a:solidFill>
                  <a:srgbClr val="8E8E93"/>
                </a:solidFill>
                <a:latin typeface="Segoe UI Semibold"/>
              </a:rPr>
              <a:t>SAM</a:t>
            </a:r>
          </a:p>
        </p:txBody>
      </p:sp>
      <p:sp>
        <p:nvSpPr>
          <p:cNvPr id="22" name="TextBox 21"/>
          <p:cNvSpPr txBox="1"/>
          <p:nvPr/>
        </p:nvSpPr>
        <p:spPr>
          <a:xfrm>
            <a:off x="6492240" y="2999232"/>
            <a:ext cx="5013655" cy="502920"/>
          </a:xfrm>
          <a:prstGeom prst="rect">
            <a:avLst/>
          </a:prstGeom>
          <a:noFill/>
        </p:spPr>
        <p:txBody>
          <a:bodyPr wrap="square" lIns="0" tIns="0" rIns="0" bIns="0" anchor="t"/>
          <a:lstStyle/>
          <a:p>
            <a:pPr algn="l"/>
            <a:r>
              <a:rPr sz="2600" b="0">
                <a:solidFill>
                  <a:srgbClr val="0A0A0A"/>
                </a:solidFill>
                <a:latin typeface="Segoe UI Semilight"/>
              </a:rPr>
              <a:t>≈ €44M a year</a:t>
            </a:r>
          </a:p>
        </p:txBody>
      </p:sp>
      <p:sp>
        <p:nvSpPr>
          <p:cNvPr id="23" name="TextBox 22"/>
          <p:cNvSpPr txBox="1"/>
          <p:nvPr/>
        </p:nvSpPr>
        <p:spPr>
          <a:xfrm>
            <a:off x="6492240" y="3520440"/>
            <a:ext cx="5013655" cy="457200"/>
          </a:xfrm>
          <a:prstGeom prst="rect">
            <a:avLst/>
          </a:prstGeom>
          <a:noFill/>
        </p:spPr>
        <p:txBody>
          <a:bodyPr wrap="square" lIns="0" tIns="0" rIns="0" bIns="0" anchor="t"/>
          <a:lstStyle/>
          <a:p>
            <a:pPr algn="l">
              <a:lnSpc>
                <a:spcPct val="110000"/>
              </a:lnSpc>
            </a:pPr>
            <a:r>
              <a:rPr sz="1200" b="0">
                <a:solidFill>
                  <a:srgbClr val="6E6E73"/>
                </a:solidFill>
                <a:latin typeface="Segoe UI"/>
              </a:rPr>
              <a:t>Germany: 1,841 hospitals × 2 robots × €12k</a:t>
            </a:r>
          </a:p>
        </p:txBody>
      </p:sp>
      <p:sp>
        <p:nvSpPr>
          <p:cNvPr id="24" name="TextBox 23"/>
          <p:cNvSpPr txBox="1"/>
          <p:nvPr/>
        </p:nvSpPr>
        <p:spPr>
          <a:xfrm>
            <a:off x="6492240" y="3849624"/>
            <a:ext cx="5013655" cy="274320"/>
          </a:xfrm>
          <a:prstGeom prst="rect">
            <a:avLst/>
          </a:prstGeom>
          <a:noFill/>
        </p:spPr>
        <p:txBody>
          <a:bodyPr wrap="square" lIns="0" tIns="0" rIns="0" bIns="0" anchor="t"/>
          <a:lstStyle/>
          <a:p>
            <a:pPr algn="l"/>
            <a:r>
              <a:rPr sz="900" b="0">
                <a:solidFill>
                  <a:srgbClr val="8E8E93"/>
                </a:solidFill>
                <a:latin typeface="Segoe UI"/>
              </a:rPr>
              <a:t>Destatis 2024 · own calculation</a:t>
            </a:r>
          </a:p>
        </p:txBody>
      </p:sp>
      <p:sp>
        <p:nvSpPr>
          <p:cNvPr id="25" name="Rectangle 24"/>
          <p:cNvSpPr/>
          <p:nvPr/>
        </p:nvSpPr>
        <p:spPr>
          <a:xfrm>
            <a:off x="5760720" y="4215383"/>
            <a:ext cx="574517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60720" y="4352544"/>
            <a:ext cx="731520" cy="274320"/>
          </a:xfrm>
          <a:prstGeom prst="rect">
            <a:avLst/>
          </a:prstGeom>
          <a:noFill/>
        </p:spPr>
        <p:txBody>
          <a:bodyPr wrap="square" lIns="0" tIns="0" rIns="0" bIns="0" anchor="t"/>
          <a:lstStyle/>
          <a:p>
            <a:pPr algn="l"/>
            <a:r>
              <a:rPr sz="1100" b="0">
                <a:solidFill>
                  <a:srgbClr val="8E8E93"/>
                </a:solidFill>
                <a:latin typeface="Segoe UI Semibold"/>
              </a:rPr>
              <a:t>TAM</a:t>
            </a:r>
          </a:p>
        </p:txBody>
      </p:sp>
      <p:sp>
        <p:nvSpPr>
          <p:cNvPr id="27" name="TextBox 26"/>
          <p:cNvSpPr txBox="1"/>
          <p:nvPr/>
        </p:nvSpPr>
        <p:spPr>
          <a:xfrm>
            <a:off x="6492240" y="4261103"/>
            <a:ext cx="5013655" cy="502920"/>
          </a:xfrm>
          <a:prstGeom prst="rect">
            <a:avLst/>
          </a:prstGeom>
          <a:noFill/>
        </p:spPr>
        <p:txBody>
          <a:bodyPr wrap="square" lIns="0" tIns="0" rIns="0" bIns="0" anchor="t"/>
          <a:lstStyle/>
          <a:p>
            <a:pPr algn="l"/>
            <a:r>
              <a:rPr sz="2600" b="0">
                <a:solidFill>
                  <a:srgbClr val="0A0A0A"/>
                </a:solidFill>
                <a:latin typeface="Segoe UI Semilight"/>
              </a:rPr>
              <a:t>≈ €158M a year</a:t>
            </a:r>
          </a:p>
        </p:txBody>
      </p:sp>
      <p:sp>
        <p:nvSpPr>
          <p:cNvPr id="28" name="TextBox 27"/>
          <p:cNvSpPr txBox="1"/>
          <p:nvPr/>
        </p:nvSpPr>
        <p:spPr>
          <a:xfrm>
            <a:off x="6492240" y="4782312"/>
            <a:ext cx="5013655" cy="457200"/>
          </a:xfrm>
          <a:prstGeom prst="rect">
            <a:avLst/>
          </a:prstGeom>
          <a:noFill/>
        </p:spPr>
        <p:txBody>
          <a:bodyPr wrap="square" lIns="0" tIns="0" rIns="0" bIns="0" anchor="t"/>
          <a:lstStyle/>
          <a:p>
            <a:pPr algn="l">
              <a:lnSpc>
                <a:spcPct val="110000"/>
              </a:lnSpc>
            </a:pPr>
            <a:r>
              <a:rPr sz="1200" b="0">
                <a:solidFill>
                  <a:srgbClr val="6E6E73"/>
                </a:solidFill>
                <a:latin typeface="Segoe UI"/>
              </a:rPr>
              <a:t>EU: about 6,600 hospitals (Germany scaled by beds) × 2 robots × €12k</a:t>
            </a:r>
          </a:p>
        </p:txBody>
      </p:sp>
      <p:sp>
        <p:nvSpPr>
          <p:cNvPr id="29" name="TextBox 28"/>
          <p:cNvSpPr txBox="1"/>
          <p:nvPr/>
        </p:nvSpPr>
        <p:spPr>
          <a:xfrm>
            <a:off x="6492240" y="5111496"/>
            <a:ext cx="5013655" cy="274320"/>
          </a:xfrm>
          <a:prstGeom prst="rect">
            <a:avLst/>
          </a:prstGeom>
          <a:noFill/>
        </p:spPr>
        <p:txBody>
          <a:bodyPr wrap="square" lIns="0" tIns="0" rIns="0" bIns="0" anchor="t"/>
          <a:lstStyle/>
          <a:p>
            <a:pPr algn="l"/>
            <a:r>
              <a:rPr sz="900" b="0">
                <a:solidFill>
                  <a:srgbClr val="8E8E93"/>
                </a:solidFill>
                <a:latin typeface="Segoe UI"/>
              </a:rPr>
              <a:t>Eurostat 2022: 2.3M hospital beds in the EU, 642k in Germany · own calculation</a:t>
            </a:r>
          </a:p>
        </p:txBody>
      </p:sp>
      <p:sp>
        <p:nvSpPr>
          <p:cNvPr id="30" name="Rectangle 29"/>
          <p:cNvSpPr/>
          <p:nvPr/>
        </p:nvSpPr>
        <p:spPr>
          <a:xfrm>
            <a:off x="5760720" y="5477255"/>
            <a:ext cx="574517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760720" y="5586983"/>
            <a:ext cx="5745175" cy="685800"/>
          </a:xfrm>
          <a:prstGeom prst="rect">
            <a:avLst/>
          </a:prstGeom>
          <a:noFill/>
        </p:spPr>
        <p:txBody>
          <a:bodyPr wrap="square" lIns="0" tIns="0" rIns="0" bIns="0" anchor="t"/>
          <a:lstStyle/>
          <a:p>
            <a:pPr algn="l">
              <a:lnSpc>
                <a:spcPct val="115000"/>
              </a:lnSpc>
            </a:pPr>
            <a:r>
              <a:rPr sz="1050" b="0">
                <a:solidFill>
                  <a:srgbClr val="0A0A0A"/>
                </a:solidFill>
                <a:latin typeface="Segoe UI Semibold"/>
              </a:rPr>
              <a:t>Assumptions: </a:t>
            </a:r>
            <a:r>
              <a:rPr sz="1050" b="0">
                <a:solidFill>
                  <a:srgbClr val="6E6E73"/>
                </a:solidFill>
                <a:latin typeface="Segoe UI"/>
              </a:rPr>
              <a:t>2 robots per hospital on average, €12k per robot per year incl. hardware, software and support. </a:t>
            </a:r>
            <a:r>
              <a:rPr sz="1050" b="0">
                <a:solidFill>
                  <a:srgbClr val="0A0A0A"/>
                </a:solidFill>
                <a:latin typeface="Segoe UI Semibold"/>
              </a:rPr>
              <a:t>Top-down check: </a:t>
            </a:r>
            <a:r>
              <a:rPr sz="1050" b="0">
                <a:solidFill>
                  <a:srgbClr val="6E6E73"/>
                </a:solidFill>
                <a:latin typeface="Segoe UI"/>
              </a:rPr>
              <a:t>hospital wayfinding robots are about $1B worldwide in 2025 (The Business Research Company). Tailwind: medical robot sales +91 % in 2024 (IFR).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6"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7" name="TextBox 6"/>
          <p:cNvSpPr txBox="1"/>
          <p:nvPr/>
        </p:nvSpPr>
        <p:spPr>
          <a:xfrm>
            <a:off x="685800" y="914400"/>
            <a:ext cx="10515600" cy="548640"/>
          </a:xfrm>
          <a:prstGeom prst="rect">
            <a:avLst/>
          </a:prstGeom>
          <a:noFill/>
        </p:spPr>
        <p:txBody>
          <a:bodyPr wrap="square" lIns="0" tIns="0" rIns="0" bIns="0" anchor="t"/>
          <a:lstStyle/>
          <a:p>
            <a:pPr algn="l">
              <a:lnSpc>
                <a:spcPct val="102000"/>
              </a:lnSpc>
            </a:pPr>
            <a:r>
              <a:rPr sz="2600" b="0">
                <a:solidFill>
                  <a:srgbClr val="0A0A0A"/>
                </a:solidFill>
                <a:latin typeface="Segoe UI"/>
              </a:rPr>
              <a:t>Backup. </a:t>
            </a:r>
            <a:r>
              <a:rPr sz="2600" b="0">
                <a:solidFill>
                  <a:srgbClr val="8E8E93"/>
                </a:solidFill>
                <a:latin typeface="Segoe UI"/>
              </a:rPr>
              <a:t>Growth plan, illustrative.</a:t>
            </a:r>
          </a:p>
        </p:txBody>
      </p:sp>
      <p:graphicFrame>
        <p:nvGraphicFramePr>
          <p:cNvPr id="8" name="el176"/>
          <p:cNvGraphicFramePr>
            <a:graphicFrameLocks noGrp="1"/>
          </p:cNvGraphicFramePr>
          <p:nvPr/>
        </p:nvGraphicFramePr>
        <p:xfrm>
          <a:off x="685800" y="1691640"/>
          <a:ext cx="6949440" cy="4343400"/>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p:cNvSpPr/>
          <p:nvPr/>
        </p:nvSpPr>
        <p:spPr>
          <a:xfrm>
            <a:off x="8046720" y="1783080"/>
            <a:ext cx="345917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0" y="1892807"/>
            <a:ext cx="731520" cy="274320"/>
          </a:xfrm>
          <a:prstGeom prst="rect">
            <a:avLst/>
          </a:prstGeom>
          <a:noFill/>
        </p:spPr>
        <p:txBody>
          <a:bodyPr wrap="square" lIns="0" tIns="0" rIns="0" bIns="0" anchor="t"/>
          <a:lstStyle/>
          <a:p>
            <a:pPr algn="l"/>
            <a:r>
              <a:rPr sz="1100" b="0">
                <a:solidFill>
                  <a:srgbClr val="8E8E93"/>
                </a:solidFill>
                <a:latin typeface="Segoe UI Semibold"/>
              </a:rPr>
              <a:t>2027</a:t>
            </a:r>
          </a:p>
        </p:txBody>
      </p:sp>
      <p:sp>
        <p:nvSpPr>
          <p:cNvPr id="11" name="TextBox 10"/>
          <p:cNvSpPr txBox="1"/>
          <p:nvPr/>
        </p:nvSpPr>
        <p:spPr>
          <a:xfrm>
            <a:off x="8778240" y="1856231"/>
            <a:ext cx="2727655" cy="320040"/>
          </a:xfrm>
          <a:prstGeom prst="rect">
            <a:avLst/>
          </a:prstGeom>
          <a:noFill/>
        </p:spPr>
        <p:txBody>
          <a:bodyPr wrap="square" lIns="0" tIns="0" rIns="0" bIns="0" anchor="t"/>
          <a:lstStyle/>
          <a:p>
            <a:pPr algn="l"/>
            <a:r>
              <a:rPr sz="1400" b="0">
                <a:solidFill>
                  <a:srgbClr val="0A0A0A"/>
                </a:solidFill>
                <a:latin typeface="Segoe UI Semibold"/>
              </a:rPr>
              <a:t>Pilot in OWL and Hannover</a:t>
            </a:r>
          </a:p>
        </p:txBody>
      </p:sp>
      <p:sp>
        <p:nvSpPr>
          <p:cNvPr id="12" name="TextBox 11"/>
          <p:cNvSpPr txBox="1"/>
          <p:nvPr/>
        </p:nvSpPr>
        <p:spPr>
          <a:xfrm>
            <a:off x="8778240" y="2167128"/>
            <a:ext cx="2727655" cy="274320"/>
          </a:xfrm>
          <a:prstGeom prst="rect">
            <a:avLst/>
          </a:prstGeom>
          <a:noFill/>
        </p:spPr>
        <p:txBody>
          <a:bodyPr wrap="square" lIns="0" tIns="0" rIns="0" bIns="0" anchor="t"/>
          <a:lstStyle/>
          <a:p>
            <a:pPr algn="l"/>
            <a:r>
              <a:rPr sz="1200" b="0">
                <a:solidFill>
                  <a:srgbClr val="6E6E73"/>
                </a:solidFill>
                <a:latin typeface="Segoe UI"/>
              </a:rPr>
              <a:t>2 robots</a:t>
            </a:r>
          </a:p>
        </p:txBody>
      </p:sp>
      <p:sp>
        <p:nvSpPr>
          <p:cNvPr id="13" name="Rectangle 12"/>
          <p:cNvSpPr/>
          <p:nvPr/>
        </p:nvSpPr>
        <p:spPr>
          <a:xfrm>
            <a:off x="8046720" y="2569464"/>
            <a:ext cx="345917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2679192"/>
            <a:ext cx="731520" cy="274320"/>
          </a:xfrm>
          <a:prstGeom prst="rect">
            <a:avLst/>
          </a:prstGeom>
          <a:noFill/>
        </p:spPr>
        <p:txBody>
          <a:bodyPr wrap="square" lIns="0" tIns="0" rIns="0" bIns="0" anchor="t"/>
          <a:lstStyle/>
          <a:p>
            <a:pPr algn="l"/>
            <a:r>
              <a:rPr sz="1100" b="0">
                <a:solidFill>
                  <a:srgbClr val="8E8E93"/>
                </a:solidFill>
                <a:latin typeface="Segoe UI Semibold"/>
              </a:rPr>
              <a:t>2028</a:t>
            </a:r>
          </a:p>
        </p:txBody>
      </p:sp>
      <p:sp>
        <p:nvSpPr>
          <p:cNvPr id="15" name="TextBox 14"/>
          <p:cNvSpPr txBox="1"/>
          <p:nvPr/>
        </p:nvSpPr>
        <p:spPr>
          <a:xfrm>
            <a:off x="8778240" y="2642616"/>
            <a:ext cx="2727655" cy="320040"/>
          </a:xfrm>
          <a:prstGeom prst="rect">
            <a:avLst/>
          </a:prstGeom>
          <a:noFill/>
        </p:spPr>
        <p:txBody>
          <a:bodyPr wrap="square" lIns="0" tIns="0" rIns="0" bIns="0" anchor="t"/>
          <a:lstStyle/>
          <a:p>
            <a:pPr algn="l"/>
            <a:r>
              <a:rPr sz="1400" b="0">
                <a:solidFill>
                  <a:srgbClr val="0A0A0A"/>
                </a:solidFill>
                <a:latin typeface="Segoe UI Semibold"/>
              </a:rPr>
              <a:t>First paying clinics</a:t>
            </a:r>
          </a:p>
        </p:txBody>
      </p:sp>
      <p:sp>
        <p:nvSpPr>
          <p:cNvPr id="16" name="TextBox 15"/>
          <p:cNvSpPr txBox="1"/>
          <p:nvPr/>
        </p:nvSpPr>
        <p:spPr>
          <a:xfrm>
            <a:off x="8778240" y="2953512"/>
            <a:ext cx="2727655" cy="274320"/>
          </a:xfrm>
          <a:prstGeom prst="rect">
            <a:avLst/>
          </a:prstGeom>
          <a:noFill/>
        </p:spPr>
        <p:txBody>
          <a:bodyPr wrap="square" lIns="0" tIns="0" rIns="0" bIns="0" anchor="t"/>
          <a:lstStyle/>
          <a:p>
            <a:pPr algn="l"/>
            <a:r>
              <a:rPr sz="1200" b="0">
                <a:solidFill>
                  <a:srgbClr val="6E6E73"/>
                </a:solidFill>
                <a:latin typeface="Segoe UI"/>
              </a:rPr>
              <a:t>10 robots</a:t>
            </a:r>
          </a:p>
        </p:txBody>
      </p:sp>
      <p:sp>
        <p:nvSpPr>
          <p:cNvPr id="17" name="Rectangle 16"/>
          <p:cNvSpPr/>
          <p:nvPr/>
        </p:nvSpPr>
        <p:spPr>
          <a:xfrm>
            <a:off x="8046720" y="3355848"/>
            <a:ext cx="345917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0" y="3465576"/>
            <a:ext cx="731520" cy="274320"/>
          </a:xfrm>
          <a:prstGeom prst="rect">
            <a:avLst/>
          </a:prstGeom>
          <a:noFill/>
        </p:spPr>
        <p:txBody>
          <a:bodyPr wrap="square" lIns="0" tIns="0" rIns="0" bIns="0" anchor="t"/>
          <a:lstStyle/>
          <a:p>
            <a:pPr algn="l"/>
            <a:r>
              <a:rPr sz="1100" b="0">
                <a:solidFill>
                  <a:srgbClr val="8E8E93"/>
                </a:solidFill>
                <a:latin typeface="Segoe UI Semibold"/>
              </a:rPr>
              <a:t>2029</a:t>
            </a:r>
          </a:p>
        </p:txBody>
      </p:sp>
      <p:sp>
        <p:nvSpPr>
          <p:cNvPr id="19" name="TextBox 18"/>
          <p:cNvSpPr txBox="1"/>
          <p:nvPr/>
        </p:nvSpPr>
        <p:spPr>
          <a:xfrm>
            <a:off x="8778240" y="3429000"/>
            <a:ext cx="2727655" cy="320040"/>
          </a:xfrm>
          <a:prstGeom prst="rect">
            <a:avLst/>
          </a:prstGeom>
          <a:noFill/>
        </p:spPr>
        <p:txBody>
          <a:bodyPr wrap="square" lIns="0" tIns="0" rIns="0" bIns="0" anchor="t"/>
          <a:lstStyle/>
          <a:p>
            <a:pPr algn="l"/>
            <a:r>
              <a:rPr sz="1400" b="0">
                <a:solidFill>
                  <a:srgbClr val="0A0A0A"/>
                </a:solidFill>
                <a:latin typeface="Segoe UI Semibold"/>
              </a:rPr>
              <a:t>Niedersachsen and NRW</a:t>
            </a:r>
          </a:p>
        </p:txBody>
      </p:sp>
      <p:sp>
        <p:nvSpPr>
          <p:cNvPr id="20" name="TextBox 19"/>
          <p:cNvSpPr txBox="1"/>
          <p:nvPr/>
        </p:nvSpPr>
        <p:spPr>
          <a:xfrm>
            <a:off x="8778240" y="3739896"/>
            <a:ext cx="2727655" cy="274320"/>
          </a:xfrm>
          <a:prstGeom prst="rect">
            <a:avLst/>
          </a:prstGeom>
          <a:noFill/>
        </p:spPr>
        <p:txBody>
          <a:bodyPr wrap="square" lIns="0" tIns="0" rIns="0" bIns="0" anchor="t"/>
          <a:lstStyle/>
          <a:p>
            <a:pPr algn="l"/>
            <a:r>
              <a:rPr sz="1200" b="0">
                <a:solidFill>
                  <a:srgbClr val="6E6E73"/>
                </a:solidFill>
                <a:latin typeface="Segoe UI"/>
              </a:rPr>
              <a:t>35 robots</a:t>
            </a:r>
          </a:p>
        </p:txBody>
      </p:sp>
      <p:sp>
        <p:nvSpPr>
          <p:cNvPr id="21" name="Rectangle 20"/>
          <p:cNvSpPr/>
          <p:nvPr/>
        </p:nvSpPr>
        <p:spPr>
          <a:xfrm>
            <a:off x="8046720" y="4142232"/>
            <a:ext cx="345917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20" y="4251960"/>
            <a:ext cx="731520" cy="274320"/>
          </a:xfrm>
          <a:prstGeom prst="rect">
            <a:avLst/>
          </a:prstGeom>
          <a:noFill/>
        </p:spPr>
        <p:txBody>
          <a:bodyPr wrap="square" lIns="0" tIns="0" rIns="0" bIns="0" anchor="t"/>
          <a:lstStyle/>
          <a:p>
            <a:pPr algn="l"/>
            <a:r>
              <a:rPr sz="1100" b="0">
                <a:solidFill>
                  <a:srgbClr val="8E8E93"/>
                </a:solidFill>
                <a:latin typeface="Segoe UI Semibold"/>
              </a:rPr>
              <a:t>2030</a:t>
            </a:r>
          </a:p>
        </p:txBody>
      </p:sp>
      <p:sp>
        <p:nvSpPr>
          <p:cNvPr id="23" name="TextBox 22"/>
          <p:cNvSpPr txBox="1"/>
          <p:nvPr/>
        </p:nvSpPr>
        <p:spPr>
          <a:xfrm>
            <a:off x="8778240" y="4215384"/>
            <a:ext cx="2727655" cy="320040"/>
          </a:xfrm>
          <a:prstGeom prst="rect">
            <a:avLst/>
          </a:prstGeom>
          <a:noFill/>
        </p:spPr>
        <p:txBody>
          <a:bodyPr wrap="square" lIns="0" tIns="0" rIns="0" bIns="0" anchor="t"/>
          <a:lstStyle/>
          <a:p>
            <a:pPr algn="l"/>
            <a:r>
              <a:rPr sz="1400" b="0">
                <a:solidFill>
                  <a:srgbClr val="0A0A0A"/>
                </a:solidFill>
                <a:latin typeface="Segoe UI Semibold"/>
              </a:rPr>
              <a:t>Germany</a:t>
            </a:r>
          </a:p>
        </p:txBody>
      </p:sp>
      <p:sp>
        <p:nvSpPr>
          <p:cNvPr id="24" name="TextBox 23"/>
          <p:cNvSpPr txBox="1"/>
          <p:nvPr/>
        </p:nvSpPr>
        <p:spPr>
          <a:xfrm>
            <a:off x="8778240" y="4526280"/>
            <a:ext cx="2727655" cy="274320"/>
          </a:xfrm>
          <a:prstGeom prst="rect">
            <a:avLst/>
          </a:prstGeom>
          <a:noFill/>
        </p:spPr>
        <p:txBody>
          <a:bodyPr wrap="square" lIns="0" tIns="0" rIns="0" bIns="0" anchor="t"/>
          <a:lstStyle/>
          <a:p>
            <a:pPr algn="l"/>
            <a:r>
              <a:rPr sz="1200" b="0">
                <a:solidFill>
                  <a:srgbClr val="6E6E73"/>
                </a:solidFill>
                <a:latin typeface="Segoe UI"/>
              </a:rPr>
              <a:t>90 robots</a:t>
            </a:r>
          </a:p>
        </p:txBody>
      </p:sp>
      <p:sp>
        <p:nvSpPr>
          <p:cNvPr id="25" name="Rectangle 24"/>
          <p:cNvSpPr/>
          <p:nvPr/>
        </p:nvSpPr>
        <p:spPr>
          <a:xfrm>
            <a:off x="8046720" y="4928616"/>
            <a:ext cx="345917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46720" y="5038344"/>
            <a:ext cx="731520" cy="274320"/>
          </a:xfrm>
          <a:prstGeom prst="rect">
            <a:avLst/>
          </a:prstGeom>
          <a:noFill/>
        </p:spPr>
        <p:txBody>
          <a:bodyPr wrap="square" lIns="0" tIns="0" rIns="0" bIns="0" anchor="t"/>
          <a:lstStyle/>
          <a:p>
            <a:pPr algn="l"/>
            <a:r>
              <a:rPr sz="1100" b="0">
                <a:solidFill>
                  <a:srgbClr val="8E8E93"/>
                </a:solidFill>
                <a:latin typeface="Segoe UI Semibold"/>
              </a:rPr>
              <a:t>2031</a:t>
            </a:r>
          </a:p>
        </p:txBody>
      </p:sp>
      <p:sp>
        <p:nvSpPr>
          <p:cNvPr id="27" name="TextBox 26"/>
          <p:cNvSpPr txBox="1"/>
          <p:nvPr/>
        </p:nvSpPr>
        <p:spPr>
          <a:xfrm>
            <a:off x="8778240" y="5001768"/>
            <a:ext cx="2727655" cy="320040"/>
          </a:xfrm>
          <a:prstGeom prst="rect">
            <a:avLst/>
          </a:prstGeom>
          <a:noFill/>
        </p:spPr>
        <p:txBody>
          <a:bodyPr wrap="square" lIns="0" tIns="0" rIns="0" bIns="0" anchor="t"/>
          <a:lstStyle/>
          <a:p>
            <a:pPr algn="l"/>
            <a:r>
              <a:rPr sz="1400" b="0">
                <a:solidFill>
                  <a:srgbClr val="0A0A0A"/>
                </a:solidFill>
                <a:latin typeface="Segoe UI Semibold"/>
              </a:rPr>
              <a:t>≈ 5 % of German hospitals</a:t>
            </a:r>
          </a:p>
        </p:txBody>
      </p:sp>
      <p:sp>
        <p:nvSpPr>
          <p:cNvPr id="28" name="TextBox 27"/>
          <p:cNvSpPr txBox="1"/>
          <p:nvPr/>
        </p:nvSpPr>
        <p:spPr>
          <a:xfrm>
            <a:off x="8778240" y="5312664"/>
            <a:ext cx="2727655" cy="274320"/>
          </a:xfrm>
          <a:prstGeom prst="rect">
            <a:avLst/>
          </a:prstGeom>
          <a:noFill/>
        </p:spPr>
        <p:txBody>
          <a:bodyPr wrap="square" lIns="0" tIns="0" rIns="0" bIns="0" anchor="t"/>
          <a:lstStyle/>
          <a:p>
            <a:pPr algn="l"/>
            <a:r>
              <a:rPr sz="1200" b="0">
                <a:solidFill>
                  <a:srgbClr val="6E6E73"/>
                </a:solidFill>
                <a:latin typeface="Segoe UI"/>
              </a:rPr>
              <a:t>185 robots</a:t>
            </a:r>
          </a:p>
        </p:txBody>
      </p:sp>
      <p:sp>
        <p:nvSpPr>
          <p:cNvPr id="29" name="Rectangle 28"/>
          <p:cNvSpPr/>
          <p:nvPr/>
        </p:nvSpPr>
        <p:spPr>
          <a:xfrm>
            <a:off x="8046720" y="5715000"/>
            <a:ext cx="345917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46720" y="5852160"/>
            <a:ext cx="3459175" cy="502920"/>
          </a:xfrm>
          <a:prstGeom prst="rect">
            <a:avLst/>
          </a:prstGeom>
          <a:noFill/>
        </p:spPr>
        <p:txBody>
          <a:bodyPr wrap="square" lIns="0" tIns="0" rIns="0" bIns="0" anchor="t"/>
          <a:lstStyle/>
          <a:p>
            <a:pPr algn="l">
              <a:lnSpc>
                <a:spcPct val="115000"/>
              </a:lnSpc>
            </a:pPr>
            <a:r>
              <a:rPr sz="1000" b="0">
                <a:solidFill>
                  <a:srgbClr val="8E8E93"/>
                </a:solidFill>
                <a:latin typeface="Segoe UI"/>
              </a:rPr>
              <a:t>Revenue at €12k per robot per year. A plan, not a forecast.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5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6"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7" name="TextBox 6"/>
          <p:cNvSpPr txBox="1"/>
          <p:nvPr/>
        </p:nvSpPr>
        <p:spPr>
          <a:xfrm>
            <a:off x="685800" y="914400"/>
            <a:ext cx="10515600" cy="548640"/>
          </a:xfrm>
          <a:prstGeom prst="rect">
            <a:avLst/>
          </a:prstGeom>
          <a:noFill/>
        </p:spPr>
        <p:txBody>
          <a:bodyPr wrap="square" lIns="0" tIns="0" rIns="0" bIns="0" anchor="t"/>
          <a:lstStyle/>
          <a:p>
            <a:pPr algn="l">
              <a:lnSpc>
                <a:spcPct val="102000"/>
              </a:lnSpc>
            </a:pPr>
            <a:r>
              <a:rPr sz="2600" b="0">
                <a:solidFill>
                  <a:srgbClr val="0A0A0A"/>
                </a:solidFill>
                <a:latin typeface="Segoe UI"/>
              </a:rPr>
              <a:t>Backup. </a:t>
            </a:r>
            <a:r>
              <a:rPr sz="2600" b="0">
                <a:solidFill>
                  <a:srgbClr val="8E8E93"/>
                </a:solidFill>
                <a:latin typeface="Segoe UI"/>
              </a:rPr>
              <a:t>Go-to-market: land, expand, scale.</a:t>
            </a:r>
          </a:p>
        </p:txBody>
      </p:sp>
      <p:sp>
        <p:nvSpPr>
          <p:cNvPr id="8" name="TextBox 7"/>
          <p:cNvSpPr txBox="1"/>
          <p:nvPr/>
        </p:nvSpPr>
        <p:spPr>
          <a:xfrm>
            <a:off x="2423160" y="1645920"/>
            <a:ext cx="2753258" cy="256032"/>
          </a:xfrm>
          <a:prstGeom prst="rect">
            <a:avLst/>
          </a:prstGeom>
          <a:noFill/>
        </p:spPr>
        <p:txBody>
          <a:bodyPr wrap="square" lIns="0" tIns="0" rIns="0" bIns="0" anchor="t"/>
          <a:lstStyle/>
          <a:p>
            <a:pPr algn="l"/>
            <a:r>
              <a:rPr sz="1100" b="0">
                <a:solidFill>
                  <a:srgbClr val="8E8E93"/>
                </a:solidFill>
                <a:latin typeface="Segoe UI Semibold"/>
              </a:rPr>
              <a:t>2027 · first pilots</a:t>
            </a:r>
          </a:p>
        </p:txBody>
      </p:sp>
      <p:sp>
        <p:nvSpPr>
          <p:cNvPr id="9" name="TextBox 8"/>
          <p:cNvSpPr txBox="1"/>
          <p:nvPr/>
        </p:nvSpPr>
        <p:spPr>
          <a:xfrm>
            <a:off x="2423160" y="1865376"/>
            <a:ext cx="1828800" cy="384048"/>
          </a:xfrm>
          <a:prstGeom prst="rect">
            <a:avLst/>
          </a:prstGeom>
          <a:noFill/>
        </p:spPr>
        <p:txBody>
          <a:bodyPr wrap="square" lIns="0" tIns="0" rIns="0" bIns="0" anchor="t"/>
          <a:lstStyle/>
          <a:p>
            <a:pPr algn="l"/>
            <a:r>
              <a:rPr sz="2000" b="0">
                <a:solidFill>
                  <a:srgbClr val="0A0A0A"/>
                </a:solidFill>
                <a:latin typeface="Segoe UI Semibold"/>
              </a:rPr>
              <a:t>Land</a:t>
            </a:r>
          </a:p>
        </p:txBody>
      </p:sp>
      <p:sp>
        <p:nvSpPr>
          <p:cNvPr id="10" name="TextBox 9"/>
          <p:cNvSpPr txBox="1"/>
          <p:nvPr/>
        </p:nvSpPr>
        <p:spPr>
          <a:xfrm>
            <a:off x="4764938" y="1865376"/>
            <a:ext cx="365760" cy="384048"/>
          </a:xfrm>
          <a:prstGeom prst="rect">
            <a:avLst/>
          </a:prstGeom>
          <a:noFill/>
        </p:spPr>
        <p:txBody>
          <a:bodyPr wrap="square" lIns="0" tIns="0" rIns="0" bIns="0" anchor="t"/>
          <a:lstStyle/>
          <a:p>
            <a:pPr algn="l"/>
            <a:r>
              <a:rPr sz="2000" b="0">
                <a:solidFill>
                  <a:srgbClr val="C7C7CC"/>
                </a:solidFill>
                <a:latin typeface="Segoe UI"/>
              </a:rPr>
              <a:t>→</a:t>
            </a:r>
          </a:p>
        </p:txBody>
      </p:sp>
      <p:sp>
        <p:nvSpPr>
          <p:cNvPr id="11" name="TextBox 10"/>
          <p:cNvSpPr txBox="1"/>
          <p:nvPr/>
        </p:nvSpPr>
        <p:spPr>
          <a:xfrm>
            <a:off x="5450738" y="1645920"/>
            <a:ext cx="2753258" cy="256032"/>
          </a:xfrm>
          <a:prstGeom prst="rect">
            <a:avLst/>
          </a:prstGeom>
          <a:noFill/>
        </p:spPr>
        <p:txBody>
          <a:bodyPr wrap="square" lIns="0" tIns="0" rIns="0" bIns="0" anchor="t"/>
          <a:lstStyle/>
          <a:p>
            <a:pPr algn="l"/>
            <a:r>
              <a:rPr sz="1100" b="0">
                <a:solidFill>
                  <a:srgbClr val="8E8E93"/>
                </a:solidFill>
                <a:latin typeface="Segoe UI Semibold"/>
              </a:rPr>
              <a:t>2028–29 · the region</a:t>
            </a:r>
          </a:p>
        </p:txBody>
      </p:sp>
      <p:sp>
        <p:nvSpPr>
          <p:cNvPr id="12" name="TextBox 11"/>
          <p:cNvSpPr txBox="1"/>
          <p:nvPr/>
        </p:nvSpPr>
        <p:spPr>
          <a:xfrm>
            <a:off x="5450738" y="1865376"/>
            <a:ext cx="1828800" cy="384048"/>
          </a:xfrm>
          <a:prstGeom prst="rect">
            <a:avLst/>
          </a:prstGeom>
          <a:noFill/>
        </p:spPr>
        <p:txBody>
          <a:bodyPr wrap="square" lIns="0" tIns="0" rIns="0" bIns="0" anchor="t"/>
          <a:lstStyle/>
          <a:p>
            <a:pPr algn="l"/>
            <a:r>
              <a:rPr sz="2000" b="0">
                <a:solidFill>
                  <a:srgbClr val="0A0A0A"/>
                </a:solidFill>
                <a:latin typeface="Segoe UI Semibold"/>
              </a:rPr>
              <a:t>Expand</a:t>
            </a:r>
          </a:p>
        </p:txBody>
      </p:sp>
      <p:sp>
        <p:nvSpPr>
          <p:cNvPr id="13" name="TextBox 12"/>
          <p:cNvSpPr txBox="1"/>
          <p:nvPr/>
        </p:nvSpPr>
        <p:spPr>
          <a:xfrm>
            <a:off x="7792516" y="1865376"/>
            <a:ext cx="365760" cy="384048"/>
          </a:xfrm>
          <a:prstGeom prst="rect">
            <a:avLst/>
          </a:prstGeom>
          <a:noFill/>
        </p:spPr>
        <p:txBody>
          <a:bodyPr wrap="square" lIns="0" tIns="0" rIns="0" bIns="0" anchor="t"/>
          <a:lstStyle/>
          <a:p>
            <a:pPr algn="l"/>
            <a:r>
              <a:rPr sz="2000" b="0">
                <a:solidFill>
                  <a:srgbClr val="C7C7CC"/>
                </a:solidFill>
                <a:latin typeface="Segoe UI"/>
              </a:rPr>
              <a:t>→</a:t>
            </a:r>
          </a:p>
        </p:txBody>
      </p:sp>
      <p:sp>
        <p:nvSpPr>
          <p:cNvPr id="14" name="TextBox 13"/>
          <p:cNvSpPr txBox="1"/>
          <p:nvPr/>
        </p:nvSpPr>
        <p:spPr>
          <a:xfrm>
            <a:off x="8478316" y="1645920"/>
            <a:ext cx="2753258" cy="256032"/>
          </a:xfrm>
          <a:prstGeom prst="rect">
            <a:avLst/>
          </a:prstGeom>
          <a:noFill/>
        </p:spPr>
        <p:txBody>
          <a:bodyPr wrap="square" lIns="0" tIns="0" rIns="0" bIns="0" anchor="t"/>
          <a:lstStyle/>
          <a:p>
            <a:pPr algn="l"/>
            <a:r>
              <a:rPr sz="1100" b="0">
                <a:solidFill>
                  <a:srgbClr val="8E8E93"/>
                </a:solidFill>
                <a:latin typeface="Segoe UI Semibold"/>
              </a:rPr>
              <a:t>2030+ · Germany, then the EU</a:t>
            </a:r>
          </a:p>
        </p:txBody>
      </p:sp>
      <p:sp>
        <p:nvSpPr>
          <p:cNvPr id="15" name="TextBox 14"/>
          <p:cNvSpPr txBox="1"/>
          <p:nvPr/>
        </p:nvSpPr>
        <p:spPr>
          <a:xfrm>
            <a:off x="8478316" y="1865376"/>
            <a:ext cx="1828800" cy="384048"/>
          </a:xfrm>
          <a:prstGeom prst="rect">
            <a:avLst/>
          </a:prstGeom>
          <a:noFill/>
        </p:spPr>
        <p:txBody>
          <a:bodyPr wrap="square" lIns="0" tIns="0" rIns="0" bIns="0" anchor="t"/>
          <a:lstStyle/>
          <a:p>
            <a:pPr algn="l"/>
            <a:r>
              <a:rPr sz="2000" b="0">
                <a:solidFill>
                  <a:srgbClr val="0A0A0A"/>
                </a:solidFill>
                <a:latin typeface="Segoe UI Semibold"/>
              </a:rPr>
              <a:t>Scale</a:t>
            </a:r>
          </a:p>
        </p:txBody>
      </p:sp>
      <p:sp>
        <p:nvSpPr>
          <p:cNvPr id="16" name="Rectangle 15"/>
          <p:cNvSpPr/>
          <p:nvPr/>
        </p:nvSpPr>
        <p:spPr>
          <a:xfrm>
            <a:off x="685800" y="2395728"/>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2523744"/>
            <a:ext cx="1554480" cy="274320"/>
          </a:xfrm>
          <a:prstGeom prst="rect">
            <a:avLst/>
          </a:prstGeom>
          <a:noFill/>
        </p:spPr>
        <p:txBody>
          <a:bodyPr wrap="square" lIns="0" tIns="0" rIns="0" bIns="0" anchor="t"/>
          <a:lstStyle/>
          <a:p>
            <a:pPr algn="l"/>
            <a:r>
              <a:rPr sz="1200" b="0">
                <a:solidFill>
                  <a:srgbClr val="0A0A0A"/>
                </a:solidFill>
                <a:latin typeface="Segoe UI Semibold"/>
              </a:rPr>
              <a:t>Where</a:t>
            </a:r>
          </a:p>
        </p:txBody>
      </p:sp>
      <p:sp>
        <p:nvSpPr>
          <p:cNvPr id="18" name="TextBox 17"/>
          <p:cNvSpPr txBox="1"/>
          <p:nvPr/>
        </p:nvSpPr>
        <p:spPr>
          <a:xfrm>
            <a:off x="2423160" y="2514600"/>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OWL and Hannover</a:t>
            </a:r>
          </a:p>
        </p:txBody>
      </p:sp>
      <p:sp>
        <p:nvSpPr>
          <p:cNvPr id="19" name="TextBox 18"/>
          <p:cNvSpPr txBox="1"/>
          <p:nvPr/>
        </p:nvSpPr>
        <p:spPr>
          <a:xfrm>
            <a:off x="5450738" y="2514600"/>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Niedersachsen and NRW</a:t>
            </a:r>
          </a:p>
        </p:txBody>
      </p:sp>
      <p:sp>
        <p:nvSpPr>
          <p:cNvPr id="20" name="TextBox 19"/>
          <p:cNvSpPr txBox="1"/>
          <p:nvPr/>
        </p:nvSpPr>
        <p:spPr>
          <a:xfrm>
            <a:off x="8478316" y="2514600"/>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Germany, then the EU</a:t>
            </a:r>
          </a:p>
        </p:txBody>
      </p:sp>
      <p:sp>
        <p:nvSpPr>
          <p:cNvPr id="21" name="Rectangle 20"/>
          <p:cNvSpPr/>
          <p:nvPr/>
        </p:nvSpPr>
        <p:spPr>
          <a:xfrm>
            <a:off x="685800" y="3072384"/>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3200400"/>
            <a:ext cx="1554480" cy="274320"/>
          </a:xfrm>
          <a:prstGeom prst="rect">
            <a:avLst/>
          </a:prstGeom>
          <a:noFill/>
        </p:spPr>
        <p:txBody>
          <a:bodyPr wrap="square" lIns="0" tIns="0" rIns="0" bIns="0" anchor="t"/>
          <a:lstStyle/>
          <a:p>
            <a:pPr algn="l"/>
            <a:r>
              <a:rPr sz="1200" b="0">
                <a:solidFill>
                  <a:srgbClr val="0A0A0A"/>
                </a:solidFill>
                <a:latin typeface="Segoe UI Semibold"/>
              </a:rPr>
              <a:t>Who buys</a:t>
            </a:r>
          </a:p>
        </p:txBody>
      </p:sp>
      <p:sp>
        <p:nvSpPr>
          <p:cNvPr id="23" name="TextBox 22"/>
          <p:cNvSpPr txBox="1"/>
          <p:nvPr/>
        </p:nvSpPr>
        <p:spPr>
          <a:xfrm>
            <a:off x="2423160" y="3191256"/>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1–2 pilot hospitals. Potential: Bethel, Franziskus, HDZ NRW, MHH</a:t>
            </a:r>
          </a:p>
        </p:txBody>
      </p:sp>
      <p:sp>
        <p:nvSpPr>
          <p:cNvPr id="24" name="TextBox 23"/>
          <p:cNvSpPr txBox="1"/>
          <p:nvPr/>
        </p:nvSpPr>
        <p:spPr>
          <a:xfrm>
            <a:off x="5450738" y="3191256"/>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Large hospitals: many outpatients, long walks</a:t>
            </a:r>
          </a:p>
        </p:txBody>
      </p:sp>
      <p:sp>
        <p:nvSpPr>
          <p:cNvPr id="25" name="TextBox 24"/>
          <p:cNvSpPr txBox="1"/>
          <p:nvPr/>
        </p:nvSpPr>
        <p:spPr>
          <a:xfrm>
            <a:off x="8478316" y="3191256"/>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Hospital groups and university hospitals</a:t>
            </a:r>
          </a:p>
        </p:txBody>
      </p:sp>
      <p:sp>
        <p:nvSpPr>
          <p:cNvPr id="26" name="Rectangle 25"/>
          <p:cNvSpPr/>
          <p:nvPr/>
        </p:nvSpPr>
        <p:spPr>
          <a:xfrm>
            <a:off x="685800" y="3749040"/>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3877056"/>
            <a:ext cx="1554480" cy="274320"/>
          </a:xfrm>
          <a:prstGeom prst="rect">
            <a:avLst/>
          </a:prstGeom>
          <a:noFill/>
        </p:spPr>
        <p:txBody>
          <a:bodyPr wrap="square" lIns="0" tIns="0" rIns="0" bIns="0" anchor="t"/>
          <a:lstStyle/>
          <a:p>
            <a:pPr algn="l"/>
            <a:r>
              <a:rPr sz="1200" b="0">
                <a:solidFill>
                  <a:srgbClr val="0A0A0A"/>
                </a:solidFill>
                <a:latin typeface="Segoe UI Semibold"/>
              </a:rPr>
              <a:t>How we win</a:t>
            </a:r>
          </a:p>
        </p:txBody>
      </p:sp>
      <p:sp>
        <p:nvSpPr>
          <p:cNvPr id="28" name="TextBox 27"/>
          <p:cNvSpPr txBox="1"/>
          <p:nvPr/>
        </p:nvSpPr>
        <p:spPr>
          <a:xfrm>
            <a:off x="2423160" y="3867912"/>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Founder-led. Nursing directors are our champions</a:t>
            </a:r>
          </a:p>
        </p:txBody>
      </p:sp>
      <p:sp>
        <p:nvSpPr>
          <p:cNvPr id="29" name="TextBox 28"/>
          <p:cNvSpPr txBox="1"/>
          <p:nvPr/>
        </p:nvSpPr>
        <p:spPr>
          <a:xfrm>
            <a:off x="5450738" y="3867912"/>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Pilot results as proof. Hospital associations, purchasing groups</a:t>
            </a:r>
          </a:p>
        </p:txBody>
      </p:sp>
      <p:sp>
        <p:nvSpPr>
          <p:cNvPr id="30" name="TextBox 29"/>
          <p:cNvSpPr txBox="1"/>
          <p:nvPr/>
        </p:nvSpPr>
        <p:spPr>
          <a:xfrm>
            <a:off x="8478316" y="3867912"/>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Sales and service through a robot partner. Trade fairs: DMEA, MEDICA</a:t>
            </a:r>
          </a:p>
        </p:txBody>
      </p:sp>
      <p:sp>
        <p:nvSpPr>
          <p:cNvPr id="31" name="Rectangle 30"/>
          <p:cNvSpPr/>
          <p:nvPr/>
        </p:nvSpPr>
        <p:spPr>
          <a:xfrm>
            <a:off x="685800" y="4425696"/>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 y="4553712"/>
            <a:ext cx="1554480" cy="274320"/>
          </a:xfrm>
          <a:prstGeom prst="rect">
            <a:avLst/>
          </a:prstGeom>
          <a:noFill/>
        </p:spPr>
        <p:txBody>
          <a:bodyPr wrap="square" lIns="0" tIns="0" rIns="0" bIns="0" anchor="t"/>
          <a:lstStyle/>
          <a:p>
            <a:pPr algn="l"/>
            <a:r>
              <a:rPr sz="1200" b="0">
                <a:solidFill>
                  <a:srgbClr val="0A0A0A"/>
                </a:solidFill>
                <a:latin typeface="Segoe UI Semibold"/>
              </a:rPr>
              <a:t>Goal</a:t>
            </a:r>
          </a:p>
        </p:txBody>
      </p:sp>
      <p:sp>
        <p:nvSpPr>
          <p:cNvPr id="33" name="TextBox 32"/>
          <p:cNvSpPr txBox="1"/>
          <p:nvPr/>
        </p:nvSpPr>
        <p:spPr>
          <a:xfrm>
            <a:off x="2423160" y="4544568"/>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2 robots. Proof: staff time saved, fewer lost patients</a:t>
            </a:r>
          </a:p>
        </p:txBody>
      </p:sp>
      <p:sp>
        <p:nvSpPr>
          <p:cNvPr id="34" name="TextBox 33"/>
          <p:cNvSpPr txBox="1"/>
          <p:nvPr/>
        </p:nvSpPr>
        <p:spPr>
          <a:xfrm>
            <a:off x="5450738" y="4544568"/>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10 → 35 robots</a:t>
            </a:r>
          </a:p>
        </p:txBody>
      </p:sp>
      <p:sp>
        <p:nvSpPr>
          <p:cNvPr id="35" name="TextBox 34"/>
          <p:cNvSpPr txBox="1"/>
          <p:nvPr/>
        </p:nvSpPr>
        <p:spPr>
          <a:xfrm>
            <a:off x="8478316" y="4544568"/>
            <a:ext cx="2707538" cy="566928"/>
          </a:xfrm>
          <a:prstGeom prst="rect">
            <a:avLst/>
          </a:prstGeom>
          <a:noFill/>
        </p:spPr>
        <p:txBody>
          <a:bodyPr wrap="square" lIns="0" tIns="0" rIns="0" bIns="0" anchor="t"/>
          <a:lstStyle/>
          <a:p>
            <a:pPr algn="l">
              <a:lnSpc>
                <a:spcPct val="112000"/>
              </a:lnSpc>
            </a:pPr>
            <a:r>
              <a:rPr sz="1200" b="0">
                <a:solidFill>
                  <a:srgbClr val="6E6E73"/>
                </a:solidFill>
                <a:latin typeface="Segoe UI"/>
              </a:rPr>
              <a:t>90 → 185 robots</a:t>
            </a:r>
          </a:p>
        </p:txBody>
      </p:sp>
      <p:sp>
        <p:nvSpPr>
          <p:cNvPr id="36" name="Rectangle 35"/>
          <p:cNvSpPr/>
          <p:nvPr/>
        </p:nvSpPr>
        <p:spPr>
          <a:xfrm>
            <a:off x="685800" y="5102352"/>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5800" y="5230368"/>
            <a:ext cx="10820095" cy="411480"/>
          </a:xfrm>
          <a:prstGeom prst="rect">
            <a:avLst/>
          </a:prstGeom>
          <a:noFill/>
        </p:spPr>
        <p:txBody>
          <a:bodyPr wrap="square" lIns="0" tIns="0" rIns="0" bIns="0" anchor="t"/>
          <a:lstStyle/>
          <a:p>
            <a:pPr algn="l">
              <a:lnSpc>
                <a:spcPct val="115000"/>
              </a:lnSpc>
            </a:pPr>
            <a:r>
              <a:rPr sz="1150" b="0">
                <a:solidFill>
                  <a:srgbClr val="0A0A0A"/>
                </a:solidFill>
                <a:latin typeface="Segoe UI Semibold"/>
              </a:rPr>
              <a:t>Ecosystem  </a:t>
            </a:r>
            <a:r>
              <a:rPr sz="1150" b="0">
                <a:solidFill>
                  <a:srgbClr val="6E6E73"/>
                </a:solidFill>
                <a:latin typeface="Segoe UI"/>
              </a:rPr>
              <a:t>Robot partner: hardware and service  ·  Hospital IT: Teams, queue systems  ·  Data protection and works council: sign-off  ·  Nurses: champions</a:t>
            </a:r>
          </a:p>
        </p:txBody>
      </p:sp>
      <p:sp>
        <p:nvSpPr>
          <p:cNvPr id="38" name="Rounded Rectangle 37"/>
          <p:cNvSpPr/>
          <p:nvPr/>
        </p:nvSpPr>
        <p:spPr>
          <a:xfrm>
            <a:off x="685800" y="5715000"/>
            <a:ext cx="10820095" cy="457200"/>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60120" y="5715000"/>
            <a:ext cx="10271455" cy="457200"/>
          </a:xfrm>
          <a:prstGeom prst="rect">
            <a:avLst/>
          </a:prstGeom>
          <a:noFill/>
        </p:spPr>
        <p:txBody>
          <a:bodyPr wrap="square" lIns="0" tIns="0" rIns="0" bIns="0" anchor="ctr"/>
          <a:lstStyle/>
          <a:p>
            <a:pPr algn="l"/>
            <a:r>
              <a:rPr sz="1300" b="0">
                <a:solidFill>
                  <a:srgbClr val="FFFFFF"/>
                </a:solidFill>
                <a:latin typeface="Segoe UI Semibold"/>
              </a:rPr>
              <a:t>Robot-as-a-Service  </a:t>
            </a:r>
            <a:r>
              <a:rPr sz="1300" b="0">
                <a:solidFill>
                  <a:srgbClr val="D1D1D6"/>
                </a:solidFill>
                <a:latin typeface="Segoe UI"/>
              </a:rPr>
              <a:t>About €1,000 per robot per month: robot, software and support included. No upfront cost for the hospital.</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6"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7" name="TextBox 6"/>
          <p:cNvSpPr txBox="1"/>
          <p:nvPr/>
        </p:nvSpPr>
        <p:spPr>
          <a:xfrm>
            <a:off x="685800" y="914400"/>
            <a:ext cx="10515600" cy="548640"/>
          </a:xfrm>
          <a:prstGeom prst="rect">
            <a:avLst/>
          </a:prstGeom>
          <a:noFill/>
        </p:spPr>
        <p:txBody>
          <a:bodyPr wrap="square" lIns="0" tIns="0" rIns="0" bIns="0" anchor="t"/>
          <a:lstStyle/>
          <a:p>
            <a:pPr algn="l">
              <a:lnSpc>
                <a:spcPct val="102000"/>
              </a:lnSpc>
            </a:pPr>
            <a:r>
              <a:rPr sz="2600" b="0">
                <a:solidFill>
                  <a:srgbClr val="0A0A0A"/>
                </a:solidFill>
                <a:latin typeface="Segoe UI"/>
              </a:rPr>
              <a:t>Backup. </a:t>
            </a:r>
            <a:r>
              <a:rPr sz="2600" b="0">
                <a:solidFill>
                  <a:srgbClr val="8E8E93"/>
                </a:solidFill>
                <a:latin typeface="Segoe UI"/>
              </a:rPr>
              <a:t>Competitor matrix.</a:t>
            </a:r>
          </a:p>
        </p:txBody>
      </p:sp>
      <p:sp>
        <p:nvSpPr>
          <p:cNvPr id="8" name="TextBox 7"/>
          <p:cNvSpPr txBox="1"/>
          <p:nvPr/>
        </p:nvSpPr>
        <p:spPr>
          <a:xfrm>
            <a:off x="4069080" y="1645920"/>
            <a:ext cx="1395923" cy="548640"/>
          </a:xfrm>
          <a:prstGeom prst="rect">
            <a:avLst/>
          </a:prstGeom>
          <a:noFill/>
        </p:spPr>
        <p:txBody>
          <a:bodyPr wrap="square" lIns="0" tIns="0" rIns="0" bIns="0" anchor="t"/>
          <a:lstStyle/>
          <a:p>
            <a:pPr algn="ctr">
              <a:lnSpc>
                <a:spcPct val="110000"/>
              </a:lnSpc>
            </a:pPr>
            <a:r>
              <a:rPr sz="1100" b="0">
                <a:solidFill>
                  <a:srgbClr val="6E6E73"/>
                </a:solidFill>
                <a:latin typeface="Segoe UI"/>
              </a:rPr>
              <a:t>Walks with you</a:t>
            </a:r>
          </a:p>
        </p:txBody>
      </p:sp>
      <p:sp>
        <p:nvSpPr>
          <p:cNvPr id="9" name="TextBox 8"/>
          <p:cNvSpPr txBox="1"/>
          <p:nvPr/>
        </p:nvSpPr>
        <p:spPr>
          <a:xfrm>
            <a:off x="5556443" y="1645920"/>
            <a:ext cx="1395923" cy="548640"/>
          </a:xfrm>
          <a:prstGeom prst="rect">
            <a:avLst/>
          </a:prstGeom>
          <a:noFill/>
        </p:spPr>
        <p:txBody>
          <a:bodyPr wrap="square" lIns="0" tIns="0" rIns="0" bIns="0" anchor="t"/>
          <a:lstStyle/>
          <a:p>
            <a:pPr algn="ctr">
              <a:lnSpc>
                <a:spcPct val="110000"/>
              </a:lnSpc>
            </a:pPr>
            <a:r>
              <a:rPr sz="1100" b="0">
                <a:solidFill>
                  <a:srgbClr val="6E6E73"/>
                </a:solidFill>
                <a:latin typeface="Segoe UI"/>
              </a:rPr>
              <a:t>Adapts pace, notices if you fall behind</a:t>
            </a:r>
          </a:p>
        </p:txBody>
      </p:sp>
      <p:sp>
        <p:nvSpPr>
          <p:cNvPr id="10" name="TextBox 9"/>
          <p:cNvSpPr txBox="1"/>
          <p:nvPr/>
        </p:nvSpPr>
        <p:spPr>
          <a:xfrm>
            <a:off x="7043806" y="1645920"/>
            <a:ext cx="1395923" cy="548640"/>
          </a:xfrm>
          <a:prstGeom prst="rect">
            <a:avLst/>
          </a:prstGeom>
          <a:noFill/>
        </p:spPr>
        <p:txBody>
          <a:bodyPr wrap="square" lIns="0" tIns="0" rIns="0" bIns="0" anchor="t"/>
          <a:lstStyle/>
          <a:p>
            <a:pPr algn="ctr">
              <a:lnSpc>
                <a:spcPct val="110000"/>
              </a:lnSpc>
            </a:pPr>
            <a:r>
              <a:rPr sz="1100" b="0">
                <a:solidFill>
                  <a:srgbClr val="6E6E73"/>
                </a:solidFill>
                <a:latin typeface="Segoe UI"/>
              </a:rPr>
              <a:t>Part of the clinic process</a:t>
            </a:r>
          </a:p>
        </p:txBody>
      </p:sp>
      <p:sp>
        <p:nvSpPr>
          <p:cNvPr id="11" name="TextBox 10"/>
          <p:cNvSpPr txBox="1"/>
          <p:nvPr/>
        </p:nvSpPr>
        <p:spPr>
          <a:xfrm>
            <a:off x="8531169" y="1645920"/>
            <a:ext cx="1395923" cy="548640"/>
          </a:xfrm>
          <a:prstGeom prst="rect">
            <a:avLst/>
          </a:prstGeom>
          <a:noFill/>
        </p:spPr>
        <p:txBody>
          <a:bodyPr wrap="square" lIns="0" tIns="0" rIns="0" bIns="0" anchor="t"/>
          <a:lstStyle/>
          <a:p>
            <a:pPr algn="ctr">
              <a:lnSpc>
                <a:spcPct val="110000"/>
              </a:lnSpc>
            </a:pPr>
            <a:r>
              <a:rPr sz="1100" b="0">
                <a:solidFill>
                  <a:srgbClr val="6E6E73"/>
                </a:solidFill>
                <a:latin typeface="Segoe UI"/>
              </a:rPr>
              <a:t>No personal or clinical data</a:t>
            </a:r>
          </a:p>
        </p:txBody>
      </p:sp>
      <p:sp>
        <p:nvSpPr>
          <p:cNvPr id="12" name="TextBox 11"/>
          <p:cNvSpPr txBox="1"/>
          <p:nvPr/>
        </p:nvSpPr>
        <p:spPr>
          <a:xfrm>
            <a:off x="10018532" y="1645920"/>
            <a:ext cx="1395923" cy="548640"/>
          </a:xfrm>
          <a:prstGeom prst="rect">
            <a:avLst/>
          </a:prstGeom>
          <a:noFill/>
        </p:spPr>
        <p:txBody>
          <a:bodyPr wrap="square" lIns="0" tIns="0" rIns="0" bIns="0" anchor="t"/>
          <a:lstStyle/>
          <a:p>
            <a:pPr algn="ctr">
              <a:lnSpc>
                <a:spcPct val="110000"/>
              </a:lnSpc>
            </a:pPr>
            <a:r>
              <a:rPr sz="1100" b="0">
                <a:solidFill>
                  <a:srgbClr val="6E6E73"/>
                </a:solidFill>
                <a:latin typeface="Segoe UI"/>
              </a:rPr>
              <a:t>No staff time per guide</a:t>
            </a:r>
          </a:p>
        </p:txBody>
      </p:sp>
      <p:sp>
        <p:nvSpPr>
          <p:cNvPr id="13" name="Rectangle 12"/>
          <p:cNvSpPr/>
          <p:nvPr/>
        </p:nvSpPr>
        <p:spPr>
          <a:xfrm>
            <a:off x="685800" y="2240280"/>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2304288"/>
            <a:ext cx="3200400" cy="274320"/>
          </a:xfrm>
          <a:prstGeom prst="rect">
            <a:avLst/>
          </a:prstGeom>
          <a:noFill/>
        </p:spPr>
        <p:txBody>
          <a:bodyPr wrap="square" lIns="0" tIns="0" rIns="0" bIns="0" anchor="t"/>
          <a:lstStyle/>
          <a:p>
            <a:pPr algn="l"/>
            <a:r>
              <a:rPr sz="1400" b="0">
                <a:solidFill>
                  <a:srgbClr val="0A0A0A"/>
                </a:solidFill>
                <a:latin typeface="Segoe UI Semibold"/>
              </a:rPr>
              <a:t>Signs, maps, info desk</a:t>
            </a:r>
          </a:p>
        </p:txBody>
      </p:sp>
      <p:sp>
        <p:nvSpPr>
          <p:cNvPr id="15" name="TextBox 14"/>
          <p:cNvSpPr txBox="1"/>
          <p:nvPr/>
        </p:nvSpPr>
        <p:spPr>
          <a:xfrm>
            <a:off x="685800" y="2551176"/>
            <a:ext cx="3200400" cy="274320"/>
          </a:xfrm>
          <a:prstGeom prst="rect">
            <a:avLst/>
          </a:prstGeom>
          <a:noFill/>
        </p:spPr>
        <p:txBody>
          <a:bodyPr wrap="square" lIns="0" tIns="0" rIns="0" bIns="0" anchor="t"/>
          <a:lstStyle/>
          <a:p>
            <a:pPr algn="l"/>
            <a:r>
              <a:rPr sz="1000" b="0">
                <a:solidFill>
                  <a:srgbClr val="8E8E93"/>
                </a:solidFill>
                <a:latin typeface="Segoe UI"/>
              </a:rPr>
              <a:t>today’s default</a:t>
            </a:r>
          </a:p>
        </p:txBody>
      </p:sp>
      <p:sp>
        <p:nvSpPr>
          <p:cNvPr id="16" name="TextBox 15"/>
          <p:cNvSpPr txBox="1"/>
          <p:nvPr/>
        </p:nvSpPr>
        <p:spPr>
          <a:xfrm>
            <a:off x="4069080" y="2313432"/>
            <a:ext cx="1395923" cy="411480"/>
          </a:xfrm>
          <a:prstGeom prst="rect">
            <a:avLst/>
          </a:prstGeom>
          <a:noFill/>
        </p:spPr>
        <p:txBody>
          <a:bodyPr wrap="square" lIns="0" tIns="0" rIns="0" bIns="0" anchor="t"/>
          <a:lstStyle/>
          <a:p>
            <a:pPr algn="ctr"/>
            <a:r>
              <a:rPr sz="2000" b="0">
                <a:solidFill>
                  <a:srgbClr val="C7C7CC"/>
                </a:solidFill>
                <a:latin typeface="Segoe UI"/>
              </a:rPr>
              <a:t>○</a:t>
            </a:r>
          </a:p>
        </p:txBody>
      </p:sp>
      <p:sp>
        <p:nvSpPr>
          <p:cNvPr id="17" name="TextBox 16"/>
          <p:cNvSpPr txBox="1"/>
          <p:nvPr/>
        </p:nvSpPr>
        <p:spPr>
          <a:xfrm>
            <a:off x="5556443" y="2313432"/>
            <a:ext cx="1395923" cy="411480"/>
          </a:xfrm>
          <a:prstGeom prst="rect">
            <a:avLst/>
          </a:prstGeom>
          <a:noFill/>
        </p:spPr>
        <p:txBody>
          <a:bodyPr wrap="square" lIns="0" tIns="0" rIns="0" bIns="0" anchor="t"/>
          <a:lstStyle/>
          <a:p>
            <a:pPr algn="ctr"/>
            <a:r>
              <a:rPr sz="2000" b="0">
                <a:solidFill>
                  <a:srgbClr val="C7C7CC"/>
                </a:solidFill>
                <a:latin typeface="Segoe UI"/>
              </a:rPr>
              <a:t>○</a:t>
            </a:r>
          </a:p>
        </p:txBody>
      </p:sp>
      <p:sp>
        <p:nvSpPr>
          <p:cNvPr id="18" name="TextBox 17"/>
          <p:cNvSpPr txBox="1"/>
          <p:nvPr/>
        </p:nvSpPr>
        <p:spPr>
          <a:xfrm>
            <a:off x="7043806" y="2313432"/>
            <a:ext cx="1395923" cy="411480"/>
          </a:xfrm>
          <a:prstGeom prst="rect">
            <a:avLst/>
          </a:prstGeom>
          <a:noFill/>
        </p:spPr>
        <p:txBody>
          <a:bodyPr wrap="square" lIns="0" tIns="0" rIns="0" bIns="0" anchor="t"/>
          <a:lstStyle/>
          <a:p>
            <a:pPr algn="ctr"/>
            <a:r>
              <a:rPr sz="2000" b="0">
                <a:solidFill>
                  <a:srgbClr val="C7C7CC"/>
                </a:solidFill>
                <a:latin typeface="Segoe UI"/>
              </a:rPr>
              <a:t>○</a:t>
            </a:r>
          </a:p>
        </p:txBody>
      </p:sp>
      <p:sp>
        <p:nvSpPr>
          <p:cNvPr id="19" name="TextBox 18"/>
          <p:cNvSpPr txBox="1"/>
          <p:nvPr/>
        </p:nvSpPr>
        <p:spPr>
          <a:xfrm>
            <a:off x="8531169" y="2313432"/>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20" name="TextBox 19"/>
          <p:cNvSpPr txBox="1"/>
          <p:nvPr/>
        </p:nvSpPr>
        <p:spPr>
          <a:xfrm>
            <a:off x="10018532" y="2313432"/>
            <a:ext cx="1395923" cy="411480"/>
          </a:xfrm>
          <a:prstGeom prst="rect">
            <a:avLst/>
          </a:prstGeom>
          <a:noFill/>
        </p:spPr>
        <p:txBody>
          <a:bodyPr wrap="square" lIns="0" tIns="0" rIns="0" bIns="0" anchor="t"/>
          <a:lstStyle/>
          <a:p>
            <a:pPr algn="ctr"/>
            <a:r>
              <a:rPr sz="2000" b="0">
                <a:solidFill>
                  <a:srgbClr val="6E6E73"/>
                </a:solidFill>
                <a:latin typeface="Segoe UI"/>
              </a:rPr>
              <a:t>◐</a:t>
            </a:r>
          </a:p>
        </p:txBody>
      </p:sp>
      <p:sp>
        <p:nvSpPr>
          <p:cNvPr id="21" name="Rectangle 20"/>
          <p:cNvSpPr/>
          <p:nvPr/>
        </p:nvSpPr>
        <p:spPr>
          <a:xfrm>
            <a:off x="685800" y="2770632"/>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2834640"/>
            <a:ext cx="3200400" cy="274320"/>
          </a:xfrm>
          <a:prstGeom prst="rect">
            <a:avLst/>
          </a:prstGeom>
          <a:noFill/>
        </p:spPr>
        <p:txBody>
          <a:bodyPr wrap="square" lIns="0" tIns="0" rIns="0" bIns="0" anchor="t"/>
          <a:lstStyle/>
          <a:p>
            <a:pPr algn="l"/>
            <a:r>
              <a:rPr sz="1400" b="0">
                <a:solidFill>
                  <a:srgbClr val="0A0A0A"/>
                </a:solidFill>
                <a:latin typeface="Segoe UI Semibold"/>
              </a:rPr>
              <a:t>Wayfinding apps</a:t>
            </a:r>
          </a:p>
        </p:txBody>
      </p:sp>
      <p:sp>
        <p:nvSpPr>
          <p:cNvPr id="23" name="TextBox 22"/>
          <p:cNvSpPr txBox="1"/>
          <p:nvPr/>
        </p:nvSpPr>
        <p:spPr>
          <a:xfrm>
            <a:off x="685800" y="3081528"/>
            <a:ext cx="3200400" cy="274320"/>
          </a:xfrm>
          <a:prstGeom prst="rect">
            <a:avLst/>
          </a:prstGeom>
          <a:noFill/>
        </p:spPr>
        <p:txBody>
          <a:bodyPr wrap="square" lIns="0" tIns="0" rIns="0" bIns="0" anchor="t"/>
          <a:lstStyle/>
          <a:p>
            <a:pPr algn="l"/>
            <a:r>
              <a:rPr sz="1000" b="0">
                <a:solidFill>
                  <a:srgbClr val="8E8E93"/>
                </a:solidFill>
                <a:latin typeface="Segoe UI"/>
              </a:rPr>
              <a:t>e.g. Pointr, needs a smartphone</a:t>
            </a:r>
          </a:p>
        </p:txBody>
      </p:sp>
      <p:sp>
        <p:nvSpPr>
          <p:cNvPr id="24" name="TextBox 23"/>
          <p:cNvSpPr txBox="1"/>
          <p:nvPr/>
        </p:nvSpPr>
        <p:spPr>
          <a:xfrm>
            <a:off x="4069080" y="2843784"/>
            <a:ext cx="1395923" cy="411480"/>
          </a:xfrm>
          <a:prstGeom prst="rect">
            <a:avLst/>
          </a:prstGeom>
          <a:noFill/>
        </p:spPr>
        <p:txBody>
          <a:bodyPr wrap="square" lIns="0" tIns="0" rIns="0" bIns="0" anchor="t"/>
          <a:lstStyle/>
          <a:p>
            <a:pPr algn="ctr"/>
            <a:r>
              <a:rPr sz="2000" b="0">
                <a:solidFill>
                  <a:srgbClr val="C7C7CC"/>
                </a:solidFill>
                <a:latin typeface="Segoe UI"/>
              </a:rPr>
              <a:t>○</a:t>
            </a:r>
          </a:p>
        </p:txBody>
      </p:sp>
      <p:sp>
        <p:nvSpPr>
          <p:cNvPr id="25" name="TextBox 24"/>
          <p:cNvSpPr txBox="1"/>
          <p:nvPr/>
        </p:nvSpPr>
        <p:spPr>
          <a:xfrm>
            <a:off x="5556443" y="2843784"/>
            <a:ext cx="1395923" cy="411480"/>
          </a:xfrm>
          <a:prstGeom prst="rect">
            <a:avLst/>
          </a:prstGeom>
          <a:noFill/>
        </p:spPr>
        <p:txBody>
          <a:bodyPr wrap="square" lIns="0" tIns="0" rIns="0" bIns="0" anchor="t"/>
          <a:lstStyle/>
          <a:p>
            <a:pPr algn="ctr"/>
            <a:r>
              <a:rPr sz="2000" b="0">
                <a:solidFill>
                  <a:srgbClr val="C7C7CC"/>
                </a:solidFill>
                <a:latin typeface="Segoe UI"/>
              </a:rPr>
              <a:t>○</a:t>
            </a:r>
          </a:p>
        </p:txBody>
      </p:sp>
      <p:sp>
        <p:nvSpPr>
          <p:cNvPr id="26" name="TextBox 25"/>
          <p:cNvSpPr txBox="1"/>
          <p:nvPr/>
        </p:nvSpPr>
        <p:spPr>
          <a:xfrm>
            <a:off x="7043806" y="2843784"/>
            <a:ext cx="1395923" cy="411480"/>
          </a:xfrm>
          <a:prstGeom prst="rect">
            <a:avLst/>
          </a:prstGeom>
          <a:noFill/>
        </p:spPr>
        <p:txBody>
          <a:bodyPr wrap="square" lIns="0" tIns="0" rIns="0" bIns="0" anchor="t"/>
          <a:lstStyle/>
          <a:p>
            <a:pPr algn="ctr"/>
            <a:r>
              <a:rPr sz="2000" b="0">
                <a:solidFill>
                  <a:srgbClr val="6E6E73"/>
                </a:solidFill>
                <a:latin typeface="Segoe UI"/>
              </a:rPr>
              <a:t>◐</a:t>
            </a:r>
          </a:p>
        </p:txBody>
      </p:sp>
      <p:sp>
        <p:nvSpPr>
          <p:cNvPr id="27" name="TextBox 26"/>
          <p:cNvSpPr txBox="1"/>
          <p:nvPr/>
        </p:nvSpPr>
        <p:spPr>
          <a:xfrm>
            <a:off x="8531169" y="2843784"/>
            <a:ext cx="1395923" cy="411480"/>
          </a:xfrm>
          <a:prstGeom prst="rect">
            <a:avLst/>
          </a:prstGeom>
          <a:noFill/>
        </p:spPr>
        <p:txBody>
          <a:bodyPr wrap="square" lIns="0" tIns="0" rIns="0" bIns="0" anchor="t"/>
          <a:lstStyle/>
          <a:p>
            <a:pPr algn="ctr"/>
            <a:r>
              <a:rPr sz="2000" b="0">
                <a:solidFill>
                  <a:srgbClr val="6E6E73"/>
                </a:solidFill>
                <a:latin typeface="Segoe UI"/>
              </a:rPr>
              <a:t>◐</a:t>
            </a:r>
          </a:p>
        </p:txBody>
      </p:sp>
      <p:sp>
        <p:nvSpPr>
          <p:cNvPr id="28" name="TextBox 27"/>
          <p:cNvSpPr txBox="1"/>
          <p:nvPr/>
        </p:nvSpPr>
        <p:spPr>
          <a:xfrm>
            <a:off x="10018532" y="2843784"/>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29" name="Rectangle 28"/>
          <p:cNvSpPr/>
          <p:nvPr/>
        </p:nvSpPr>
        <p:spPr>
          <a:xfrm>
            <a:off x="685800" y="3300984"/>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3364992"/>
            <a:ext cx="3200400" cy="274320"/>
          </a:xfrm>
          <a:prstGeom prst="rect">
            <a:avLst/>
          </a:prstGeom>
          <a:noFill/>
        </p:spPr>
        <p:txBody>
          <a:bodyPr wrap="square" lIns="0" tIns="0" rIns="0" bIns="0" anchor="t"/>
          <a:lstStyle/>
          <a:p>
            <a:pPr algn="l"/>
            <a:r>
              <a:rPr sz="1400" b="0">
                <a:solidFill>
                  <a:srgbClr val="0A0A0A"/>
                </a:solidFill>
                <a:latin typeface="Segoe UI Semibold"/>
              </a:rPr>
              <a:t>Staff and volunteer escorts</a:t>
            </a:r>
          </a:p>
        </p:txBody>
      </p:sp>
      <p:sp>
        <p:nvSpPr>
          <p:cNvPr id="31" name="TextBox 30"/>
          <p:cNvSpPr txBox="1"/>
          <p:nvPr/>
        </p:nvSpPr>
        <p:spPr>
          <a:xfrm>
            <a:off x="685800" y="3611880"/>
            <a:ext cx="3200400" cy="274320"/>
          </a:xfrm>
          <a:prstGeom prst="rect">
            <a:avLst/>
          </a:prstGeom>
          <a:noFill/>
        </p:spPr>
        <p:txBody>
          <a:bodyPr wrap="square" lIns="0" tIns="0" rIns="0" bIns="0" anchor="t"/>
          <a:lstStyle/>
          <a:p>
            <a:pPr algn="l"/>
            <a:r>
              <a:rPr sz="1000" b="0">
                <a:solidFill>
                  <a:srgbClr val="8E8E93"/>
                </a:solidFill>
                <a:latin typeface="Segoe UI"/>
              </a:rPr>
              <a:t>costs care time</a:t>
            </a:r>
          </a:p>
        </p:txBody>
      </p:sp>
      <p:sp>
        <p:nvSpPr>
          <p:cNvPr id="32" name="TextBox 31"/>
          <p:cNvSpPr txBox="1"/>
          <p:nvPr/>
        </p:nvSpPr>
        <p:spPr>
          <a:xfrm>
            <a:off x="4069080" y="3374136"/>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33" name="TextBox 32"/>
          <p:cNvSpPr txBox="1"/>
          <p:nvPr/>
        </p:nvSpPr>
        <p:spPr>
          <a:xfrm>
            <a:off x="5556443" y="3374136"/>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34" name="TextBox 33"/>
          <p:cNvSpPr txBox="1"/>
          <p:nvPr/>
        </p:nvSpPr>
        <p:spPr>
          <a:xfrm>
            <a:off x="7043806" y="3374136"/>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35" name="TextBox 34"/>
          <p:cNvSpPr txBox="1"/>
          <p:nvPr/>
        </p:nvSpPr>
        <p:spPr>
          <a:xfrm>
            <a:off x="8531169" y="3374136"/>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36" name="TextBox 35"/>
          <p:cNvSpPr txBox="1"/>
          <p:nvPr/>
        </p:nvSpPr>
        <p:spPr>
          <a:xfrm>
            <a:off x="10018532" y="3374136"/>
            <a:ext cx="1395923" cy="411480"/>
          </a:xfrm>
          <a:prstGeom prst="rect">
            <a:avLst/>
          </a:prstGeom>
          <a:noFill/>
        </p:spPr>
        <p:txBody>
          <a:bodyPr wrap="square" lIns="0" tIns="0" rIns="0" bIns="0" anchor="t"/>
          <a:lstStyle/>
          <a:p>
            <a:pPr algn="ctr"/>
            <a:r>
              <a:rPr sz="2000" b="0">
                <a:solidFill>
                  <a:srgbClr val="C7C7CC"/>
                </a:solidFill>
                <a:latin typeface="Segoe UI"/>
              </a:rPr>
              <a:t>○</a:t>
            </a:r>
          </a:p>
        </p:txBody>
      </p:sp>
      <p:sp>
        <p:nvSpPr>
          <p:cNvPr id="37" name="Rectangle 36"/>
          <p:cNvSpPr/>
          <p:nvPr/>
        </p:nvSpPr>
        <p:spPr>
          <a:xfrm>
            <a:off x="685800" y="3831336"/>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3895344"/>
            <a:ext cx="3200400" cy="274320"/>
          </a:xfrm>
          <a:prstGeom prst="rect">
            <a:avLst/>
          </a:prstGeom>
          <a:noFill/>
        </p:spPr>
        <p:txBody>
          <a:bodyPr wrap="square" lIns="0" tIns="0" rIns="0" bIns="0" anchor="t"/>
          <a:lstStyle/>
          <a:p>
            <a:pPr algn="l"/>
            <a:r>
              <a:rPr sz="1400" b="0">
                <a:solidFill>
                  <a:srgbClr val="0A0A0A"/>
                </a:solidFill>
                <a:latin typeface="Segoe UI Semibold"/>
              </a:rPr>
              <a:t>Guide and reception robots</a:t>
            </a:r>
          </a:p>
        </p:txBody>
      </p:sp>
      <p:sp>
        <p:nvSpPr>
          <p:cNvPr id="39" name="TextBox 38"/>
          <p:cNvSpPr txBox="1"/>
          <p:nvPr/>
        </p:nvSpPr>
        <p:spPr>
          <a:xfrm>
            <a:off x="685800" y="4142232"/>
            <a:ext cx="3200400" cy="274320"/>
          </a:xfrm>
          <a:prstGeom prst="rect">
            <a:avLst/>
          </a:prstGeom>
          <a:noFill/>
        </p:spPr>
        <p:txBody>
          <a:bodyPr wrap="square" lIns="0" tIns="0" rIns="0" bIns="0" anchor="t"/>
          <a:lstStyle/>
          <a:p>
            <a:pPr algn="l"/>
            <a:r>
              <a:rPr sz="1000" b="0">
                <a:solidFill>
                  <a:srgbClr val="8E8E93"/>
                </a:solidFill>
                <a:latin typeface="Segoe UI"/>
              </a:rPr>
              <a:t>e.g. LG CLOi GuideBot, SoftBank Pepper</a:t>
            </a:r>
          </a:p>
        </p:txBody>
      </p:sp>
      <p:sp>
        <p:nvSpPr>
          <p:cNvPr id="40" name="TextBox 39"/>
          <p:cNvSpPr txBox="1"/>
          <p:nvPr/>
        </p:nvSpPr>
        <p:spPr>
          <a:xfrm>
            <a:off x="4069080" y="3904488"/>
            <a:ext cx="1395923" cy="411480"/>
          </a:xfrm>
          <a:prstGeom prst="rect">
            <a:avLst/>
          </a:prstGeom>
          <a:noFill/>
        </p:spPr>
        <p:txBody>
          <a:bodyPr wrap="square" lIns="0" tIns="0" rIns="0" bIns="0" anchor="t"/>
          <a:lstStyle/>
          <a:p>
            <a:pPr algn="ctr"/>
            <a:r>
              <a:rPr sz="2000" b="0">
                <a:solidFill>
                  <a:srgbClr val="6E6E73"/>
                </a:solidFill>
                <a:latin typeface="Segoe UI"/>
              </a:rPr>
              <a:t>◐</a:t>
            </a:r>
          </a:p>
        </p:txBody>
      </p:sp>
      <p:sp>
        <p:nvSpPr>
          <p:cNvPr id="41" name="TextBox 40"/>
          <p:cNvSpPr txBox="1"/>
          <p:nvPr/>
        </p:nvSpPr>
        <p:spPr>
          <a:xfrm>
            <a:off x="5556443" y="3904488"/>
            <a:ext cx="1395923" cy="411480"/>
          </a:xfrm>
          <a:prstGeom prst="rect">
            <a:avLst/>
          </a:prstGeom>
          <a:noFill/>
        </p:spPr>
        <p:txBody>
          <a:bodyPr wrap="square" lIns="0" tIns="0" rIns="0" bIns="0" anchor="t"/>
          <a:lstStyle/>
          <a:p>
            <a:pPr algn="ctr"/>
            <a:r>
              <a:rPr sz="2000" b="0">
                <a:solidFill>
                  <a:srgbClr val="6E6E73"/>
                </a:solidFill>
                <a:latin typeface="Segoe UI"/>
              </a:rPr>
              <a:t>◐</a:t>
            </a:r>
          </a:p>
        </p:txBody>
      </p:sp>
      <p:sp>
        <p:nvSpPr>
          <p:cNvPr id="42" name="TextBox 41"/>
          <p:cNvSpPr txBox="1"/>
          <p:nvPr/>
        </p:nvSpPr>
        <p:spPr>
          <a:xfrm>
            <a:off x="7043806" y="3904488"/>
            <a:ext cx="1395923" cy="411480"/>
          </a:xfrm>
          <a:prstGeom prst="rect">
            <a:avLst/>
          </a:prstGeom>
          <a:noFill/>
        </p:spPr>
        <p:txBody>
          <a:bodyPr wrap="square" lIns="0" tIns="0" rIns="0" bIns="0" anchor="t"/>
          <a:lstStyle/>
          <a:p>
            <a:pPr algn="ctr"/>
            <a:r>
              <a:rPr sz="2000" b="0">
                <a:solidFill>
                  <a:srgbClr val="6E6E73"/>
                </a:solidFill>
                <a:latin typeface="Segoe UI"/>
              </a:rPr>
              <a:t>◐</a:t>
            </a:r>
          </a:p>
        </p:txBody>
      </p:sp>
      <p:sp>
        <p:nvSpPr>
          <p:cNvPr id="43" name="TextBox 42"/>
          <p:cNvSpPr txBox="1"/>
          <p:nvPr/>
        </p:nvSpPr>
        <p:spPr>
          <a:xfrm>
            <a:off x="8531169" y="3904488"/>
            <a:ext cx="1395923" cy="411480"/>
          </a:xfrm>
          <a:prstGeom prst="rect">
            <a:avLst/>
          </a:prstGeom>
          <a:noFill/>
        </p:spPr>
        <p:txBody>
          <a:bodyPr wrap="square" lIns="0" tIns="0" rIns="0" bIns="0" anchor="t"/>
          <a:lstStyle/>
          <a:p>
            <a:pPr algn="ctr"/>
            <a:r>
              <a:rPr sz="2000" b="0">
                <a:solidFill>
                  <a:srgbClr val="6E6E73"/>
                </a:solidFill>
                <a:latin typeface="Segoe UI"/>
              </a:rPr>
              <a:t>◐</a:t>
            </a:r>
          </a:p>
        </p:txBody>
      </p:sp>
      <p:sp>
        <p:nvSpPr>
          <p:cNvPr id="44" name="TextBox 43"/>
          <p:cNvSpPr txBox="1"/>
          <p:nvPr/>
        </p:nvSpPr>
        <p:spPr>
          <a:xfrm>
            <a:off x="10018532" y="3904488"/>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45" name="Rectangle 44"/>
          <p:cNvSpPr/>
          <p:nvPr/>
        </p:nvSpPr>
        <p:spPr>
          <a:xfrm>
            <a:off x="685800" y="4361688"/>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85800" y="4425696"/>
            <a:ext cx="3200400" cy="274320"/>
          </a:xfrm>
          <a:prstGeom prst="rect">
            <a:avLst/>
          </a:prstGeom>
          <a:noFill/>
        </p:spPr>
        <p:txBody>
          <a:bodyPr wrap="square" lIns="0" tIns="0" rIns="0" bIns="0" anchor="t"/>
          <a:lstStyle/>
          <a:p>
            <a:pPr algn="l"/>
            <a:r>
              <a:rPr sz="1400" b="0">
                <a:solidFill>
                  <a:srgbClr val="0A0A0A"/>
                </a:solidFill>
                <a:latin typeface="Segoe UI Semibold"/>
              </a:rPr>
              <a:t>Delivery robots</a:t>
            </a:r>
          </a:p>
        </p:txBody>
      </p:sp>
      <p:sp>
        <p:nvSpPr>
          <p:cNvPr id="47" name="TextBox 46"/>
          <p:cNvSpPr txBox="1"/>
          <p:nvPr/>
        </p:nvSpPr>
        <p:spPr>
          <a:xfrm>
            <a:off x="685800" y="4672584"/>
            <a:ext cx="3200400" cy="274320"/>
          </a:xfrm>
          <a:prstGeom prst="rect">
            <a:avLst/>
          </a:prstGeom>
          <a:noFill/>
        </p:spPr>
        <p:txBody>
          <a:bodyPr wrap="square" lIns="0" tIns="0" rIns="0" bIns="0" anchor="t"/>
          <a:lstStyle/>
          <a:p>
            <a:pPr algn="l"/>
            <a:r>
              <a:rPr sz="1000" b="0">
                <a:solidFill>
                  <a:srgbClr val="8E8E93"/>
                </a:solidFill>
                <a:latin typeface="Segoe UI"/>
              </a:rPr>
              <a:t>e.g. Aethon TUG, Keenon, Pudu: carry goods</a:t>
            </a:r>
          </a:p>
        </p:txBody>
      </p:sp>
      <p:sp>
        <p:nvSpPr>
          <p:cNvPr id="48" name="TextBox 47"/>
          <p:cNvSpPr txBox="1"/>
          <p:nvPr/>
        </p:nvSpPr>
        <p:spPr>
          <a:xfrm>
            <a:off x="4069080" y="4434840"/>
            <a:ext cx="1395923" cy="411480"/>
          </a:xfrm>
          <a:prstGeom prst="rect">
            <a:avLst/>
          </a:prstGeom>
          <a:noFill/>
        </p:spPr>
        <p:txBody>
          <a:bodyPr wrap="square" lIns="0" tIns="0" rIns="0" bIns="0" anchor="t"/>
          <a:lstStyle/>
          <a:p>
            <a:pPr algn="ctr"/>
            <a:r>
              <a:rPr sz="2000" b="0">
                <a:solidFill>
                  <a:srgbClr val="C7C7CC"/>
                </a:solidFill>
                <a:latin typeface="Segoe UI"/>
              </a:rPr>
              <a:t>○</a:t>
            </a:r>
          </a:p>
        </p:txBody>
      </p:sp>
      <p:sp>
        <p:nvSpPr>
          <p:cNvPr id="49" name="TextBox 48"/>
          <p:cNvSpPr txBox="1"/>
          <p:nvPr/>
        </p:nvSpPr>
        <p:spPr>
          <a:xfrm>
            <a:off x="5556443" y="4434840"/>
            <a:ext cx="1395923" cy="411480"/>
          </a:xfrm>
          <a:prstGeom prst="rect">
            <a:avLst/>
          </a:prstGeom>
          <a:noFill/>
        </p:spPr>
        <p:txBody>
          <a:bodyPr wrap="square" lIns="0" tIns="0" rIns="0" bIns="0" anchor="t"/>
          <a:lstStyle/>
          <a:p>
            <a:pPr algn="ctr"/>
            <a:r>
              <a:rPr sz="2000" b="0">
                <a:solidFill>
                  <a:srgbClr val="C7C7CC"/>
                </a:solidFill>
                <a:latin typeface="Segoe UI"/>
              </a:rPr>
              <a:t>○</a:t>
            </a:r>
          </a:p>
        </p:txBody>
      </p:sp>
      <p:sp>
        <p:nvSpPr>
          <p:cNvPr id="50" name="TextBox 49"/>
          <p:cNvSpPr txBox="1"/>
          <p:nvPr/>
        </p:nvSpPr>
        <p:spPr>
          <a:xfrm>
            <a:off x="7043806" y="4434840"/>
            <a:ext cx="1395923" cy="411480"/>
          </a:xfrm>
          <a:prstGeom prst="rect">
            <a:avLst/>
          </a:prstGeom>
          <a:noFill/>
        </p:spPr>
        <p:txBody>
          <a:bodyPr wrap="square" lIns="0" tIns="0" rIns="0" bIns="0" anchor="t"/>
          <a:lstStyle/>
          <a:p>
            <a:pPr algn="ctr"/>
            <a:r>
              <a:rPr sz="2000" b="0">
                <a:solidFill>
                  <a:srgbClr val="6E6E73"/>
                </a:solidFill>
                <a:latin typeface="Segoe UI"/>
              </a:rPr>
              <a:t>◐</a:t>
            </a:r>
          </a:p>
        </p:txBody>
      </p:sp>
      <p:sp>
        <p:nvSpPr>
          <p:cNvPr id="51" name="TextBox 50"/>
          <p:cNvSpPr txBox="1"/>
          <p:nvPr/>
        </p:nvSpPr>
        <p:spPr>
          <a:xfrm>
            <a:off x="8531169" y="4434840"/>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52" name="TextBox 51"/>
          <p:cNvSpPr txBox="1"/>
          <p:nvPr/>
        </p:nvSpPr>
        <p:spPr>
          <a:xfrm>
            <a:off x="10018532" y="4434840"/>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53" name="Rounded Rectangle 52"/>
          <p:cNvSpPr/>
          <p:nvPr/>
        </p:nvSpPr>
        <p:spPr>
          <a:xfrm>
            <a:off x="594360" y="4910328"/>
            <a:ext cx="11002975" cy="502920"/>
          </a:xfrm>
          <a:prstGeom prst="roundRect">
            <a:avLst>
              <a:gd name="adj" fmla="val 20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85800" y="4892040"/>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85800" y="4956048"/>
            <a:ext cx="3200400" cy="274320"/>
          </a:xfrm>
          <a:prstGeom prst="rect">
            <a:avLst/>
          </a:prstGeom>
          <a:noFill/>
        </p:spPr>
        <p:txBody>
          <a:bodyPr wrap="square" lIns="0" tIns="0" rIns="0" bIns="0" anchor="t"/>
          <a:lstStyle/>
          <a:p>
            <a:pPr algn="l"/>
            <a:r>
              <a:rPr sz="1400" b="0">
                <a:solidFill>
                  <a:srgbClr val="0A0A0A"/>
                </a:solidFill>
                <a:latin typeface="Segoe UI Semibold"/>
              </a:rPr>
              <a:t>OttO</a:t>
            </a:r>
          </a:p>
        </p:txBody>
      </p:sp>
      <p:sp>
        <p:nvSpPr>
          <p:cNvPr id="56" name="TextBox 55"/>
          <p:cNvSpPr txBox="1"/>
          <p:nvPr/>
        </p:nvSpPr>
        <p:spPr>
          <a:xfrm>
            <a:off x="685800" y="5202936"/>
            <a:ext cx="3200400" cy="274320"/>
          </a:xfrm>
          <a:prstGeom prst="rect">
            <a:avLst/>
          </a:prstGeom>
          <a:noFill/>
        </p:spPr>
        <p:txBody>
          <a:bodyPr wrap="square" lIns="0" tIns="0" rIns="0" bIns="0" anchor="t"/>
          <a:lstStyle/>
          <a:p>
            <a:pPr algn="l"/>
            <a:r>
              <a:rPr sz="1000" b="0">
                <a:solidFill>
                  <a:srgbClr val="8E8E93"/>
                </a:solidFill>
                <a:latin typeface="Segoe UI"/>
              </a:rPr>
              <a:t>AURA Robotics</a:t>
            </a:r>
          </a:p>
        </p:txBody>
      </p:sp>
      <p:sp>
        <p:nvSpPr>
          <p:cNvPr id="57" name="TextBox 56"/>
          <p:cNvSpPr txBox="1"/>
          <p:nvPr/>
        </p:nvSpPr>
        <p:spPr>
          <a:xfrm>
            <a:off x="4069080" y="4965192"/>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58" name="TextBox 57"/>
          <p:cNvSpPr txBox="1"/>
          <p:nvPr/>
        </p:nvSpPr>
        <p:spPr>
          <a:xfrm>
            <a:off x="5556443" y="4965192"/>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59" name="TextBox 58"/>
          <p:cNvSpPr txBox="1"/>
          <p:nvPr/>
        </p:nvSpPr>
        <p:spPr>
          <a:xfrm>
            <a:off x="7043806" y="4965192"/>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60" name="TextBox 59"/>
          <p:cNvSpPr txBox="1"/>
          <p:nvPr/>
        </p:nvSpPr>
        <p:spPr>
          <a:xfrm>
            <a:off x="8531169" y="4965192"/>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61" name="TextBox 60"/>
          <p:cNvSpPr txBox="1"/>
          <p:nvPr/>
        </p:nvSpPr>
        <p:spPr>
          <a:xfrm>
            <a:off x="10018532" y="4965192"/>
            <a:ext cx="1395923" cy="411480"/>
          </a:xfrm>
          <a:prstGeom prst="rect">
            <a:avLst/>
          </a:prstGeom>
          <a:noFill/>
        </p:spPr>
        <p:txBody>
          <a:bodyPr wrap="square" lIns="0" tIns="0" rIns="0" bIns="0" anchor="t"/>
          <a:lstStyle/>
          <a:p>
            <a:pPr algn="ctr"/>
            <a:r>
              <a:rPr sz="2000" b="0">
                <a:solidFill>
                  <a:srgbClr val="0A0A0A"/>
                </a:solidFill>
                <a:latin typeface="Segoe UI"/>
              </a:rPr>
              <a:t>●</a:t>
            </a:r>
          </a:p>
        </p:txBody>
      </p:sp>
      <p:sp>
        <p:nvSpPr>
          <p:cNvPr id="62" name="Rectangle 61"/>
          <p:cNvSpPr/>
          <p:nvPr/>
        </p:nvSpPr>
        <p:spPr>
          <a:xfrm>
            <a:off x="685800" y="5422392"/>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85800" y="5513832"/>
            <a:ext cx="10820095" cy="274320"/>
          </a:xfrm>
          <a:prstGeom prst="rect">
            <a:avLst/>
          </a:prstGeom>
          <a:noFill/>
        </p:spPr>
        <p:txBody>
          <a:bodyPr wrap="square" lIns="0" tIns="0" rIns="0" bIns="0" anchor="t"/>
          <a:lstStyle/>
          <a:p>
            <a:pPr algn="l"/>
            <a:r>
              <a:rPr sz="1000" b="0">
                <a:solidFill>
                  <a:srgbClr val="8E8E93"/>
                </a:solidFill>
                <a:latin typeface="Segoe UI"/>
              </a:rPr>
              <a:t>● yes   ◐ partly / depends on the product   ○ no   ·   Our view, based on public product information.</a:t>
            </a:r>
          </a:p>
        </p:txBody>
      </p:sp>
      <p:sp>
        <p:nvSpPr>
          <p:cNvPr id="64" name="Rounded Rectangle 63"/>
          <p:cNvSpPr/>
          <p:nvPr/>
        </p:nvSpPr>
        <p:spPr>
          <a:xfrm>
            <a:off x="685800" y="5852160"/>
            <a:ext cx="10820095" cy="457200"/>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0120" y="5852160"/>
            <a:ext cx="10271455" cy="457200"/>
          </a:xfrm>
          <a:prstGeom prst="rect">
            <a:avLst/>
          </a:prstGeom>
          <a:noFill/>
        </p:spPr>
        <p:txBody>
          <a:bodyPr wrap="square" lIns="0" tIns="0" rIns="0" bIns="0" anchor="ctr"/>
          <a:lstStyle/>
          <a:p>
            <a:pPr algn="l"/>
            <a:r>
              <a:rPr sz="1300" b="0">
                <a:solidFill>
                  <a:srgbClr val="FFFFFF"/>
                </a:solidFill>
                <a:latin typeface="Segoe UI Semibold"/>
              </a:rPr>
              <a:t>Our USP  </a:t>
            </a:r>
            <a:r>
              <a:rPr sz="1300" b="0">
                <a:solidFill>
                  <a:srgbClr val="D1D1D6"/>
                </a:solidFill>
                <a:latin typeface="Segoe UI"/>
              </a:rPr>
              <a:t>Of these options, only OttO walks with you like a person, fits into the clinic process, and needs no staff time and no personal data.</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6"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7" name="TextBox 6"/>
          <p:cNvSpPr txBox="1"/>
          <p:nvPr/>
        </p:nvSpPr>
        <p:spPr>
          <a:xfrm>
            <a:off x="685800" y="914400"/>
            <a:ext cx="10515600" cy="548640"/>
          </a:xfrm>
          <a:prstGeom prst="rect">
            <a:avLst/>
          </a:prstGeom>
          <a:noFill/>
        </p:spPr>
        <p:txBody>
          <a:bodyPr wrap="square" lIns="0" tIns="0" rIns="0" bIns="0" anchor="t"/>
          <a:lstStyle/>
          <a:p>
            <a:pPr algn="l">
              <a:lnSpc>
                <a:spcPct val="102000"/>
              </a:lnSpc>
            </a:pPr>
            <a:r>
              <a:rPr sz="2600" b="0">
                <a:solidFill>
                  <a:srgbClr val="0A0A0A"/>
                </a:solidFill>
                <a:latin typeface="Segoe UI"/>
              </a:rPr>
              <a:t>Backup. </a:t>
            </a:r>
            <a:r>
              <a:rPr sz="2600" b="0">
                <a:solidFill>
                  <a:srgbClr val="8E8E93"/>
                </a:solidFill>
                <a:latin typeface="Segoe UI"/>
              </a:rPr>
              <a:t>Where OttO fits.</a:t>
            </a:r>
          </a:p>
        </p:txBody>
      </p:sp>
      <p:sp>
        <p:nvSpPr>
          <p:cNvPr id="8" name="Rectangle 7"/>
          <p:cNvSpPr/>
          <p:nvPr/>
        </p:nvSpPr>
        <p:spPr>
          <a:xfrm>
            <a:off x="1097280" y="1737360"/>
            <a:ext cx="5852160" cy="406908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el177"/>
          <p:cNvCxnSpPr/>
          <p:nvPr/>
        </p:nvCxnSpPr>
        <p:spPr>
          <a:xfrm>
            <a:off x="4023360" y="1737360"/>
            <a:ext cx="0" cy="4069080"/>
          </a:xfrm>
          <a:prstGeom prst="line">
            <a:avLst/>
          </a:prstGeom>
          <a:ln w="12700">
            <a:solidFill>
              <a:srgbClr val="E5E5EA"/>
            </a:solidFill>
          </a:ln>
        </p:spPr>
      </p:cxnSp>
      <p:cxnSp>
        <p:nvCxnSpPr>
          <p:cNvPr id="10" name="el178"/>
          <p:cNvCxnSpPr/>
          <p:nvPr/>
        </p:nvCxnSpPr>
        <p:spPr>
          <a:xfrm>
            <a:off x="1097280" y="3771900"/>
            <a:ext cx="5852160" cy="0"/>
          </a:xfrm>
          <a:prstGeom prst="line">
            <a:avLst/>
          </a:prstGeom>
          <a:ln w="12700">
            <a:solidFill>
              <a:srgbClr val="E5E5EA"/>
            </a:solidFill>
          </a:ln>
        </p:spPr>
      </p:cxnSp>
      <p:cxnSp>
        <p:nvCxnSpPr>
          <p:cNvPr id="11" name="el179"/>
          <p:cNvCxnSpPr/>
          <p:nvPr/>
        </p:nvCxnSpPr>
        <p:spPr>
          <a:xfrm>
            <a:off x="1097280" y="5806440"/>
            <a:ext cx="5852160" cy="0"/>
          </a:xfrm>
          <a:prstGeom prst="line">
            <a:avLst/>
          </a:prstGeom>
          <a:ln w="15875">
            <a:solidFill>
              <a:srgbClr val="0A0A0A"/>
            </a:solidFill>
          </a:ln>
        </p:spPr>
      </p:cxnSp>
      <p:cxnSp>
        <p:nvCxnSpPr>
          <p:cNvPr id="12" name="el180"/>
          <p:cNvCxnSpPr/>
          <p:nvPr/>
        </p:nvCxnSpPr>
        <p:spPr>
          <a:xfrm>
            <a:off x="1097280" y="1737360"/>
            <a:ext cx="0" cy="4069080"/>
          </a:xfrm>
          <a:prstGeom prst="line">
            <a:avLst/>
          </a:prstGeom>
          <a:ln w="15875">
            <a:solidFill>
              <a:srgbClr val="0A0A0A"/>
            </a:solidFill>
          </a:ln>
        </p:spPr>
      </p:cxnSp>
      <p:sp>
        <p:nvSpPr>
          <p:cNvPr id="13" name="TextBox 12"/>
          <p:cNvSpPr txBox="1"/>
          <p:nvPr/>
        </p:nvSpPr>
        <p:spPr>
          <a:xfrm>
            <a:off x="1097280" y="5879592"/>
            <a:ext cx="2286000" cy="274320"/>
          </a:xfrm>
          <a:prstGeom prst="rect">
            <a:avLst/>
          </a:prstGeom>
          <a:noFill/>
        </p:spPr>
        <p:txBody>
          <a:bodyPr wrap="square" lIns="0" tIns="0" rIns="0" bIns="0" anchor="t"/>
          <a:lstStyle/>
          <a:p>
            <a:pPr algn="l"/>
            <a:r>
              <a:rPr sz="1100" b="0">
                <a:solidFill>
                  <a:srgbClr val="6E6E73"/>
                </a:solidFill>
                <a:latin typeface="Segoe UI"/>
              </a:rPr>
              <a:t>Points the way</a:t>
            </a:r>
          </a:p>
        </p:txBody>
      </p:sp>
      <p:sp>
        <p:nvSpPr>
          <p:cNvPr id="14" name="TextBox 13"/>
          <p:cNvSpPr txBox="1"/>
          <p:nvPr/>
        </p:nvSpPr>
        <p:spPr>
          <a:xfrm>
            <a:off x="4663440" y="5879592"/>
            <a:ext cx="2286000" cy="274320"/>
          </a:xfrm>
          <a:prstGeom prst="rect">
            <a:avLst/>
          </a:prstGeom>
          <a:noFill/>
        </p:spPr>
        <p:txBody>
          <a:bodyPr wrap="square" lIns="0" tIns="0" rIns="0" bIns="0" anchor="t"/>
          <a:lstStyle/>
          <a:p>
            <a:pPr algn="r"/>
            <a:r>
              <a:rPr sz="1100" b="0">
                <a:solidFill>
                  <a:srgbClr val="0A0A0A"/>
                </a:solidFill>
                <a:latin typeface="Segoe UI Semibold"/>
              </a:rPr>
              <a:t>Walks with you →</a:t>
            </a:r>
          </a:p>
        </p:txBody>
      </p:sp>
      <p:sp>
        <p:nvSpPr>
          <p:cNvPr id="15" name="TextBox 14"/>
          <p:cNvSpPr txBox="1"/>
          <p:nvPr/>
        </p:nvSpPr>
        <p:spPr>
          <a:xfrm rot="16200000">
            <a:off x="-502920" y="4709159"/>
            <a:ext cx="2377440" cy="274320"/>
          </a:xfrm>
          <a:prstGeom prst="rect">
            <a:avLst/>
          </a:prstGeom>
          <a:noFill/>
        </p:spPr>
        <p:txBody>
          <a:bodyPr wrap="square" lIns="0" tIns="0" rIns="0" bIns="0" anchor="t"/>
          <a:lstStyle/>
          <a:p>
            <a:pPr algn="l"/>
            <a:r>
              <a:rPr sz="1100" b="0">
                <a:solidFill>
                  <a:srgbClr val="6E6E73"/>
                </a:solidFill>
                <a:latin typeface="Segoe UI"/>
              </a:rPr>
              <a:t>Stand-alone</a:t>
            </a:r>
          </a:p>
        </p:txBody>
      </p:sp>
      <p:sp>
        <p:nvSpPr>
          <p:cNvPr id="16" name="TextBox 15"/>
          <p:cNvSpPr txBox="1"/>
          <p:nvPr/>
        </p:nvSpPr>
        <p:spPr>
          <a:xfrm rot="16200000">
            <a:off x="-502920" y="2697480"/>
            <a:ext cx="2377440" cy="274320"/>
          </a:xfrm>
          <a:prstGeom prst="rect">
            <a:avLst/>
          </a:prstGeom>
          <a:noFill/>
        </p:spPr>
        <p:txBody>
          <a:bodyPr wrap="square" lIns="0" tIns="0" rIns="0" bIns="0" anchor="t"/>
          <a:lstStyle/>
          <a:p>
            <a:pPr algn="l"/>
            <a:r>
              <a:rPr sz="1100" b="0">
                <a:solidFill>
                  <a:srgbClr val="0A0A0A"/>
                </a:solidFill>
                <a:latin typeface="Segoe UI Semibold"/>
              </a:rPr>
              <a:t>Part of the clinic process →</a:t>
            </a:r>
          </a:p>
        </p:txBody>
      </p:sp>
      <p:sp>
        <p:nvSpPr>
          <p:cNvPr id="17" name="Oval 16"/>
          <p:cNvSpPr/>
          <p:nvPr/>
        </p:nvSpPr>
        <p:spPr>
          <a:xfrm>
            <a:off x="1581912" y="5298947"/>
            <a:ext cx="201168" cy="201168"/>
          </a:xfrm>
          <a:prstGeom prst="ellipse">
            <a:avLst/>
          </a:prstGeom>
          <a:solidFill>
            <a:srgbClr val="C7C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65376" y="5244083"/>
            <a:ext cx="2377440" cy="274320"/>
          </a:xfrm>
          <a:prstGeom prst="rect">
            <a:avLst/>
          </a:prstGeom>
          <a:noFill/>
        </p:spPr>
        <p:txBody>
          <a:bodyPr wrap="square" lIns="0" tIns="0" rIns="0" bIns="0" anchor="t"/>
          <a:lstStyle/>
          <a:p>
            <a:pPr algn="l"/>
            <a:r>
              <a:rPr sz="1200" b="0">
                <a:solidFill>
                  <a:srgbClr val="0A0A0A"/>
                </a:solidFill>
                <a:latin typeface="Segoe UI"/>
              </a:rPr>
              <a:t>Signs and maps</a:t>
            </a:r>
          </a:p>
        </p:txBody>
      </p:sp>
      <p:sp>
        <p:nvSpPr>
          <p:cNvPr id="19" name="Oval 18"/>
          <p:cNvSpPr/>
          <p:nvPr/>
        </p:nvSpPr>
        <p:spPr>
          <a:xfrm>
            <a:off x="2752344" y="4810658"/>
            <a:ext cx="201168" cy="201168"/>
          </a:xfrm>
          <a:prstGeom prst="ellipse">
            <a:avLst/>
          </a:prstGeom>
          <a:solidFill>
            <a:srgbClr val="C7C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035808" y="4755794"/>
            <a:ext cx="2377440" cy="274320"/>
          </a:xfrm>
          <a:prstGeom prst="rect">
            <a:avLst/>
          </a:prstGeom>
          <a:noFill/>
        </p:spPr>
        <p:txBody>
          <a:bodyPr wrap="square" lIns="0" tIns="0" rIns="0" bIns="0" anchor="t"/>
          <a:lstStyle/>
          <a:p>
            <a:pPr algn="l"/>
            <a:r>
              <a:rPr sz="1200" b="0">
                <a:solidFill>
                  <a:srgbClr val="0A0A0A"/>
                </a:solidFill>
                <a:latin typeface="Segoe UI"/>
              </a:rPr>
              <a:t>Wayfinding apps</a:t>
            </a:r>
          </a:p>
        </p:txBody>
      </p:sp>
      <p:sp>
        <p:nvSpPr>
          <p:cNvPr id="21" name="Oval 20"/>
          <p:cNvSpPr/>
          <p:nvPr/>
        </p:nvSpPr>
        <p:spPr>
          <a:xfrm>
            <a:off x="2167128" y="3183026"/>
            <a:ext cx="201168" cy="201168"/>
          </a:xfrm>
          <a:prstGeom prst="ellipse">
            <a:avLst/>
          </a:prstGeom>
          <a:solidFill>
            <a:srgbClr val="C7C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450592" y="3128162"/>
            <a:ext cx="2377440" cy="274320"/>
          </a:xfrm>
          <a:prstGeom prst="rect">
            <a:avLst/>
          </a:prstGeom>
          <a:noFill/>
        </p:spPr>
        <p:txBody>
          <a:bodyPr wrap="square" lIns="0" tIns="0" rIns="0" bIns="0" anchor="t"/>
          <a:lstStyle/>
          <a:p>
            <a:pPr algn="l"/>
            <a:r>
              <a:rPr sz="1200" b="0">
                <a:solidFill>
                  <a:srgbClr val="0A0A0A"/>
                </a:solidFill>
                <a:latin typeface="Segoe UI"/>
              </a:rPr>
              <a:t>Info desk</a:t>
            </a:r>
          </a:p>
        </p:txBody>
      </p:sp>
      <p:sp>
        <p:nvSpPr>
          <p:cNvPr id="23" name="Oval 22"/>
          <p:cNvSpPr/>
          <p:nvPr/>
        </p:nvSpPr>
        <p:spPr>
          <a:xfrm>
            <a:off x="1581912" y="2206447"/>
            <a:ext cx="201168" cy="201168"/>
          </a:xfrm>
          <a:prstGeom prst="ellipse">
            <a:avLst/>
          </a:prstGeom>
          <a:solidFill>
            <a:srgbClr val="C7C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865376" y="2151583"/>
            <a:ext cx="2377440" cy="274320"/>
          </a:xfrm>
          <a:prstGeom prst="rect">
            <a:avLst/>
          </a:prstGeom>
          <a:noFill/>
        </p:spPr>
        <p:txBody>
          <a:bodyPr wrap="square" lIns="0" tIns="0" rIns="0" bIns="0" anchor="t"/>
          <a:lstStyle/>
          <a:p>
            <a:pPr algn="l"/>
            <a:r>
              <a:rPr sz="1200" b="0">
                <a:solidFill>
                  <a:srgbClr val="0A0A0A"/>
                </a:solidFill>
                <a:latin typeface="Segoe UI"/>
              </a:rPr>
              <a:t>Delivery robots</a:t>
            </a:r>
          </a:p>
        </p:txBody>
      </p:sp>
      <p:sp>
        <p:nvSpPr>
          <p:cNvPr id="25" name="TextBox 24"/>
          <p:cNvSpPr txBox="1"/>
          <p:nvPr/>
        </p:nvSpPr>
        <p:spPr>
          <a:xfrm>
            <a:off x="1865376" y="2398471"/>
            <a:ext cx="2377440" cy="274320"/>
          </a:xfrm>
          <a:prstGeom prst="rect">
            <a:avLst/>
          </a:prstGeom>
          <a:noFill/>
        </p:spPr>
        <p:txBody>
          <a:bodyPr wrap="square" lIns="0" tIns="0" rIns="0" bIns="0" anchor="t"/>
          <a:lstStyle/>
          <a:p>
            <a:pPr algn="l"/>
            <a:r>
              <a:rPr sz="1000" b="0">
                <a:solidFill>
                  <a:srgbClr val="8E8E93"/>
                </a:solidFill>
                <a:latin typeface="Segoe UI"/>
              </a:rPr>
              <a:t>carry goods</a:t>
            </a:r>
          </a:p>
        </p:txBody>
      </p:sp>
      <p:sp>
        <p:nvSpPr>
          <p:cNvPr id="26" name="Oval 25"/>
          <p:cNvSpPr/>
          <p:nvPr/>
        </p:nvSpPr>
        <p:spPr>
          <a:xfrm>
            <a:off x="4742078" y="4647895"/>
            <a:ext cx="201168" cy="201168"/>
          </a:xfrm>
          <a:prstGeom prst="ellipse">
            <a:avLst/>
          </a:prstGeom>
          <a:solidFill>
            <a:srgbClr val="C7C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5542" y="4593031"/>
            <a:ext cx="2377440" cy="274320"/>
          </a:xfrm>
          <a:prstGeom prst="rect">
            <a:avLst/>
          </a:prstGeom>
          <a:noFill/>
        </p:spPr>
        <p:txBody>
          <a:bodyPr wrap="square" lIns="0" tIns="0" rIns="0" bIns="0" anchor="t"/>
          <a:lstStyle/>
          <a:p>
            <a:pPr algn="l"/>
            <a:r>
              <a:rPr sz="1200" b="0">
                <a:solidFill>
                  <a:srgbClr val="0A0A0A"/>
                </a:solidFill>
                <a:latin typeface="Segoe UI"/>
              </a:rPr>
              <a:t>Guide and reception robots</a:t>
            </a:r>
          </a:p>
        </p:txBody>
      </p:sp>
      <p:sp>
        <p:nvSpPr>
          <p:cNvPr id="28" name="TextBox 27"/>
          <p:cNvSpPr txBox="1"/>
          <p:nvPr/>
        </p:nvSpPr>
        <p:spPr>
          <a:xfrm>
            <a:off x="5025542" y="4839919"/>
            <a:ext cx="2377440" cy="274320"/>
          </a:xfrm>
          <a:prstGeom prst="rect">
            <a:avLst/>
          </a:prstGeom>
          <a:noFill/>
        </p:spPr>
        <p:txBody>
          <a:bodyPr wrap="square" lIns="0" tIns="0" rIns="0" bIns="0" anchor="t"/>
          <a:lstStyle/>
          <a:p>
            <a:pPr algn="l"/>
            <a:r>
              <a:rPr sz="1000" b="0">
                <a:solidFill>
                  <a:srgbClr val="8E8E93"/>
                </a:solidFill>
                <a:latin typeface="Segoe UI"/>
              </a:rPr>
              <a:t>lead the way</a:t>
            </a:r>
          </a:p>
        </p:txBody>
      </p:sp>
      <p:sp>
        <p:nvSpPr>
          <p:cNvPr id="29" name="Oval 28"/>
          <p:cNvSpPr/>
          <p:nvPr/>
        </p:nvSpPr>
        <p:spPr>
          <a:xfrm>
            <a:off x="5327294" y="2857500"/>
            <a:ext cx="201168" cy="201168"/>
          </a:xfrm>
          <a:prstGeom prst="ellipse">
            <a:avLst/>
          </a:prstGeom>
          <a:solidFill>
            <a:srgbClr val="C7C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10758" y="2802636"/>
            <a:ext cx="2377440" cy="274320"/>
          </a:xfrm>
          <a:prstGeom prst="rect">
            <a:avLst/>
          </a:prstGeom>
          <a:noFill/>
        </p:spPr>
        <p:txBody>
          <a:bodyPr wrap="square" lIns="0" tIns="0" rIns="0" bIns="0" anchor="t"/>
          <a:lstStyle/>
          <a:p>
            <a:pPr algn="l"/>
            <a:r>
              <a:rPr sz="1200" b="0">
                <a:solidFill>
                  <a:srgbClr val="0A0A0A"/>
                </a:solidFill>
                <a:latin typeface="Segoe UI"/>
              </a:rPr>
              <a:t>Staff and volunteer escorts</a:t>
            </a:r>
          </a:p>
        </p:txBody>
      </p:sp>
      <p:sp>
        <p:nvSpPr>
          <p:cNvPr id="31" name="TextBox 30"/>
          <p:cNvSpPr txBox="1"/>
          <p:nvPr/>
        </p:nvSpPr>
        <p:spPr>
          <a:xfrm>
            <a:off x="5610758" y="3049524"/>
            <a:ext cx="2377440" cy="274320"/>
          </a:xfrm>
          <a:prstGeom prst="rect">
            <a:avLst/>
          </a:prstGeom>
          <a:noFill/>
        </p:spPr>
        <p:txBody>
          <a:bodyPr wrap="square" lIns="0" tIns="0" rIns="0" bIns="0" anchor="t"/>
          <a:lstStyle/>
          <a:p>
            <a:pPr algn="l"/>
            <a:r>
              <a:rPr sz="1000" b="0">
                <a:solidFill>
                  <a:srgbClr val="8E8E93"/>
                </a:solidFill>
                <a:latin typeface="Segoe UI"/>
              </a:rPr>
              <a:t>cost care time</a:t>
            </a:r>
          </a:p>
        </p:txBody>
      </p:sp>
      <p:sp>
        <p:nvSpPr>
          <p:cNvPr id="32" name="Oval 31"/>
          <p:cNvSpPr/>
          <p:nvPr/>
        </p:nvSpPr>
        <p:spPr>
          <a:xfrm>
            <a:off x="6172200" y="1952243"/>
            <a:ext cx="384048" cy="384048"/>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66944" y="2372868"/>
            <a:ext cx="1280160" cy="274320"/>
          </a:xfrm>
          <a:prstGeom prst="rect">
            <a:avLst/>
          </a:prstGeom>
          <a:noFill/>
        </p:spPr>
        <p:txBody>
          <a:bodyPr wrap="square" lIns="0" tIns="0" rIns="0" bIns="0" anchor="t"/>
          <a:lstStyle/>
          <a:p>
            <a:pPr algn="r"/>
            <a:r>
              <a:rPr sz="1400" b="0">
                <a:solidFill>
                  <a:srgbClr val="0A0A0A"/>
                </a:solidFill>
                <a:latin typeface="Segoe UI Semibold"/>
              </a:rPr>
              <a:t>OttO</a:t>
            </a:r>
          </a:p>
        </p:txBody>
      </p:sp>
      <p:sp>
        <p:nvSpPr>
          <p:cNvPr id="34" name="TextBox 33"/>
          <p:cNvSpPr txBox="1"/>
          <p:nvPr/>
        </p:nvSpPr>
        <p:spPr>
          <a:xfrm>
            <a:off x="7498079" y="1783080"/>
            <a:ext cx="4007815" cy="274320"/>
          </a:xfrm>
          <a:prstGeom prst="rect">
            <a:avLst/>
          </a:prstGeom>
          <a:noFill/>
        </p:spPr>
        <p:txBody>
          <a:bodyPr wrap="square" lIns="0" tIns="0" rIns="0" bIns="0" anchor="t"/>
          <a:lstStyle/>
          <a:p>
            <a:pPr algn="l"/>
            <a:r>
              <a:rPr sz="1100" b="0">
                <a:solidFill>
                  <a:srgbClr val="8E8E93"/>
                </a:solidFill>
                <a:latin typeface="Segoe UI Semibold"/>
              </a:rPr>
              <a:t>Our USP</a:t>
            </a:r>
          </a:p>
        </p:txBody>
      </p:sp>
      <p:sp>
        <p:nvSpPr>
          <p:cNvPr id="35" name="TextBox 34"/>
          <p:cNvSpPr txBox="1"/>
          <p:nvPr/>
        </p:nvSpPr>
        <p:spPr>
          <a:xfrm>
            <a:off x="7498079" y="2057400"/>
            <a:ext cx="4007815" cy="1188720"/>
          </a:xfrm>
          <a:prstGeom prst="rect">
            <a:avLst/>
          </a:prstGeom>
          <a:noFill/>
        </p:spPr>
        <p:txBody>
          <a:bodyPr wrap="square" lIns="0" tIns="0" rIns="0" bIns="0" anchor="t"/>
          <a:lstStyle/>
          <a:p>
            <a:pPr algn="l">
              <a:lnSpc>
                <a:spcPct val="102000"/>
              </a:lnSpc>
            </a:pPr>
            <a:r>
              <a:rPr sz="2200" b="0">
                <a:solidFill>
                  <a:srgbClr val="0A0A0A"/>
                </a:solidFill>
                <a:latin typeface="Segoe UI"/>
              </a:rPr>
              <a:t>Walks with you like a person.</a:t>
            </a:r>
          </a:p>
          <a:p>
            <a:pPr algn="l">
              <a:lnSpc>
                <a:spcPct val="102000"/>
              </a:lnSpc>
            </a:pPr>
            <a:r>
              <a:rPr sz="2200" b="0">
                <a:solidFill>
                  <a:srgbClr val="8E8E93"/>
                </a:solidFill>
                <a:latin typeface="Segoe UI"/>
              </a:rPr>
              <a:t>No staff time. No personal data.</a:t>
            </a:r>
          </a:p>
        </p:txBody>
      </p:sp>
      <p:sp>
        <p:nvSpPr>
          <p:cNvPr id="36" name="Rectangle 35"/>
          <p:cNvSpPr/>
          <p:nvPr/>
        </p:nvSpPr>
        <p:spPr>
          <a:xfrm>
            <a:off x="7498079" y="3429000"/>
            <a:ext cx="400781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98079" y="3520440"/>
            <a:ext cx="4007815" cy="274320"/>
          </a:xfrm>
          <a:prstGeom prst="rect">
            <a:avLst/>
          </a:prstGeom>
          <a:noFill/>
        </p:spPr>
        <p:txBody>
          <a:bodyPr wrap="square" lIns="0" tIns="0" rIns="0" bIns="0" anchor="t"/>
          <a:lstStyle/>
          <a:p>
            <a:pPr algn="l"/>
            <a:r>
              <a:rPr sz="1200" b="0">
                <a:solidFill>
                  <a:srgbClr val="0A0A0A"/>
                </a:solidFill>
                <a:latin typeface="Segoe UI Semibold"/>
              </a:rPr>
              <a:t>Like an escort</a:t>
            </a:r>
          </a:p>
        </p:txBody>
      </p:sp>
      <p:sp>
        <p:nvSpPr>
          <p:cNvPr id="38" name="TextBox 37"/>
          <p:cNvSpPr txBox="1"/>
          <p:nvPr/>
        </p:nvSpPr>
        <p:spPr>
          <a:xfrm>
            <a:off x="7498079" y="3776472"/>
            <a:ext cx="4007815" cy="274320"/>
          </a:xfrm>
          <a:prstGeom prst="rect">
            <a:avLst/>
          </a:prstGeom>
          <a:noFill/>
        </p:spPr>
        <p:txBody>
          <a:bodyPr wrap="square" lIns="0" tIns="0" rIns="0" bIns="0" anchor="t"/>
          <a:lstStyle/>
          <a:p>
            <a:pPr algn="l"/>
            <a:r>
              <a:rPr sz="1150" b="0">
                <a:solidFill>
                  <a:srgbClr val="6E6E73"/>
                </a:solidFill>
                <a:latin typeface="Segoe UI"/>
              </a:rPr>
              <a:t>walks at your pace and notices if you fall behind</a:t>
            </a:r>
          </a:p>
        </p:txBody>
      </p:sp>
      <p:sp>
        <p:nvSpPr>
          <p:cNvPr id="39" name="Rectangle 38"/>
          <p:cNvSpPr/>
          <p:nvPr/>
        </p:nvSpPr>
        <p:spPr>
          <a:xfrm>
            <a:off x="7498079" y="4069080"/>
            <a:ext cx="400781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98079" y="4160520"/>
            <a:ext cx="4007815" cy="274320"/>
          </a:xfrm>
          <a:prstGeom prst="rect">
            <a:avLst/>
          </a:prstGeom>
          <a:noFill/>
        </p:spPr>
        <p:txBody>
          <a:bodyPr wrap="square" lIns="0" tIns="0" rIns="0" bIns="0" anchor="t"/>
          <a:lstStyle/>
          <a:p>
            <a:pPr algn="l"/>
            <a:r>
              <a:rPr sz="1200" b="0">
                <a:solidFill>
                  <a:srgbClr val="0A0A0A"/>
                </a:solidFill>
                <a:latin typeface="Segoe UI Semibold"/>
              </a:rPr>
              <a:t>Unlike an escort</a:t>
            </a:r>
          </a:p>
        </p:txBody>
      </p:sp>
      <p:sp>
        <p:nvSpPr>
          <p:cNvPr id="41" name="TextBox 40"/>
          <p:cNvSpPr txBox="1"/>
          <p:nvPr/>
        </p:nvSpPr>
        <p:spPr>
          <a:xfrm>
            <a:off x="7498079" y="4416552"/>
            <a:ext cx="4007815" cy="274320"/>
          </a:xfrm>
          <a:prstGeom prst="rect">
            <a:avLst/>
          </a:prstGeom>
          <a:noFill/>
        </p:spPr>
        <p:txBody>
          <a:bodyPr wrap="square" lIns="0" tIns="0" rIns="0" bIns="0" anchor="t"/>
          <a:lstStyle/>
          <a:p>
            <a:pPr algn="l"/>
            <a:r>
              <a:rPr sz="1150" b="0">
                <a:solidFill>
                  <a:srgbClr val="6E6E73"/>
                </a:solidFill>
                <a:latin typeface="Segoe UI"/>
              </a:rPr>
              <a:t>no nurse has to leave the ward</a:t>
            </a:r>
          </a:p>
        </p:txBody>
      </p:sp>
      <p:sp>
        <p:nvSpPr>
          <p:cNvPr id="42" name="Rectangle 41"/>
          <p:cNvSpPr/>
          <p:nvPr/>
        </p:nvSpPr>
        <p:spPr>
          <a:xfrm>
            <a:off x="7498079" y="4709160"/>
            <a:ext cx="400781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498079" y="4800600"/>
            <a:ext cx="4007815" cy="274320"/>
          </a:xfrm>
          <a:prstGeom prst="rect">
            <a:avLst/>
          </a:prstGeom>
          <a:noFill/>
        </p:spPr>
        <p:txBody>
          <a:bodyPr wrap="square" lIns="0" tIns="0" rIns="0" bIns="0" anchor="t"/>
          <a:lstStyle/>
          <a:p>
            <a:pPr algn="l"/>
            <a:r>
              <a:rPr sz="1200" b="0">
                <a:solidFill>
                  <a:srgbClr val="0A0A0A"/>
                </a:solidFill>
                <a:latin typeface="Segoe UI Semibold"/>
              </a:rPr>
              <a:t>Unlike other robots</a:t>
            </a:r>
          </a:p>
        </p:txBody>
      </p:sp>
      <p:sp>
        <p:nvSpPr>
          <p:cNvPr id="44" name="TextBox 43"/>
          <p:cNvSpPr txBox="1"/>
          <p:nvPr/>
        </p:nvSpPr>
        <p:spPr>
          <a:xfrm>
            <a:off x="7498079" y="5056632"/>
            <a:ext cx="4007815" cy="274320"/>
          </a:xfrm>
          <a:prstGeom prst="rect">
            <a:avLst/>
          </a:prstGeom>
          <a:noFill/>
        </p:spPr>
        <p:txBody>
          <a:bodyPr wrap="square" lIns="0" tIns="0" rIns="0" bIns="0" anchor="t"/>
          <a:lstStyle/>
          <a:p>
            <a:pPr algn="l"/>
            <a:r>
              <a:rPr sz="1150" b="0">
                <a:solidFill>
                  <a:srgbClr val="6E6E73"/>
                </a:solidFill>
                <a:latin typeface="Segoe UI"/>
              </a:rPr>
              <a:t>part of the clinic process, from check-in to the exit</a:t>
            </a:r>
          </a:p>
        </p:txBody>
      </p:sp>
      <p:sp>
        <p:nvSpPr>
          <p:cNvPr id="45" name="Rectangle 44"/>
          <p:cNvSpPr/>
          <p:nvPr/>
        </p:nvSpPr>
        <p:spPr>
          <a:xfrm>
            <a:off x="7498079" y="5349240"/>
            <a:ext cx="400781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98079" y="5440680"/>
            <a:ext cx="4007815" cy="274320"/>
          </a:xfrm>
          <a:prstGeom prst="rect">
            <a:avLst/>
          </a:prstGeom>
          <a:noFill/>
        </p:spPr>
        <p:txBody>
          <a:bodyPr wrap="square" lIns="0" tIns="0" rIns="0" bIns="0" anchor="t"/>
          <a:lstStyle/>
          <a:p>
            <a:pPr algn="l"/>
            <a:r>
              <a:rPr sz="1200" b="0">
                <a:solidFill>
                  <a:srgbClr val="0A0A0A"/>
                </a:solidFill>
                <a:latin typeface="Segoe UI Semibold"/>
              </a:rPr>
              <a:t>Built on</a:t>
            </a:r>
          </a:p>
        </p:txBody>
      </p:sp>
      <p:sp>
        <p:nvSpPr>
          <p:cNvPr id="47" name="TextBox 46"/>
          <p:cNvSpPr txBox="1"/>
          <p:nvPr/>
        </p:nvSpPr>
        <p:spPr>
          <a:xfrm>
            <a:off x="7498079" y="5696712"/>
            <a:ext cx="4007815" cy="274320"/>
          </a:xfrm>
          <a:prstGeom prst="rect">
            <a:avLst/>
          </a:prstGeom>
          <a:noFill/>
        </p:spPr>
        <p:txBody>
          <a:bodyPr wrap="square" lIns="0" tIns="0" rIns="0" bIns="0" anchor="t"/>
          <a:lstStyle/>
          <a:p>
            <a:pPr algn="l"/>
            <a:r>
              <a:rPr sz="1150" b="0">
                <a:solidFill>
                  <a:srgbClr val="6E6E73"/>
                </a:solidFill>
                <a:latin typeface="Segoe UI"/>
              </a:rPr>
              <a:t>an existing service robot: we build the guide, not the hardware</a:t>
            </a:r>
          </a:p>
        </p:txBody>
      </p:sp>
      <p:sp>
        <p:nvSpPr>
          <p:cNvPr id="48" name="Rectangle 47"/>
          <p:cNvSpPr/>
          <p:nvPr/>
        </p:nvSpPr>
        <p:spPr>
          <a:xfrm>
            <a:off x="7498079" y="5989320"/>
            <a:ext cx="400781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6"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7" name="TextBox 6"/>
          <p:cNvSpPr txBox="1"/>
          <p:nvPr/>
        </p:nvSpPr>
        <p:spPr>
          <a:xfrm>
            <a:off x="685800" y="914400"/>
            <a:ext cx="10515600" cy="548640"/>
          </a:xfrm>
          <a:prstGeom prst="rect">
            <a:avLst/>
          </a:prstGeom>
          <a:noFill/>
        </p:spPr>
        <p:txBody>
          <a:bodyPr wrap="square" lIns="0" tIns="0" rIns="0" bIns="0" anchor="t"/>
          <a:lstStyle/>
          <a:p>
            <a:pPr algn="l">
              <a:lnSpc>
                <a:spcPct val="102000"/>
              </a:lnSpc>
            </a:pPr>
            <a:r>
              <a:rPr sz="2600" b="0">
                <a:solidFill>
                  <a:srgbClr val="0A0A0A"/>
                </a:solidFill>
                <a:latin typeface="Segoe UI"/>
              </a:rPr>
              <a:t>Backup. </a:t>
            </a:r>
            <a:r>
              <a:rPr sz="2600" b="0">
                <a:solidFill>
                  <a:srgbClr val="8E8E93"/>
                </a:solidFill>
                <a:latin typeface="Segoe UI"/>
              </a:rPr>
              <a:t>The path to approval, step by step.</a:t>
            </a:r>
          </a:p>
        </p:txBody>
      </p:sp>
      <p:sp>
        <p:nvSpPr>
          <p:cNvPr id="8" name="TextBox 7"/>
          <p:cNvSpPr txBox="1"/>
          <p:nvPr/>
        </p:nvSpPr>
        <p:spPr>
          <a:xfrm>
            <a:off x="685800" y="1627632"/>
            <a:ext cx="1828800" cy="274320"/>
          </a:xfrm>
          <a:prstGeom prst="rect">
            <a:avLst/>
          </a:prstGeom>
          <a:noFill/>
        </p:spPr>
        <p:txBody>
          <a:bodyPr wrap="square" lIns="0" tIns="0" rIns="0" bIns="0" anchor="t"/>
          <a:lstStyle/>
          <a:p>
            <a:pPr algn="l"/>
            <a:r>
              <a:rPr sz="1050" b="0">
                <a:solidFill>
                  <a:srgbClr val="8E8E93"/>
                </a:solidFill>
                <a:latin typeface="Segoe UI Semibold"/>
              </a:rPr>
              <a:t>Step</a:t>
            </a:r>
          </a:p>
        </p:txBody>
      </p:sp>
      <p:sp>
        <p:nvSpPr>
          <p:cNvPr id="9" name="TextBox 8"/>
          <p:cNvSpPr txBox="1"/>
          <p:nvPr/>
        </p:nvSpPr>
        <p:spPr>
          <a:xfrm>
            <a:off x="2606040" y="1627632"/>
            <a:ext cx="5486400" cy="274320"/>
          </a:xfrm>
          <a:prstGeom prst="rect">
            <a:avLst/>
          </a:prstGeom>
          <a:noFill/>
        </p:spPr>
        <p:txBody>
          <a:bodyPr wrap="square" lIns="0" tIns="0" rIns="0" bIns="0" anchor="t"/>
          <a:lstStyle/>
          <a:p>
            <a:pPr algn="l"/>
            <a:r>
              <a:rPr sz="1050" b="0">
                <a:solidFill>
                  <a:srgbClr val="8E8E93"/>
                </a:solidFill>
                <a:latin typeface="Segoe UI Semibold"/>
              </a:rPr>
              <a:t>What we do</a:t>
            </a:r>
          </a:p>
        </p:txBody>
      </p:sp>
      <p:sp>
        <p:nvSpPr>
          <p:cNvPr id="10" name="TextBox 9"/>
          <p:cNvSpPr txBox="1"/>
          <p:nvPr/>
        </p:nvSpPr>
        <p:spPr>
          <a:xfrm>
            <a:off x="8229600" y="1627632"/>
            <a:ext cx="2011680" cy="274320"/>
          </a:xfrm>
          <a:prstGeom prst="rect">
            <a:avLst/>
          </a:prstGeom>
          <a:noFill/>
        </p:spPr>
        <p:txBody>
          <a:bodyPr wrap="square" lIns="0" tIns="0" rIns="0" bIns="0" anchor="t"/>
          <a:lstStyle/>
          <a:p>
            <a:pPr algn="l"/>
            <a:r>
              <a:rPr sz="1050" b="0">
                <a:solidFill>
                  <a:srgbClr val="8E8E93"/>
                </a:solidFill>
                <a:latin typeface="Segoe UI Semibold"/>
              </a:rPr>
              <a:t>With whom</a:t>
            </a:r>
          </a:p>
        </p:txBody>
      </p:sp>
      <p:sp>
        <p:nvSpPr>
          <p:cNvPr id="11" name="TextBox 10"/>
          <p:cNvSpPr txBox="1"/>
          <p:nvPr/>
        </p:nvSpPr>
        <p:spPr>
          <a:xfrm>
            <a:off x="10332720" y="1627632"/>
            <a:ext cx="1170432" cy="274320"/>
          </a:xfrm>
          <a:prstGeom prst="rect">
            <a:avLst/>
          </a:prstGeom>
          <a:noFill/>
        </p:spPr>
        <p:txBody>
          <a:bodyPr wrap="square" lIns="0" tIns="0" rIns="0" bIns="0" anchor="t"/>
          <a:lstStyle/>
          <a:p>
            <a:pPr algn="l"/>
            <a:r>
              <a:rPr sz="1050" b="0">
                <a:solidFill>
                  <a:srgbClr val="8E8E93"/>
                </a:solidFill>
                <a:latin typeface="Segoe UI Semibold"/>
              </a:rPr>
              <a:t>When</a:t>
            </a:r>
          </a:p>
        </p:txBody>
      </p:sp>
      <p:sp>
        <p:nvSpPr>
          <p:cNvPr id="12" name="Rectangle 11"/>
          <p:cNvSpPr/>
          <p:nvPr/>
        </p:nvSpPr>
        <p:spPr>
          <a:xfrm>
            <a:off x="685800" y="1920240"/>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04088" y="2130552"/>
            <a:ext cx="128016" cy="128016"/>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1832" y="2039112"/>
            <a:ext cx="1554480" cy="548640"/>
          </a:xfrm>
          <a:prstGeom prst="rect">
            <a:avLst/>
          </a:prstGeom>
          <a:noFill/>
        </p:spPr>
        <p:txBody>
          <a:bodyPr wrap="square" lIns="0" tIns="0" rIns="0" bIns="0" anchor="t"/>
          <a:lstStyle/>
          <a:p>
            <a:pPr algn="l">
              <a:lnSpc>
                <a:spcPct val="105000"/>
              </a:lnSpc>
            </a:pPr>
            <a:r>
              <a:rPr sz="1300" b="0">
                <a:solidFill>
                  <a:srgbClr val="0A0A0A"/>
                </a:solidFill>
                <a:latin typeface="Segoe UI Semibold"/>
              </a:rPr>
              <a:t>Intended purpose</a:t>
            </a:r>
          </a:p>
        </p:txBody>
      </p:sp>
      <p:sp>
        <p:nvSpPr>
          <p:cNvPr id="15" name="TextBox 14"/>
          <p:cNvSpPr txBox="1"/>
          <p:nvPr/>
        </p:nvSpPr>
        <p:spPr>
          <a:xfrm>
            <a:off x="2606040" y="2029968"/>
            <a:ext cx="5486400" cy="640080"/>
          </a:xfrm>
          <a:prstGeom prst="rect">
            <a:avLst/>
          </a:prstGeom>
          <a:noFill/>
        </p:spPr>
        <p:txBody>
          <a:bodyPr wrap="square" lIns="0" tIns="0" rIns="0" bIns="0" anchor="t"/>
          <a:lstStyle/>
          <a:p>
            <a:pPr algn="l">
              <a:lnSpc>
                <a:spcPct val="112000"/>
              </a:lnSpc>
            </a:pPr>
            <a:r>
              <a:rPr sz="1050" b="0">
                <a:solidFill>
                  <a:srgbClr val="6E6E73"/>
                </a:solidFill>
                <a:latin typeface="Segoe UI"/>
              </a:rPr>
              <a:t>Write it down: OttO guides people. No diagnosis, no monitoring, no treatment. MDR qualification check (Art. 2(1), MDCG 2019-11): then likely not a medical device.</a:t>
            </a:r>
          </a:p>
        </p:txBody>
      </p:sp>
      <p:sp>
        <p:nvSpPr>
          <p:cNvPr id="16" name="TextBox 15"/>
          <p:cNvSpPr txBox="1"/>
          <p:nvPr/>
        </p:nvSpPr>
        <p:spPr>
          <a:xfrm>
            <a:off x="8229600" y="2039112"/>
            <a:ext cx="2011680" cy="548640"/>
          </a:xfrm>
          <a:prstGeom prst="rect">
            <a:avLst/>
          </a:prstGeom>
          <a:noFill/>
        </p:spPr>
        <p:txBody>
          <a:bodyPr wrap="square" lIns="0" tIns="0" rIns="0" bIns="0" anchor="t"/>
          <a:lstStyle/>
          <a:p>
            <a:pPr algn="l">
              <a:lnSpc>
                <a:spcPct val="110000"/>
              </a:lnSpc>
            </a:pPr>
            <a:r>
              <a:rPr sz="1100" b="0">
                <a:solidFill>
                  <a:srgbClr val="0A0A0A"/>
                </a:solidFill>
                <a:latin typeface="Segoe UI"/>
              </a:rPr>
              <a:t>Regulatory advisor</a:t>
            </a:r>
          </a:p>
        </p:txBody>
      </p:sp>
      <p:sp>
        <p:nvSpPr>
          <p:cNvPr id="17" name="TextBox 16"/>
          <p:cNvSpPr txBox="1"/>
          <p:nvPr/>
        </p:nvSpPr>
        <p:spPr>
          <a:xfrm>
            <a:off x="10332720" y="2039112"/>
            <a:ext cx="1170432" cy="274320"/>
          </a:xfrm>
          <a:prstGeom prst="rect">
            <a:avLst/>
          </a:prstGeom>
          <a:noFill/>
        </p:spPr>
        <p:txBody>
          <a:bodyPr wrap="square" lIns="0" tIns="0" rIns="0" bIns="0" anchor="t"/>
          <a:lstStyle/>
          <a:p>
            <a:pPr algn="l"/>
            <a:r>
              <a:rPr sz="1100" b="0">
                <a:solidFill>
                  <a:srgbClr val="0A0A0A"/>
                </a:solidFill>
                <a:latin typeface="Segoe UI Semibold"/>
              </a:rPr>
              <a:t>Month 1</a:t>
            </a:r>
          </a:p>
        </p:txBody>
      </p:sp>
      <p:sp>
        <p:nvSpPr>
          <p:cNvPr id="18" name="Rectangle 17"/>
          <p:cNvSpPr/>
          <p:nvPr/>
        </p:nvSpPr>
        <p:spPr>
          <a:xfrm>
            <a:off x="685800" y="2596896"/>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04088" y="2807208"/>
            <a:ext cx="128016" cy="128016"/>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1832" y="2715768"/>
            <a:ext cx="1554480" cy="548640"/>
          </a:xfrm>
          <a:prstGeom prst="rect">
            <a:avLst/>
          </a:prstGeom>
          <a:noFill/>
        </p:spPr>
        <p:txBody>
          <a:bodyPr wrap="square" lIns="0" tIns="0" rIns="0" bIns="0" anchor="t"/>
          <a:lstStyle/>
          <a:p>
            <a:pPr algn="l">
              <a:lnSpc>
                <a:spcPct val="105000"/>
              </a:lnSpc>
            </a:pPr>
            <a:r>
              <a:rPr sz="1300" b="0">
                <a:solidFill>
                  <a:srgbClr val="0A0A0A"/>
                </a:solidFill>
                <a:latin typeface="Segoe UI Semibold"/>
              </a:rPr>
              <a:t>Data protection</a:t>
            </a:r>
          </a:p>
        </p:txBody>
      </p:sp>
      <p:sp>
        <p:nvSpPr>
          <p:cNvPr id="21" name="TextBox 20"/>
          <p:cNvSpPr txBox="1"/>
          <p:nvPr/>
        </p:nvSpPr>
        <p:spPr>
          <a:xfrm>
            <a:off x="2606040" y="2706624"/>
            <a:ext cx="5486400" cy="640080"/>
          </a:xfrm>
          <a:prstGeom prst="rect">
            <a:avLst/>
          </a:prstGeom>
          <a:noFill/>
        </p:spPr>
        <p:txBody>
          <a:bodyPr wrap="square" lIns="0" tIns="0" rIns="0" bIns="0" anchor="t"/>
          <a:lstStyle/>
          <a:p>
            <a:pPr algn="l">
              <a:lnSpc>
                <a:spcPct val="112000"/>
              </a:lnSpc>
            </a:pPr>
            <a:r>
              <a:rPr sz="1050" b="0">
                <a:solidFill>
                  <a:srgbClr val="6E6E73"/>
                </a:solidFill>
                <a:latin typeface="Segoe UI"/>
              </a:rPr>
              <a:t>Impact assessment (GDPR Art. 35), processing agreement (Art. 28), camera notice signs (Art. 13).</a:t>
            </a:r>
          </a:p>
        </p:txBody>
      </p:sp>
      <p:sp>
        <p:nvSpPr>
          <p:cNvPr id="22" name="TextBox 21"/>
          <p:cNvSpPr txBox="1"/>
          <p:nvPr/>
        </p:nvSpPr>
        <p:spPr>
          <a:xfrm>
            <a:off x="8229600" y="2715768"/>
            <a:ext cx="2011680" cy="548640"/>
          </a:xfrm>
          <a:prstGeom prst="rect">
            <a:avLst/>
          </a:prstGeom>
          <a:noFill/>
        </p:spPr>
        <p:txBody>
          <a:bodyPr wrap="square" lIns="0" tIns="0" rIns="0" bIns="0" anchor="t"/>
          <a:lstStyle/>
          <a:p>
            <a:pPr algn="l">
              <a:lnSpc>
                <a:spcPct val="110000"/>
              </a:lnSpc>
            </a:pPr>
            <a:r>
              <a:rPr sz="1100" b="0">
                <a:solidFill>
                  <a:srgbClr val="0A0A0A"/>
                </a:solidFill>
                <a:latin typeface="Segoe UI"/>
              </a:rPr>
              <a:t>Hospital data protection officer</a:t>
            </a:r>
          </a:p>
        </p:txBody>
      </p:sp>
      <p:sp>
        <p:nvSpPr>
          <p:cNvPr id="23" name="TextBox 22"/>
          <p:cNvSpPr txBox="1"/>
          <p:nvPr/>
        </p:nvSpPr>
        <p:spPr>
          <a:xfrm>
            <a:off x="10332720" y="2715768"/>
            <a:ext cx="1170432" cy="274320"/>
          </a:xfrm>
          <a:prstGeom prst="rect">
            <a:avLst/>
          </a:prstGeom>
          <a:noFill/>
        </p:spPr>
        <p:txBody>
          <a:bodyPr wrap="square" lIns="0" tIns="0" rIns="0" bIns="0" anchor="t"/>
          <a:lstStyle/>
          <a:p>
            <a:pPr algn="l"/>
            <a:r>
              <a:rPr sz="1100" b="0">
                <a:solidFill>
                  <a:srgbClr val="0A0A0A"/>
                </a:solidFill>
                <a:latin typeface="Segoe UI Semibold"/>
              </a:rPr>
              <a:t>Month 1–2</a:t>
            </a:r>
          </a:p>
        </p:txBody>
      </p:sp>
      <p:sp>
        <p:nvSpPr>
          <p:cNvPr id="24" name="Rectangle 23"/>
          <p:cNvSpPr/>
          <p:nvPr/>
        </p:nvSpPr>
        <p:spPr>
          <a:xfrm>
            <a:off x="685800" y="3273552"/>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04088" y="3483864"/>
            <a:ext cx="128016" cy="128016"/>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41832" y="3392424"/>
            <a:ext cx="1554480" cy="548640"/>
          </a:xfrm>
          <a:prstGeom prst="rect">
            <a:avLst/>
          </a:prstGeom>
          <a:noFill/>
        </p:spPr>
        <p:txBody>
          <a:bodyPr wrap="square" lIns="0" tIns="0" rIns="0" bIns="0" anchor="t"/>
          <a:lstStyle/>
          <a:p>
            <a:pPr algn="l">
              <a:lnSpc>
                <a:spcPct val="105000"/>
              </a:lnSpc>
            </a:pPr>
            <a:r>
              <a:rPr sz="1300" b="0">
                <a:solidFill>
                  <a:srgbClr val="0A0A0A"/>
                </a:solidFill>
                <a:latin typeface="Segoe UI Semibold"/>
              </a:rPr>
              <a:t>Robot safety</a:t>
            </a:r>
          </a:p>
        </p:txBody>
      </p:sp>
      <p:sp>
        <p:nvSpPr>
          <p:cNvPr id="27" name="TextBox 26"/>
          <p:cNvSpPr txBox="1"/>
          <p:nvPr/>
        </p:nvSpPr>
        <p:spPr>
          <a:xfrm>
            <a:off x="2606040" y="3383280"/>
            <a:ext cx="5486400" cy="640080"/>
          </a:xfrm>
          <a:prstGeom prst="rect">
            <a:avLst/>
          </a:prstGeom>
          <a:noFill/>
        </p:spPr>
        <p:txBody>
          <a:bodyPr wrap="square" lIns="0" tIns="0" rIns="0" bIns="0" anchor="t"/>
          <a:lstStyle/>
          <a:p>
            <a:pPr algn="l">
              <a:lnSpc>
                <a:spcPct val="112000"/>
              </a:lnSpc>
            </a:pPr>
            <a:r>
              <a:rPr sz="1050" b="0">
                <a:solidFill>
                  <a:srgbClr val="6E6E73"/>
                </a:solidFill>
                <a:latin typeface="Segoe UI"/>
              </a:rPr>
              <a:t>Check the robot’s CE marking; our software keeps its speed and stop limits. Risk assessment (ISO 12100, ISO 13482). EU Machinery Regulation applies from 20 Jan 2027.</a:t>
            </a:r>
          </a:p>
        </p:txBody>
      </p:sp>
      <p:sp>
        <p:nvSpPr>
          <p:cNvPr id="28" name="TextBox 27"/>
          <p:cNvSpPr txBox="1"/>
          <p:nvPr/>
        </p:nvSpPr>
        <p:spPr>
          <a:xfrm>
            <a:off x="8229600" y="3392424"/>
            <a:ext cx="2011680" cy="548640"/>
          </a:xfrm>
          <a:prstGeom prst="rect">
            <a:avLst/>
          </a:prstGeom>
          <a:noFill/>
        </p:spPr>
        <p:txBody>
          <a:bodyPr wrap="square" lIns="0" tIns="0" rIns="0" bIns="0" anchor="t"/>
          <a:lstStyle/>
          <a:p>
            <a:pPr algn="l">
              <a:lnSpc>
                <a:spcPct val="110000"/>
              </a:lnSpc>
            </a:pPr>
            <a:r>
              <a:rPr sz="1100" b="0">
                <a:solidFill>
                  <a:srgbClr val="0A0A0A"/>
                </a:solidFill>
                <a:latin typeface="Segoe UI"/>
              </a:rPr>
              <a:t>Robot maker, safety expert</a:t>
            </a:r>
          </a:p>
        </p:txBody>
      </p:sp>
      <p:sp>
        <p:nvSpPr>
          <p:cNvPr id="29" name="TextBox 28"/>
          <p:cNvSpPr txBox="1"/>
          <p:nvPr/>
        </p:nvSpPr>
        <p:spPr>
          <a:xfrm>
            <a:off x="10332720" y="3392424"/>
            <a:ext cx="1170432" cy="274320"/>
          </a:xfrm>
          <a:prstGeom prst="rect">
            <a:avLst/>
          </a:prstGeom>
          <a:noFill/>
        </p:spPr>
        <p:txBody>
          <a:bodyPr wrap="square" lIns="0" tIns="0" rIns="0" bIns="0" anchor="t"/>
          <a:lstStyle/>
          <a:p>
            <a:pPr algn="l"/>
            <a:r>
              <a:rPr sz="1100" b="0">
                <a:solidFill>
                  <a:srgbClr val="0A0A0A"/>
                </a:solidFill>
                <a:latin typeface="Segoe UI Semibold"/>
              </a:rPr>
              <a:t>Month 2</a:t>
            </a:r>
          </a:p>
        </p:txBody>
      </p:sp>
      <p:sp>
        <p:nvSpPr>
          <p:cNvPr id="30" name="Rectangle 29"/>
          <p:cNvSpPr/>
          <p:nvPr/>
        </p:nvSpPr>
        <p:spPr>
          <a:xfrm>
            <a:off x="685800" y="3950208"/>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704088" y="4160520"/>
            <a:ext cx="128016" cy="128016"/>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1832" y="4069080"/>
            <a:ext cx="1554480" cy="548640"/>
          </a:xfrm>
          <a:prstGeom prst="rect">
            <a:avLst/>
          </a:prstGeom>
          <a:noFill/>
        </p:spPr>
        <p:txBody>
          <a:bodyPr wrap="square" lIns="0" tIns="0" rIns="0" bIns="0" anchor="t"/>
          <a:lstStyle/>
          <a:p>
            <a:pPr algn="l">
              <a:lnSpc>
                <a:spcPct val="105000"/>
              </a:lnSpc>
            </a:pPr>
            <a:r>
              <a:rPr sz="1300" b="0">
                <a:solidFill>
                  <a:srgbClr val="0A0A0A"/>
                </a:solidFill>
                <a:latin typeface="Segoe UI Semibold"/>
              </a:rPr>
              <a:t>AI Act</a:t>
            </a:r>
          </a:p>
        </p:txBody>
      </p:sp>
      <p:sp>
        <p:nvSpPr>
          <p:cNvPr id="33" name="TextBox 32"/>
          <p:cNvSpPr txBox="1"/>
          <p:nvPr/>
        </p:nvSpPr>
        <p:spPr>
          <a:xfrm>
            <a:off x="2606040" y="4059936"/>
            <a:ext cx="5486400" cy="640080"/>
          </a:xfrm>
          <a:prstGeom prst="rect">
            <a:avLst/>
          </a:prstGeom>
          <a:noFill/>
        </p:spPr>
        <p:txBody>
          <a:bodyPr wrap="square" lIns="0" tIns="0" rIns="0" bIns="0" anchor="t"/>
          <a:lstStyle/>
          <a:p>
            <a:pPr algn="l">
              <a:lnSpc>
                <a:spcPct val="112000"/>
              </a:lnSpc>
            </a:pPr>
            <a:r>
              <a:rPr sz="1050" b="0">
                <a:solidFill>
                  <a:srgbClr val="6E6E73"/>
                </a:solidFill>
                <a:latin typeface="Segoe UI"/>
              </a:rPr>
              <a:t>OttO talks with people: it must say clearly that it is an AI (Art. 50, applies since 2 Aug 2026).</a:t>
            </a:r>
          </a:p>
        </p:txBody>
      </p:sp>
      <p:sp>
        <p:nvSpPr>
          <p:cNvPr id="34" name="TextBox 33"/>
          <p:cNvSpPr txBox="1"/>
          <p:nvPr/>
        </p:nvSpPr>
        <p:spPr>
          <a:xfrm>
            <a:off x="8229600" y="4069080"/>
            <a:ext cx="2011680" cy="548640"/>
          </a:xfrm>
          <a:prstGeom prst="rect">
            <a:avLst/>
          </a:prstGeom>
          <a:noFill/>
        </p:spPr>
        <p:txBody>
          <a:bodyPr wrap="square" lIns="0" tIns="0" rIns="0" bIns="0" anchor="t"/>
          <a:lstStyle/>
          <a:p>
            <a:pPr algn="l">
              <a:lnSpc>
                <a:spcPct val="110000"/>
              </a:lnSpc>
            </a:pPr>
            <a:r>
              <a:rPr sz="1100" b="0">
                <a:solidFill>
                  <a:srgbClr val="0A0A0A"/>
                </a:solidFill>
                <a:latin typeface="Segoe UI"/>
              </a:rPr>
              <a:t>AURA Robotics</a:t>
            </a:r>
          </a:p>
        </p:txBody>
      </p:sp>
      <p:sp>
        <p:nvSpPr>
          <p:cNvPr id="35" name="TextBox 34"/>
          <p:cNvSpPr txBox="1"/>
          <p:nvPr/>
        </p:nvSpPr>
        <p:spPr>
          <a:xfrm>
            <a:off x="10332720" y="4069080"/>
            <a:ext cx="1170432" cy="274320"/>
          </a:xfrm>
          <a:prstGeom prst="rect">
            <a:avLst/>
          </a:prstGeom>
          <a:noFill/>
        </p:spPr>
        <p:txBody>
          <a:bodyPr wrap="square" lIns="0" tIns="0" rIns="0" bIns="0" anchor="t"/>
          <a:lstStyle/>
          <a:p>
            <a:pPr algn="l"/>
            <a:r>
              <a:rPr sz="1100" b="0">
                <a:solidFill>
                  <a:srgbClr val="0A0A0A"/>
                </a:solidFill>
                <a:latin typeface="Segoe UI Semibold"/>
              </a:rPr>
              <a:t>Month 2</a:t>
            </a:r>
          </a:p>
        </p:txBody>
      </p:sp>
      <p:sp>
        <p:nvSpPr>
          <p:cNvPr id="36" name="Rectangle 35"/>
          <p:cNvSpPr/>
          <p:nvPr/>
        </p:nvSpPr>
        <p:spPr>
          <a:xfrm>
            <a:off x="685800" y="4626864"/>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04088" y="4837176"/>
            <a:ext cx="128016" cy="128016"/>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1832" y="4745736"/>
            <a:ext cx="1554480" cy="548640"/>
          </a:xfrm>
          <a:prstGeom prst="rect">
            <a:avLst/>
          </a:prstGeom>
          <a:noFill/>
        </p:spPr>
        <p:txBody>
          <a:bodyPr wrap="square" lIns="0" tIns="0" rIns="0" bIns="0" anchor="t"/>
          <a:lstStyle/>
          <a:p>
            <a:pPr algn="l">
              <a:lnSpc>
                <a:spcPct val="105000"/>
              </a:lnSpc>
            </a:pPr>
            <a:r>
              <a:rPr sz="1300" b="0">
                <a:solidFill>
                  <a:srgbClr val="0A0A0A"/>
                </a:solidFill>
                <a:latin typeface="Segoe UI Semibold"/>
              </a:rPr>
              <a:t>Hospital sign-off</a:t>
            </a:r>
          </a:p>
        </p:txBody>
      </p:sp>
      <p:sp>
        <p:nvSpPr>
          <p:cNvPr id="39" name="TextBox 38"/>
          <p:cNvSpPr txBox="1"/>
          <p:nvPr/>
        </p:nvSpPr>
        <p:spPr>
          <a:xfrm>
            <a:off x="2606040" y="4736592"/>
            <a:ext cx="5486400" cy="640080"/>
          </a:xfrm>
          <a:prstGeom prst="rect">
            <a:avLst/>
          </a:prstGeom>
          <a:noFill/>
        </p:spPr>
        <p:txBody>
          <a:bodyPr wrap="square" lIns="0" tIns="0" rIns="0" bIns="0" anchor="t"/>
          <a:lstStyle/>
          <a:p>
            <a:pPr algn="l">
              <a:lnSpc>
                <a:spcPct val="112000"/>
              </a:lnSpc>
            </a:pPr>
            <a:r>
              <a:rPr sz="1050" b="0">
                <a:solidFill>
                  <a:srgbClr val="6E6E73"/>
                </a:solidFill>
                <a:latin typeface="Segoe UI"/>
              </a:rPr>
              <a:t>IT security, hygiene and cleaning plan, fire and escape routes, works council.</a:t>
            </a:r>
          </a:p>
        </p:txBody>
      </p:sp>
      <p:sp>
        <p:nvSpPr>
          <p:cNvPr id="40" name="TextBox 39"/>
          <p:cNvSpPr txBox="1"/>
          <p:nvPr/>
        </p:nvSpPr>
        <p:spPr>
          <a:xfrm>
            <a:off x="8229600" y="4745736"/>
            <a:ext cx="2011680" cy="548640"/>
          </a:xfrm>
          <a:prstGeom prst="rect">
            <a:avLst/>
          </a:prstGeom>
          <a:noFill/>
        </p:spPr>
        <p:txBody>
          <a:bodyPr wrap="square" lIns="0" tIns="0" rIns="0" bIns="0" anchor="t"/>
          <a:lstStyle/>
          <a:p>
            <a:pPr algn="l">
              <a:lnSpc>
                <a:spcPct val="110000"/>
              </a:lnSpc>
            </a:pPr>
            <a:r>
              <a:rPr sz="1100" b="0">
                <a:solidFill>
                  <a:srgbClr val="0A0A0A"/>
                </a:solidFill>
                <a:latin typeface="Segoe UI"/>
              </a:rPr>
              <a:t>Hospital IT, hygiene, works council</a:t>
            </a:r>
          </a:p>
        </p:txBody>
      </p:sp>
      <p:sp>
        <p:nvSpPr>
          <p:cNvPr id="41" name="TextBox 40"/>
          <p:cNvSpPr txBox="1"/>
          <p:nvPr/>
        </p:nvSpPr>
        <p:spPr>
          <a:xfrm>
            <a:off x="10332720" y="4745736"/>
            <a:ext cx="1170432" cy="274320"/>
          </a:xfrm>
          <a:prstGeom prst="rect">
            <a:avLst/>
          </a:prstGeom>
          <a:noFill/>
        </p:spPr>
        <p:txBody>
          <a:bodyPr wrap="square" lIns="0" tIns="0" rIns="0" bIns="0" anchor="t"/>
          <a:lstStyle/>
          <a:p>
            <a:pPr algn="l"/>
            <a:r>
              <a:rPr sz="1100" b="0">
                <a:solidFill>
                  <a:srgbClr val="0A0A0A"/>
                </a:solidFill>
                <a:latin typeface="Segoe UI Semibold"/>
              </a:rPr>
              <a:t>Month 2–3</a:t>
            </a:r>
          </a:p>
        </p:txBody>
      </p:sp>
      <p:sp>
        <p:nvSpPr>
          <p:cNvPr id="42" name="Rectangle 41"/>
          <p:cNvSpPr/>
          <p:nvPr/>
        </p:nvSpPr>
        <p:spPr>
          <a:xfrm>
            <a:off x="685800" y="5303520"/>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04088" y="5513832"/>
            <a:ext cx="128016" cy="128016"/>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41832" y="5422392"/>
            <a:ext cx="1554480" cy="548640"/>
          </a:xfrm>
          <a:prstGeom prst="rect">
            <a:avLst/>
          </a:prstGeom>
          <a:noFill/>
        </p:spPr>
        <p:txBody>
          <a:bodyPr wrap="square" lIns="0" tIns="0" rIns="0" bIns="0" anchor="t"/>
          <a:lstStyle/>
          <a:p>
            <a:pPr algn="l">
              <a:lnSpc>
                <a:spcPct val="105000"/>
              </a:lnSpc>
            </a:pPr>
            <a:r>
              <a:rPr sz="1300" b="0">
                <a:solidFill>
                  <a:srgbClr val="0A0A0A"/>
                </a:solidFill>
                <a:latin typeface="Segoe UI Semibold"/>
              </a:rPr>
              <a:t>Pilot contract</a:t>
            </a:r>
          </a:p>
        </p:txBody>
      </p:sp>
      <p:sp>
        <p:nvSpPr>
          <p:cNvPr id="45" name="TextBox 44"/>
          <p:cNvSpPr txBox="1"/>
          <p:nvPr/>
        </p:nvSpPr>
        <p:spPr>
          <a:xfrm>
            <a:off x="2606040" y="5413248"/>
            <a:ext cx="5486400" cy="640080"/>
          </a:xfrm>
          <a:prstGeom prst="rect">
            <a:avLst/>
          </a:prstGeom>
          <a:noFill/>
        </p:spPr>
        <p:txBody>
          <a:bodyPr wrap="square" lIns="0" tIns="0" rIns="0" bIns="0" anchor="t"/>
          <a:lstStyle/>
          <a:p>
            <a:pPr algn="l">
              <a:lnSpc>
                <a:spcPct val="112000"/>
              </a:lnSpc>
            </a:pPr>
            <a:r>
              <a:rPr sz="1050" b="0">
                <a:solidFill>
                  <a:srgbClr val="6E6E73"/>
                </a:solidFill>
                <a:latin typeface="Segoe UI"/>
              </a:rPr>
              <a:t>Pilot agreement, liability insurance, staff training, information for patients.</a:t>
            </a:r>
          </a:p>
        </p:txBody>
      </p:sp>
      <p:sp>
        <p:nvSpPr>
          <p:cNvPr id="46" name="TextBox 45"/>
          <p:cNvSpPr txBox="1"/>
          <p:nvPr/>
        </p:nvSpPr>
        <p:spPr>
          <a:xfrm>
            <a:off x="8229600" y="5422392"/>
            <a:ext cx="2011680" cy="548640"/>
          </a:xfrm>
          <a:prstGeom prst="rect">
            <a:avLst/>
          </a:prstGeom>
          <a:noFill/>
        </p:spPr>
        <p:txBody>
          <a:bodyPr wrap="square" lIns="0" tIns="0" rIns="0" bIns="0" anchor="t"/>
          <a:lstStyle/>
          <a:p>
            <a:pPr algn="l">
              <a:lnSpc>
                <a:spcPct val="110000"/>
              </a:lnSpc>
            </a:pPr>
            <a:r>
              <a:rPr sz="1100" b="0">
                <a:solidFill>
                  <a:srgbClr val="0A0A0A"/>
                </a:solidFill>
                <a:latin typeface="Segoe UI"/>
              </a:rPr>
              <a:t>Hospital management</a:t>
            </a:r>
          </a:p>
        </p:txBody>
      </p:sp>
      <p:sp>
        <p:nvSpPr>
          <p:cNvPr id="47" name="TextBox 46"/>
          <p:cNvSpPr txBox="1"/>
          <p:nvPr/>
        </p:nvSpPr>
        <p:spPr>
          <a:xfrm>
            <a:off x="10332720" y="5422392"/>
            <a:ext cx="1170432" cy="274320"/>
          </a:xfrm>
          <a:prstGeom prst="rect">
            <a:avLst/>
          </a:prstGeom>
          <a:noFill/>
        </p:spPr>
        <p:txBody>
          <a:bodyPr wrap="square" lIns="0" tIns="0" rIns="0" bIns="0" anchor="t"/>
          <a:lstStyle/>
          <a:p>
            <a:pPr algn="l"/>
            <a:r>
              <a:rPr sz="1100" b="0">
                <a:solidFill>
                  <a:srgbClr val="0A0A0A"/>
                </a:solidFill>
                <a:latin typeface="Segoe UI Semibold"/>
              </a:rPr>
              <a:t>Month 3</a:t>
            </a:r>
          </a:p>
        </p:txBody>
      </p:sp>
      <p:sp>
        <p:nvSpPr>
          <p:cNvPr id="48" name="Rectangle 47"/>
          <p:cNvSpPr/>
          <p:nvPr/>
        </p:nvSpPr>
        <p:spPr>
          <a:xfrm>
            <a:off x="685800" y="5980176"/>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5800" y="6089904"/>
            <a:ext cx="10820095" cy="457200"/>
          </a:xfrm>
          <a:prstGeom prst="rect">
            <a:avLst/>
          </a:prstGeom>
          <a:noFill/>
        </p:spPr>
        <p:txBody>
          <a:bodyPr wrap="square" lIns="0" tIns="0" rIns="0" bIns="0" anchor="t"/>
          <a:lstStyle/>
          <a:p>
            <a:pPr algn="l">
              <a:lnSpc>
                <a:spcPct val="115000"/>
              </a:lnSpc>
            </a:pPr>
            <a:r>
              <a:rPr sz="1050" b="0">
                <a:solidFill>
                  <a:srgbClr val="8E8E93"/>
                </a:solidFill>
                <a:latin typeface="Segoe UI"/>
              </a:rPr>
              <a:t>For a guide robot there is no single “approval”: it is these checks, most of them with the hospital. To be confirmed by a regulatory expert before the pilot.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6"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7" name="TextBox 6"/>
          <p:cNvSpPr txBox="1"/>
          <p:nvPr/>
        </p:nvSpPr>
        <p:spPr>
          <a:xfrm>
            <a:off x="685800" y="914400"/>
            <a:ext cx="10515600" cy="548640"/>
          </a:xfrm>
          <a:prstGeom prst="rect">
            <a:avLst/>
          </a:prstGeom>
          <a:noFill/>
        </p:spPr>
        <p:txBody>
          <a:bodyPr wrap="square" lIns="0" tIns="0" rIns="0" bIns="0" anchor="t"/>
          <a:lstStyle/>
          <a:p>
            <a:pPr algn="l">
              <a:lnSpc>
                <a:spcPct val="102000"/>
              </a:lnSpc>
            </a:pPr>
            <a:r>
              <a:rPr sz="2600" b="0">
                <a:solidFill>
                  <a:srgbClr val="0A0A0A"/>
                </a:solidFill>
                <a:latin typeface="Segoe UI"/>
              </a:rPr>
              <a:t>Backup. </a:t>
            </a:r>
            <a:r>
              <a:rPr sz="2600" b="0">
                <a:solidFill>
                  <a:srgbClr val="8E8E93"/>
                </a:solidFill>
                <a:latin typeface="Segoe UI"/>
              </a:rPr>
              <a:t>Five challenges, five answers.</a:t>
            </a:r>
          </a:p>
        </p:txBody>
      </p:sp>
      <p:sp>
        <p:nvSpPr>
          <p:cNvPr id="8" name="TextBox 7"/>
          <p:cNvSpPr txBox="1"/>
          <p:nvPr/>
        </p:nvSpPr>
        <p:spPr>
          <a:xfrm>
            <a:off x="1600200" y="1627632"/>
            <a:ext cx="3657600" cy="274320"/>
          </a:xfrm>
          <a:prstGeom prst="rect">
            <a:avLst/>
          </a:prstGeom>
          <a:noFill/>
        </p:spPr>
        <p:txBody>
          <a:bodyPr wrap="square" lIns="0" tIns="0" rIns="0" bIns="0" anchor="t"/>
          <a:lstStyle/>
          <a:p>
            <a:pPr algn="l"/>
            <a:r>
              <a:rPr sz="1050" b="0">
                <a:solidFill>
                  <a:srgbClr val="8E8E93"/>
                </a:solidFill>
                <a:latin typeface="Segoe UI Semibold"/>
              </a:rPr>
              <a:t>Challenge</a:t>
            </a:r>
          </a:p>
        </p:txBody>
      </p:sp>
      <p:sp>
        <p:nvSpPr>
          <p:cNvPr id="9" name="TextBox 8"/>
          <p:cNvSpPr txBox="1"/>
          <p:nvPr/>
        </p:nvSpPr>
        <p:spPr>
          <a:xfrm>
            <a:off x="6629400" y="1627632"/>
            <a:ext cx="4572000" cy="274320"/>
          </a:xfrm>
          <a:prstGeom prst="rect">
            <a:avLst/>
          </a:prstGeom>
          <a:noFill/>
        </p:spPr>
        <p:txBody>
          <a:bodyPr wrap="square" lIns="0" tIns="0" rIns="0" bIns="0" anchor="t"/>
          <a:lstStyle/>
          <a:p>
            <a:pPr algn="l"/>
            <a:r>
              <a:rPr sz="1050" b="0">
                <a:solidFill>
                  <a:srgbClr val="8E8E93"/>
                </a:solidFill>
                <a:latin typeface="Segoe UI Semibold"/>
              </a:rPr>
              <a:t>How we solve it</a:t>
            </a:r>
          </a:p>
        </p:txBody>
      </p:sp>
      <p:sp>
        <p:nvSpPr>
          <p:cNvPr id="10" name="Rectangle 9"/>
          <p:cNvSpPr/>
          <p:nvPr/>
        </p:nvSpPr>
        <p:spPr>
          <a:xfrm>
            <a:off x="685800" y="1938528"/>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85800" y="2057400"/>
            <a:ext cx="585216" cy="585216"/>
          </a:xfrm>
          <a:prstGeom prst="roundRect">
            <a:avLst>
              <a:gd name="adj" fmla="val 2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c_cert.png"/>
          <p:cNvPicPr>
            <a:picLocks noChangeAspect="1"/>
          </p:cNvPicPr>
          <p:nvPr/>
        </p:nvPicPr>
        <p:blipFill>
          <a:blip r:embed="rId4"/>
          <a:stretch>
            <a:fillRect/>
          </a:stretch>
        </p:blipFill>
        <p:spPr>
          <a:xfrm>
            <a:off x="804672" y="2176272"/>
            <a:ext cx="347472" cy="347472"/>
          </a:xfrm>
          <a:prstGeom prst="rect">
            <a:avLst/>
          </a:prstGeom>
        </p:spPr>
      </p:pic>
      <p:sp>
        <p:nvSpPr>
          <p:cNvPr id="13" name="TextBox 12"/>
          <p:cNvSpPr txBox="1"/>
          <p:nvPr/>
        </p:nvSpPr>
        <p:spPr>
          <a:xfrm>
            <a:off x="1600200" y="2048256"/>
            <a:ext cx="3931920" cy="329184"/>
          </a:xfrm>
          <a:prstGeom prst="rect">
            <a:avLst/>
          </a:prstGeom>
          <a:noFill/>
        </p:spPr>
        <p:txBody>
          <a:bodyPr wrap="square" lIns="0" tIns="0" rIns="0" bIns="0" anchor="t"/>
          <a:lstStyle/>
          <a:p>
            <a:pPr algn="l"/>
            <a:r>
              <a:rPr sz="1700" b="0">
                <a:solidFill>
                  <a:srgbClr val="0A0A0A"/>
                </a:solidFill>
                <a:latin typeface="Segoe UI Semibold"/>
              </a:rPr>
              <a:t>Approval</a:t>
            </a:r>
          </a:p>
        </p:txBody>
      </p:sp>
      <p:sp>
        <p:nvSpPr>
          <p:cNvPr id="14" name="TextBox 13"/>
          <p:cNvSpPr txBox="1"/>
          <p:nvPr/>
        </p:nvSpPr>
        <p:spPr>
          <a:xfrm>
            <a:off x="1600200" y="2377440"/>
            <a:ext cx="3931920" cy="274320"/>
          </a:xfrm>
          <a:prstGeom prst="rect">
            <a:avLst/>
          </a:prstGeom>
          <a:noFill/>
        </p:spPr>
        <p:txBody>
          <a:bodyPr wrap="square" lIns="0" tIns="0" rIns="0" bIns="0" anchor="t"/>
          <a:lstStyle/>
          <a:p>
            <a:pPr algn="l"/>
            <a:r>
              <a:rPr sz="1250" b="0">
                <a:solidFill>
                  <a:srgbClr val="E5484D"/>
                </a:solidFill>
                <a:latin typeface="Segoe UI"/>
              </a:rPr>
              <a:t>Medical device? Safety? AI Act?</a:t>
            </a:r>
          </a:p>
        </p:txBody>
      </p:sp>
      <p:sp>
        <p:nvSpPr>
          <p:cNvPr id="15" name="TextBox 14"/>
          <p:cNvSpPr txBox="1"/>
          <p:nvPr/>
        </p:nvSpPr>
        <p:spPr>
          <a:xfrm>
            <a:off x="5532120" y="2093976"/>
            <a:ext cx="457200" cy="457200"/>
          </a:xfrm>
          <a:prstGeom prst="rect">
            <a:avLst/>
          </a:prstGeom>
          <a:noFill/>
        </p:spPr>
        <p:txBody>
          <a:bodyPr wrap="square" lIns="0" tIns="0" rIns="0" bIns="0" anchor="t"/>
          <a:lstStyle/>
          <a:p>
            <a:pPr algn="l"/>
            <a:r>
              <a:rPr sz="2400" b="0">
                <a:solidFill>
                  <a:srgbClr val="C7C7CC"/>
                </a:solidFill>
                <a:latin typeface="Segoe UI"/>
              </a:rPr>
              <a:t>→</a:t>
            </a:r>
          </a:p>
        </p:txBody>
      </p:sp>
      <p:sp>
        <p:nvSpPr>
          <p:cNvPr id="16" name="Oval 15"/>
          <p:cNvSpPr/>
          <p:nvPr/>
        </p:nvSpPr>
        <p:spPr>
          <a:xfrm>
            <a:off x="6190488" y="2212848"/>
            <a:ext cx="274320" cy="274320"/>
          </a:xfrm>
          <a:prstGeom prst="ellipse">
            <a:avLst/>
          </a:prstGeom>
          <a:solidFill>
            <a:srgbClr val="2F9E6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17" name="TextBox 16"/>
          <p:cNvSpPr txBox="1"/>
          <p:nvPr/>
        </p:nvSpPr>
        <p:spPr>
          <a:xfrm>
            <a:off x="6629400" y="2048256"/>
            <a:ext cx="4876495" cy="603504"/>
          </a:xfrm>
          <a:prstGeom prst="rect">
            <a:avLst/>
          </a:prstGeom>
          <a:noFill/>
        </p:spPr>
        <p:txBody>
          <a:bodyPr wrap="square" lIns="0" tIns="0" rIns="0" bIns="0" anchor="ctr"/>
          <a:lstStyle/>
          <a:p>
            <a:pPr algn="l">
              <a:lnSpc>
                <a:spcPct val="105000"/>
              </a:lnSpc>
            </a:pPr>
            <a:r>
              <a:rPr sz="1500" b="0">
                <a:solidFill>
                  <a:srgbClr val="2F9E6E"/>
                </a:solidFill>
                <a:latin typeface="Segoe UI Semibold"/>
              </a:rPr>
              <a:t>Guide only, no diagnosis. 3-month expert check.</a:t>
            </a:r>
          </a:p>
        </p:txBody>
      </p:sp>
      <p:sp>
        <p:nvSpPr>
          <p:cNvPr id="18" name="Rectangle 17"/>
          <p:cNvSpPr/>
          <p:nvPr/>
        </p:nvSpPr>
        <p:spPr>
          <a:xfrm>
            <a:off x="685800" y="2761488"/>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85800" y="2880360"/>
            <a:ext cx="585216" cy="585216"/>
          </a:xfrm>
          <a:prstGeom prst="roundRect">
            <a:avLst>
              <a:gd name="adj" fmla="val 2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c_lock.png"/>
          <p:cNvPicPr>
            <a:picLocks noChangeAspect="1"/>
          </p:cNvPicPr>
          <p:nvPr/>
        </p:nvPicPr>
        <p:blipFill>
          <a:blip r:embed="rId5"/>
          <a:stretch>
            <a:fillRect/>
          </a:stretch>
        </p:blipFill>
        <p:spPr>
          <a:xfrm>
            <a:off x="804672" y="2999232"/>
            <a:ext cx="347472" cy="347472"/>
          </a:xfrm>
          <a:prstGeom prst="rect">
            <a:avLst/>
          </a:prstGeom>
        </p:spPr>
      </p:pic>
      <p:sp>
        <p:nvSpPr>
          <p:cNvPr id="21" name="TextBox 20"/>
          <p:cNvSpPr txBox="1"/>
          <p:nvPr/>
        </p:nvSpPr>
        <p:spPr>
          <a:xfrm>
            <a:off x="1600200" y="2871216"/>
            <a:ext cx="3931920" cy="329184"/>
          </a:xfrm>
          <a:prstGeom prst="rect">
            <a:avLst/>
          </a:prstGeom>
          <a:noFill/>
        </p:spPr>
        <p:txBody>
          <a:bodyPr wrap="square" lIns="0" tIns="0" rIns="0" bIns="0" anchor="t"/>
          <a:lstStyle/>
          <a:p>
            <a:pPr algn="l"/>
            <a:r>
              <a:rPr sz="1700" b="0">
                <a:solidFill>
                  <a:srgbClr val="0A0A0A"/>
                </a:solidFill>
                <a:latin typeface="Segoe UI Semibold"/>
              </a:rPr>
              <a:t>Privacy</a:t>
            </a:r>
          </a:p>
        </p:txBody>
      </p:sp>
      <p:sp>
        <p:nvSpPr>
          <p:cNvPr id="22" name="TextBox 21"/>
          <p:cNvSpPr txBox="1"/>
          <p:nvPr/>
        </p:nvSpPr>
        <p:spPr>
          <a:xfrm>
            <a:off x="1600200" y="3200400"/>
            <a:ext cx="3931920" cy="274320"/>
          </a:xfrm>
          <a:prstGeom prst="rect">
            <a:avLst/>
          </a:prstGeom>
          <a:noFill/>
        </p:spPr>
        <p:txBody>
          <a:bodyPr wrap="square" lIns="0" tIns="0" rIns="0" bIns="0" anchor="t"/>
          <a:lstStyle/>
          <a:p>
            <a:pPr algn="l"/>
            <a:r>
              <a:rPr sz="1250" b="0">
                <a:solidFill>
                  <a:srgbClr val="E5484D"/>
                </a:solidFill>
                <a:latin typeface="Segoe UI"/>
              </a:rPr>
              <a:t>Cameras in a hospital worry people.</a:t>
            </a:r>
          </a:p>
        </p:txBody>
      </p:sp>
      <p:sp>
        <p:nvSpPr>
          <p:cNvPr id="23" name="TextBox 22"/>
          <p:cNvSpPr txBox="1"/>
          <p:nvPr/>
        </p:nvSpPr>
        <p:spPr>
          <a:xfrm>
            <a:off x="5532120" y="2916936"/>
            <a:ext cx="457200" cy="457200"/>
          </a:xfrm>
          <a:prstGeom prst="rect">
            <a:avLst/>
          </a:prstGeom>
          <a:noFill/>
        </p:spPr>
        <p:txBody>
          <a:bodyPr wrap="square" lIns="0" tIns="0" rIns="0" bIns="0" anchor="t"/>
          <a:lstStyle/>
          <a:p>
            <a:pPr algn="l"/>
            <a:r>
              <a:rPr sz="2400" b="0">
                <a:solidFill>
                  <a:srgbClr val="C7C7CC"/>
                </a:solidFill>
                <a:latin typeface="Segoe UI"/>
              </a:rPr>
              <a:t>→</a:t>
            </a:r>
          </a:p>
        </p:txBody>
      </p:sp>
      <p:sp>
        <p:nvSpPr>
          <p:cNvPr id="24" name="Oval 23"/>
          <p:cNvSpPr/>
          <p:nvPr/>
        </p:nvSpPr>
        <p:spPr>
          <a:xfrm>
            <a:off x="6190488" y="3035808"/>
            <a:ext cx="274320" cy="274320"/>
          </a:xfrm>
          <a:prstGeom prst="ellipse">
            <a:avLst/>
          </a:prstGeom>
          <a:solidFill>
            <a:srgbClr val="2F9E6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25" name="TextBox 24"/>
          <p:cNvSpPr txBox="1"/>
          <p:nvPr/>
        </p:nvSpPr>
        <p:spPr>
          <a:xfrm>
            <a:off x="6629400" y="2871216"/>
            <a:ext cx="4876495" cy="603504"/>
          </a:xfrm>
          <a:prstGeom prst="rect">
            <a:avLst/>
          </a:prstGeom>
          <a:noFill/>
        </p:spPr>
        <p:txBody>
          <a:bodyPr wrap="square" lIns="0" tIns="0" rIns="0" bIns="0" anchor="ctr"/>
          <a:lstStyle/>
          <a:p>
            <a:pPr algn="l">
              <a:lnSpc>
                <a:spcPct val="105000"/>
              </a:lnSpc>
            </a:pPr>
            <a:r>
              <a:rPr sz="1500" b="0">
                <a:solidFill>
                  <a:srgbClr val="2F9E6E"/>
                </a:solidFill>
                <a:latin typeface="Segoe UI Semibold"/>
              </a:rPr>
              <a:t>No names, no clinical data, no video stored.</a:t>
            </a:r>
          </a:p>
        </p:txBody>
      </p:sp>
      <p:sp>
        <p:nvSpPr>
          <p:cNvPr id="26" name="Rectangle 25"/>
          <p:cNvSpPr/>
          <p:nvPr/>
        </p:nvSpPr>
        <p:spPr>
          <a:xfrm>
            <a:off x="685800" y="3584448"/>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85800" y="3703320"/>
            <a:ext cx="585216" cy="585216"/>
          </a:xfrm>
          <a:prstGeom prst="roundRect">
            <a:avLst>
              <a:gd name="adj" fmla="val 2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ic_people.png"/>
          <p:cNvPicPr>
            <a:picLocks noChangeAspect="1"/>
          </p:cNvPicPr>
          <p:nvPr/>
        </p:nvPicPr>
        <p:blipFill>
          <a:blip r:embed="rId6"/>
          <a:stretch>
            <a:fillRect/>
          </a:stretch>
        </p:blipFill>
        <p:spPr>
          <a:xfrm>
            <a:off x="804672" y="3822191"/>
            <a:ext cx="347472" cy="347472"/>
          </a:xfrm>
          <a:prstGeom prst="rect">
            <a:avLst/>
          </a:prstGeom>
        </p:spPr>
      </p:pic>
      <p:sp>
        <p:nvSpPr>
          <p:cNvPr id="29" name="TextBox 28"/>
          <p:cNvSpPr txBox="1"/>
          <p:nvPr/>
        </p:nvSpPr>
        <p:spPr>
          <a:xfrm>
            <a:off x="1600200" y="3694176"/>
            <a:ext cx="3931920" cy="329184"/>
          </a:xfrm>
          <a:prstGeom prst="rect">
            <a:avLst/>
          </a:prstGeom>
          <a:noFill/>
        </p:spPr>
        <p:txBody>
          <a:bodyPr wrap="square" lIns="0" tIns="0" rIns="0" bIns="0" anchor="t"/>
          <a:lstStyle/>
          <a:p>
            <a:pPr algn="l"/>
            <a:r>
              <a:rPr sz="1700" b="0">
                <a:solidFill>
                  <a:srgbClr val="0A0A0A"/>
                </a:solidFill>
                <a:latin typeface="Segoe UI Semibold"/>
              </a:rPr>
              <a:t>Busy corridors</a:t>
            </a:r>
          </a:p>
        </p:txBody>
      </p:sp>
      <p:sp>
        <p:nvSpPr>
          <p:cNvPr id="30" name="TextBox 29"/>
          <p:cNvSpPr txBox="1"/>
          <p:nvPr/>
        </p:nvSpPr>
        <p:spPr>
          <a:xfrm>
            <a:off x="1600200" y="4023360"/>
            <a:ext cx="3931920" cy="274320"/>
          </a:xfrm>
          <a:prstGeom prst="rect">
            <a:avLst/>
          </a:prstGeom>
          <a:noFill/>
        </p:spPr>
        <p:txBody>
          <a:bodyPr wrap="square" lIns="0" tIns="0" rIns="0" bIns="0" anchor="t"/>
          <a:lstStyle/>
          <a:p>
            <a:pPr algn="l"/>
            <a:r>
              <a:rPr sz="1250" b="0">
                <a:solidFill>
                  <a:srgbClr val="E5484D"/>
                </a:solidFill>
                <a:latin typeface="Segoe UI"/>
              </a:rPr>
              <a:t>Beds and crowds: robots get stuck.</a:t>
            </a:r>
          </a:p>
        </p:txBody>
      </p:sp>
      <p:sp>
        <p:nvSpPr>
          <p:cNvPr id="31" name="TextBox 30"/>
          <p:cNvSpPr txBox="1"/>
          <p:nvPr/>
        </p:nvSpPr>
        <p:spPr>
          <a:xfrm>
            <a:off x="5532120" y="3739896"/>
            <a:ext cx="457200" cy="457200"/>
          </a:xfrm>
          <a:prstGeom prst="rect">
            <a:avLst/>
          </a:prstGeom>
          <a:noFill/>
        </p:spPr>
        <p:txBody>
          <a:bodyPr wrap="square" lIns="0" tIns="0" rIns="0" bIns="0" anchor="t"/>
          <a:lstStyle/>
          <a:p>
            <a:pPr algn="l"/>
            <a:r>
              <a:rPr sz="2400" b="0">
                <a:solidFill>
                  <a:srgbClr val="C7C7CC"/>
                </a:solidFill>
                <a:latin typeface="Segoe UI"/>
              </a:rPr>
              <a:t>→</a:t>
            </a:r>
          </a:p>
        </p:txBody>
      </p:sp>
      <p:sp>
        <p:nvSpPr>
          <p:cNvPr id="32" name="Oval 31"/>
          <p:cNvSpPr/>
          <p:nvPr/>
        </p:nvSpPr>
        <p:spPr>
          <a:xfrm>
            <a:off x="6190488" y="3858768"/>
            <a:ext cx="274320" cy="274320"/>
          </a:xfrm>
          <a:prstGeom prst="ellipse">
            <a:avLst/>
          </a:prstGeom>
          <a:solidFill>
            <a:srgbClr val="2F9E6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33" name="TextBox 32"/>
          <p:cNvSpPr txBox="1"/>
          <p:nvPr/>
        </p:nvSpPr>
        <p:spPr>
          <a:xfrm>
            <a:off x="6629400" y="3694176"/>
            <a:ext cx="4876495" cy="603504"/>
          </a:xfrm>
          <a:prstGeom prst="rect">
            <a:avLst/>
          </a:prstGeom>
          <a:noFill/>
        </p:spPr>
        <p:txBody>
          <a:bodyPr wrap="square" lIns="0" tIns="0" rIns="0" bIns="0" anchor="ctr"/>
          <a:lstStyle/>
          <a:p>
            <a:pPr algn="l">
              <a:lnSpc>
                <a:spcPct val="105000"/>
              </a:lnSpc>
            </a:pPr>
            <a:r>
              <a:rPr sz="1500" b="0">
                <a:solidFill>
                  <a:srgbClr val="2F9E6E"/>
                </a:solidFill>
                <a:latin typeface="Segoe UI Semibold"/>
              </a:rPr>
              <a:t>Slow, gives way, takes a detour, calls staff.</a:t>
            </a:r>
          </a:p>
        </p:txBody>
      </p:sp>
      <p:sp>
        <p:nvSpPr>
          <p:cNvPr id="34" name="Rectangle 33"/>
          <p:cNvSpPr/>
          <p:nvPr/>
        </p:nvSpPr>
        <p:spPr>
          <a:xfrm>
            <a:off x="685800" y="4407408"/>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85800" y="4526280"/>
            <a:ext cx="585216" cy="585216"/>
          </a:xfrm>
          <a:prstGeom prst="roundRect">
            <a:avLst>
              <a:gd name="adj" fmla="val 2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ic_smile.png"/>
          <p:cNvPicPr>
            <a:picLocks noChangeAspect="1"/>
          </p:cNvPicPr>
          <p:nvPr/>
        </p:nvPicPr>
        <p:blipFill>
          <a:blip r:embed="rId7"/>
          <a:stretch>
            <a:fillRect/>
          </a:stretch>
        </p:blipFill>
        <p:spPr>
          <a:xfrm>
            <a:off x="804672" y="4645152"/>
            <a:ext cx="347472" cy="347472"/>
          </a:xfrm>
          <a:prstGeom prst="rect">
            <a:avLst/>
          </a:prstGeom>
        </p:spPr>
      </p:pic>
      <p:sp>
        <p:nvSpPr>
          <p:cNvPr id="37" name="TextBox 36"/>
          <p:cNvSpPr txBox="1"/>
          <p:nvPr/>
        </p:nvSpPr>
        <p:spPr>
          <a:xfrm>
            <a:off x="1600200" y="4517136"/>
            <a:ext cx="3931920" cy="329184"/>
          </a:xfrm>
          <a:prstGeom prst="rect">
            <a:avLst/>
          </a:prstGeom>
          <a:noFill/>
        </p:spPr>
        <p:txBody>
          <a:bodyPr wrap="square" lIns="0" tIns="0" rIns="0" bIns="0" anchor="t"/>
          <a:lstStyle/>
          <a:p>
            <a:pPr algn="l"/>
            <a:r>
              <a:rPr sz="1700" b="0">
                <a:solidFill>
                  <a:srgbClr val="0A0A0A"/>
                </a:solidFill>
                <a:latin typeface="Segoe UI Semibold"/>
              </a:rPr>
              <a:t>Acceptance</a:t>
            </a:r>
          </a:p>
        </p:txBody>
      </p:sp>
      <p:sp>
        <p:nvSpPr>
          <p:cNvPr id="38" name="TextBox 37"/>
          <p:cNvSpPr txBox="1"/>
          <p:nvPr/>
        </p:nvSpPr>
        <p:spPr>
          <a:xfrm>
            <a:off x="1600200" y="4846320"/>
            <a:ext cx="3931920" cy="274320"/>
          </a:xfrm>
          <a:prstGeom prst="rect">
            <a:avLst/>
          </a:prstGeom>
          <a:noFill/>
        </p:spPr>
        <p:txBody>
          <a:bodyPr wrap="square" lIns="0" tIns="0" rIns="0" bIns="0" anchor="t"/>
          <a:lstStyle/>
          <a:p>
            <a:pPr algn="l"/>
            <a:r>
              <a:rPr sz="1250" b="0">
                <a:solidFill>
                  <a:srgbClr val="E5484D"/>
                </a:solidFill>
                <a:latin typeface="Segoe UI"/>
              </a:rPr>
              <a:t>Will older patients trust a robot?</a:t>
            </a:r>
          </a:p>
        </p:txBody>
      </p:sp>
      <p:sp>
        <p:nvSpPr>
          <p:cNvPr id="39" name="TextBox 38"/>
          <p:cNvSpPr txBox="1"/>
          <p:nvPr/>
        </p:nvSpPr>
        <p:spPr>
          <a:xfrm>
            <a:off x="5532120" y="4562856"/>
            <a:ext cx="457200" cy="457200"/>
          </a:xfrm>
          <a:prstGeom prst="rect">
            <a:avLst/>
          </a:prstGeom>
          <a:noFill/>
        </p:spPr>
        <p:txBody>
          <a:bodyPr wrap="square" lIns="0" tIns="0" rIns="0" bIns="0" anchor="t"/>
          <a:lstStyle/>
          <a:p>
            <a:pPr algn="l"/>
            <a:r>
              <a:rPr sz="2400" b="0">
                <a:solidFill>
                  <a:srgbClr val="C7C7CC"/>
                </a:solidFill>
                <a:latin typeface="Segoe UI"/>
              </a:rPr>
              <a:t>→</a:t>
            </a:r>
          </a:p>
        </p:txBody>
      </p:sp>
      <p:sp>
        <p:nvSpPr>
          <p:cNvPr id="40" name="Oval 39"/>
          <p:cNvSpPr/>
          <p:nvPr/>
        </p:nvSpPr>
        <p:spPr>
          <a:xfrm>
            <a:off x="6190488" y="4681728"/>
            <a:ext cx="274320" cy="274320"/>
          </a:xfrm>
          <a:prstGeom prst="ellipse">
            <a:avLst/>
          </a:prstGeom>
          <a:solidFill>
            <a:srgbClr val="2F9E6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41" name="TextBox 40"/>
          <p:cNvSpPr txBox="1"/>
          <p:nvPr/>
        </p:nvSpPr>
        <p:spPr>
          <a:xfrm>
            <a:off x="6629400" y="4517136"/>
            <a:ext cx="4876495" cy="603504"/>
          </a:xfrm>
          <a:prstGeom prst="rect">
            <a:avLst/>
          </a:prstGeom>
          <a:noFill/>
        </p:spPr>
        <p:txBody>
          <a:bodyPr wrap="square" lIns="0" tIns="0" rIns="0" bIns="0" anchor="ctr"/>
          <a:lstStyle/>
          <a:p>
            <a:pPr algn="l">
              <a:lnSpc>
                <a:spcPct val="105000"/>
              </a:lnSpc>
            </a:pPr>
            <a:r>
              <a:rPr sz="1500" b="0">
                <a:solidFill>
                  <a:srgbClr val="2F9E6E"/>
                </a:solidFill>
                <a:latin typeface="Segoe UI Semibold"/>
              </a:rPr>
              <a:t>People decide. OttO only walks.</a:t>
            </a:r>
          </a:p>
        </p:txBody>
      </p:sp>
      <p:sp>
        <p:nvSpPr>
          <p:cNvPr id="42" name="Rectangle 41"/>
          <p:cNvSpPr/>
          <p:nvPr/>
        </p:nvSpPr>
        <p:spPr>
          <a:xfrm>
            <a:off x="685800" y="5230368"/>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85800" y="5349240"/>
            <a:ext cx="585216" cy="585216"/>
          </a:xfrm>
          <a:prstGeom prst="roundRect">
            <a:avLst>
              <a:gd name="adj" fmla="val 2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ic_card.png"/>
          <p:cNvPicPr>
            <a:picLocks noChangeAspect="1"/>
          </p:cNvPicPr>
          <p:nvPr/>
        </p:nvPicPr>
        <p:blipFill>
          <a:blip r:embed="rId8"/>
          <a:stretch>
            <a:fillRect/>
          </a:stretch>
        </p:blipFill>
        <p:spPr>
          <a:xfrm>
            <a:off x="804672" y="5468112"/>
            <a:ext cx="347472" cy="347472"/>
          </a:xfrm>
          <a:prstGeom prst="rect">
            <a:avLst/>
          </a:prstGeom>
        </p:spPr>
      </p:pic>
      <p:sp>
        <p:nvSpPr>
          <p:cNvPr id="45" name="TextBox 44"/>
          <p:cNvSpPr txBox="1"/>
          <p:nvPr/>
        </p:nvSpPr>
        <p:spPr>
          <a:xfrm>
            <a:off x="1600200" y="5340096"/>
            <a:ext cx="3931920" cy="329184"/>
          </a:xfrm>
          <a:prstGeom prst="rect">
            <a:avLst/>
          </a:prstGeom>
          <a:noFill/>
        </p:spPr>
        <p:txBody>
          <a:bodyPr wrap="square" lIns="0" tIns="0" rIns="0" bIns="0" anchor="t"/>
          <a:lstStyle/>
          <a:p>
            <a:pPr algn="l"/>
            <a:r>
              <a:rPr sz="1700" b="0">
                <a:solidFill>
                  <a:srgbClr val="0A0A0A"/>
                </a:solidFill>
                <a:latin typeface="Segoe UI Semibold"/>
              </a:rPr>
              <a:t>Budgets</a:t>
            </a:r>
          </a:p>
        </p:txBody>
      </p:sp>
      <p:sp>
        <p:nvSpPr>
          <p:cNvPr id="46" name="TextBox 45"/>
          <p:cNvSpPr txBox="1"/>
          <p:nvPr/>
        </p:nvSpPr>
        <p:spPr>
          <a:xfrm>
            <a:off x="1600200" y="5669280"/>
            <a:ext cx="3931920" cy="274320"/>
          </a:xfrm>
          <a:prstGeom prst="rect">
            <a:avLst/>
          </a:prstGeom>
          <a:noFill/>
        </p:spPr>
        <p:txBody>
          <a:bodyPr wrap="square" lIns="0" tIns="0" rIns="0" bIns="0" anchor="t"/>
          <a:lstStyle/>
          <a:p>
            <a:pPr algn="l"/>
            <a:r>
              <a:rPr sz="1250" b="0">
                <a:solidFill>
                  <a:srgbClr val="E5484D"/>
                </a:solidFill>
                <a:latin typeface="Segoe UI"/>
              </a:rPr>
              <a:t>Tight budgets, slow purchasing.</a:t>
            </a:r>
          </a:p>
        </p:txBody>
      </p:sp>
      <p:sp>
        <p:nvSpPr>
          <p:cNvPr id="47" name="TextBox 46"/>
          <p:cNvSpPr txBox="1"/>
          <p:nvPr/>
        </p:nvSpPr>
        <p:spPr>
          <a:xfrm>
            <a:off x="5532120" y="5385816"/>
            <a:ext cx="457200" cy="457200"/>
          </a:xfrm>
          <a:prstGeom prst="rect">
            <a:avLst/>
          </a:prstGeom>
          <a:noFill/>
        </p:spPr>
        <p:txBody>
          <a:bodyPr wrap="square" lIns="0" tIns="0" rIns="0" bIns="0" anchor="t"/>
          <a:lstStyle/>
          <a:p>
            <a:pPr algn="l"/>
            <a:r>
              <a:rPr sz="2400" b="0">
                <a:solidFill>
                  <a:srgbClr val="C7C7CC"/>
                </a:solidFill>
                <a:latin typeface="Segoe UI"/>
              </a:rPr>
              <a:t>→</a:t>
            </a:r>
          </a:p>
        </p:txBody>
      </p:sp>
      <p:sp>
        <p:nvSpPr>
          <p:cNvPr id="48" name="Oval 47"/>
          <p:cNvSpPr/>
          <p:nvPr/>
        </p:nvSpPr>
        <p:spPr>
          <a:xfrm>
            <a:off x="6190488" y="5504688"/>
            <a:ext cx="274320" cy="274320"/>
          </a:xfrm>
          <a:prstGeom prst="ellipse">
            <a:avLst/>
          </a:prstGeom>
          <a:solidFill>
            <a:srgbClr val="2F9E6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a:solidFill>
                  <a:srgbClr val="FFFFFF"/>
                </a:solidFill>
                <a:latin typeface="Segoe UI Semibold"/>
              </a:rPr>
              <a:t>✓</a:t>
            </a:r>
          </a:p>
        </p:txBody>
      </p:sp>
      <p:sp>
        <p:nvSpPr>
          <p:cNvPr id="49" name="TextBox 48"/>
          <p:cNvSpPr txBox="1"/>
          <p:nvPr/>
        </p:nvSpPr>
        <p:spPr>
          <a:xfrm>
            <a:off x="6629400" y="5340096"/>
            <a:ext cx="4876495" cy="603504"/>
          </a:xfrm>
          <a:prstGeom prst="rect">
            <a:avLst/>
          </a:prstGeom>
          <a:noFill/>
        </p:spPr>
        <p:txBody>
          <a:bodyPr wrap="square" lIns="0" tIns="0" rIns="0" bIns="0" anchor="ctr"/>
          <a:lstStyle/>
          <a:p>
            <a:pPr algn="l">
              <a:lnSpc>
                <a:spcPct val="105000"/>
              </a:lnSpc>
            </a:pPr>
            <a:r>
              <a:rPr sz="1500" b="0">
                <a:solidFill>
                  <a:srgbClr val="2F9E6E"/>
                </a:solidFill>
                <a:latin typeface="Segoe UI Semibold"/>
              </a:rPr>
              <a:t>Pilot first, then a monthly fee. No upfront cost.</a:t>
            </a:r>
          </a:p>
        </p:txBody>
      </p:sp>
      <p:sp>
        <p:nvSpPr>
          <p:cNvPr id="50" name="Rectangle 49"/>
          <p:cNvSpPr/>
          <p:nvPr/>
        </p:nvSpPr>
        <p:spPr>
          <a:xfrm>
            <a:off x="685800" y="6053328"/>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navlogo" descr="aura_mark_ink.png"/>
          <p:cNvPicPr>
            <a:picLocks noChangeAspect="1"/>
          </p:cNvPicPr>
          <p:nvPr/>
        </p:nvPicPr>
        <p:blipFill>
          <a:blip r:embed="rId3"/>
          <a:stretch>
            <a:fillRect/>
          </a:stretch>
        </p:blipFill>
        <p:spPr>
          <a:xfrm>
            <a:off x="685800" y="384048"/>
            <a:ext cx="1254874" cy="182880"/>
          </a:xfrm>
          <a:prstGeom prst="rect">
            <a:avLst/>
          </a:prstGeom>
        </p:spPr>
      </p:pic>
      <p:sp>
        <p:nvSpPr>
          <p:cNvPr id="3" name="!!navRoadmap"/>
          <p:cNvSpPr txBox="1"/>
          <p:nvPr/>
        </p:nvSpPr>
        <p:spPr>
          <a:xfrm>
            <a:off x="10701223" y="347472"/>
            <a:ext cx="804672" cy="274320"/>
          </a:xfrm>
          <a:prstGeom prst="rect">
            <a:avLst/>
          </a:prstGeom>
          <a:noFill/>
        </p:spPr>
        <p:txBody>
          <a:bodyPr wrap="square" lIns="0" tIns="0" rIns="0" bIns="0" anchor="t"/>
          <a:lstStyle/>
          <a:p>
            <a:pPr algn="ctr"/>
            <a:r>
              <a:rPr sz="1100" b="0">
                <a:solidFill>
                  <a:srgbClr val="6E6E73"/>
                </a:solidFill>
                <a:latin typeface="Segoe UI"/>
              </a:rPr>
              <a:t>Roadmap</a:t>
            </a:r>
          </a:p>
        </p:txBody>
      </p:sp>
      <p:sp>
        <p:nvSpPr>
          <p:cNvPr id="4" name="!!navDemo"/>
          <p:cNvSpPr txBox="1"/>
          <p:nvPr/>
        </p:nvSpPr>
        <p:spPr>
          <a:xfrm>
            <a:off x="9951415" y="347472"/>
            <a:ext cx="566928" cy="274320"/>
          </a:xfrm>
          <a:prstGeom prst="rect">
            <a:avLst/>
          </a:prstGeom>
          <a:noFill/>
        </p:spPr>
        <p:txBody>
          <a:bodyPr wrap="square" lIns="0" tIns="0" rIns="0" bIns="0" anchor="t"/>
          <a:lstStyle/>
          <a:p>
            <a:pPr algn="ctr"/>
            <a:r>
              <a:rPr sz="1100" b="0">
                <a:solidFill>
                  <a:srgbClr val="6E6E73"/>
                </a:solidFill>
                <a:latin typeface="Segoe UI"/>
              </a:rPr>
              <a:t>Demo</a:t>
            </a:r>
          </a:p>
        </p:txBody>
      </p:sp>
      <p:sp>
        <p:nvSpPr>
          <p:cNvPr id="5" name="!!navSolution"/>
          <p:cNvSpPr txBox="1"/>
          <p:nvPr/>
        </p:nvSpPr>
        <p:spPr>
          <a:xfrm>
            <a:off x="9018727" y="347472"/>
            <a:ext cx="749808" cy="274320"/>
          </a:xfrm>
          <a:prstGeom prst="rect">
            <a:avLst/>
          </a:prstGeom>
          <a:noFill/>
        </p:spPr>
        <p:txBody>
          <a:bodyPr wrap="square" lIns="0" tIns="0" rIns="0" bIns="0" anchor="t"/>
          <a:lstStyle/>
          <a:p>
            <a:pPr algn="ctr"/>
            <a:r>
              <a:rPr sz="1100" b="0">
                <a:solidFill>
                  <a:srgbClr val="6E6E73"/>
                </a:solidFill>
                <a:latin typeface="Segoe UI"/>
              </a:rPr>
              <a:t>Solution</a:t>
            </a:r>
          </a:p>
        </p:txBody>
      </p:sp>
      <p:sp>
        <p:nvSpPr>
          <p:cNvPr id="6" name="!!navProblem"/>
          <p:cNvSpPr txBox="1"/>
          <p:nvPr/>
        </p:nvSpPr>
        <p:spPr>
          <a:xfrm>
            <a:off x="8104327" y="347472"/>
            <a:ext cx="731520" cy="274320"/>
          </a:xfrm>
          <a:prstGeom prst="rect">
            <a:avLst/>
          </a:prstGeom>
          <a:noFill/>
        </p:spPr>
        <p:txBody>
          <a:bodyPr wrap="square" lIns="0" tIns="0" rIns="0" bIns="0" anchor="t"/>
          <a:lstStyle/>
          <a:p>
            <a:pPr algn="ctr"/>
            <a:r>
              <a:rPr sz="1100" b="0">
                <a:solidFill>
                  <a:srgbClr val="6E6E73"/>
                </a:solidFill>
                <a:latin typeface="Segoe UI"/>
              </a:rPr>
              <a:t>Problem</a:t>
            </a:r>
          </a:p>
        </p:txBody>
      </p:sp>
      <p:sp>
        <p:nvSpPr>
          <p:cNvPr id="7" name="TextBox 6"/>
          <p:cNvSpPr txBox="1"/>
          <p:nvPr/>
        </p:nvSpPr>
        <p:spPr>
          <a:xfrm>
            <a:off x="685800" y="914400"/>
            <a:ext cx="10515600" cy="548640"/>
          </a:xfrm>
          <a:prstGeom prst="rect">
            <a:avLst/>
          </a:prstGeom>
          <a:noFill/>
        </p:spPr>
        <p:txBody>
          <a:bodyPr wrap="square" lIns="0" tIns="0" rIns="0" bIns="0" anchor="t"/>
          <a:lstStyle/>
          <a:p>
            <a:pPr algn="l">
              <a:lnSpc>
                <a:spcPct val="102000"/>
              </a:lnSpc>
            </a:pPr>
            <a:r>
              <a:rPr sz="2600" b="0">
                <a:solidFill>
                  <a:srgbClr val="0A0A0A"/>
                </a:solidFill>
                <a:latin typeface="Segoe UI"/>
              </a:rPr>
              <a:t>Backup. </a:t>
            </a:r>
            <a:r>
              <a:rPr sz="2600" b="0">
                <a:solidFill>
                  <a:srgbClr val="8E8E93"/>
                </a:solidFill>
                <a:latin typeface="Segoe UI"/>
              </a:rPr>
              <a:t>Numbers and sources.</a:t>
            </a:r>
          </a:p>
        </p:txBody>
      </p:sp>
      <p:sp>
        <p:nvSpPr>
          <p:cNvPr id="8" name="Rectangle 7"/>
          <p:cNvSpPr/>
          <p:nvPr/>
        </p:nvSpPr>
        <p:spPr>
          <a:xfrm>
            <a:off x="685800" y="1691640"/>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783080"/>
            <a:ext cx="3840480" cy="502920"/>
          </a:xfrm>
          <a:prstGeom prst="rect">
            <a:avLst/>
          </a:prstGeom>
          <a:noFill/>
        </p:spPr>
        <p:txBody>
          <a:bodyPr wrap="square" lIns="0" tIns="0" rIns="0" bIns="0" anchor="t"/>
          <a:lstStyle/>
          <a:p>
            <a:pPr algn="l">
              <a:lnSpc>
                <a:spcPct val="110000"/>
              </a:lnSpc>
            </a:pPr>
            <a:r>
              <a:rPr sz="1050" b="0">
                <a:solidFill>
                  <a:srgbClr val="0A0A0A"/>
                </a:solidFill>
                <a:latin typeface="Segoe UI Semibold"/>
              </a:rPr>
              <a:t>Jamshidi et al., HERD 18(2), 2025, doi:10.1177/19375867251317240</a:t>
            </a:r>
          </a:p>
        </p:txBody>
      </p:sp>
      <p:sp>
        <p:nvSpPr>
          <p:cNvPr id="10" name="TextBox 9"/>
          <p:cNvSpPr txBox="1"/>
          <p:nvPr/>
        </p:nvSpPr>
        <p:spPr>
          <a:xfrm>
            <a:off x="4709160" y="1783080"/>
            <a:ext cx="6796735" cy="548640"/>
          </a:xfrm>
          <a:prstGeom prst="rect">
            <a:avLst/>
          </a:prstGeom>
          <a:noFill/>
        </p:spPr>
        <p:txBody>
          <a:bodyPr wrap="square" lIns="0" tIns="0" rIns="0" bIns="0" anchor="t"/>
          <a:lstStyle/>
          <a:p>
            <a:pPr algn="l">
              <a:lnSpc>
                <a:spcPct val="115000"/>
              </a:lnSpc>
            </a:pPr>
            <a:r>
              <a:rPr sz="1050" b="0">
                <a:solidFill>
                  <a:srgbClr val="6E6E73"/>
                </a:solidFill>
                <a:latin typeface="Segoe UI"/>
              </a:rPr>
              <a:t>301 US hospital staff, self-reported: mean 31.8 min/week on wayfinding help (median 15), 6.9 min per help, 29 % walk people all the way, ~44 % faced incivility. 3 days a year: 31.8 min × 46 weeks ÷ 8 h (own calculation).</a:t>
            </a:r>
          </a:p>
        </p:txBody>
      </p:sp>
      <p:sp>
        <p:nvSpPr>
          <p:cNvPr id="11" name="Rectangle 10"/>
          <p:cNvSpPr/>
          <p:nvPr/>
        </p:nvSpPr>
        <p:spPr>
          <a:xfrm>
            <a:off x="685800" y="2313432"/>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404872"/>
            <a:ext cx="3840480" cy="502920"/>
          </a:xfrm>
          <a:prstGeom prst="rect">
            <a:avLst/>
          </a:prstGeom>
          <a:noFill/>
        </p:spPr>
        <p:txBody>
          <a:bodyPr wrap="square" lIns="0" tIns="0" rIns="0" bIns="0" anchor="t"/>
          <a:lstStyle/>
          <a:p>
            <a:pPr algn="l">
              <a:lnSpc>
                <a:spcPct val="110000"/>
              </a:lnSpc>
            </a:pPr>
            <a:r>
              <a:rPr sz="1050" b="0">
                <a:solidFill>
                  <a:srgbClr val="0A0A0A"/>
                </a:solidFill>
                <a:latin typeface="Segoe UI Semibold"/>
              </a:rPr>
              <a:t>Destatis, press releases 398 (Nov 2025) and 033 (Jan 2024)</a:t>
            </a:r>
          </a:p>
        </p:txBody>
      </p:sp>
      <p:sp>
        <p:nvSpPr>
          <p:cNvPr id="13" name="TextBox 12"/>
          <p:cNvSpPr txBox="1"/>
          <p:nvPr/>
        </p:nvSpPr>
        <p:spPr>
          <a:xfrm>
            <a:off x="4709160" y="2404872"/>
            <a:ext cx="6796735" cy="548640"/>
          </a:xfrm>
          <a:prstGeom prst="rect">
            <a:avLst/>
          </a:prstGeom>
          <a:noFill/>
        </p:spPr>
        <p:txBody>
          <a:bodyPr wrap="square" lIns="0" tIns="0" rIns="0" bIns="0" anchor="t"/>
          <a:lstStyle/>
          <a:p>
            <a:pPr algn="l">
              <a:lnSpc>
                <a:spcPct val="115000"/>
              </a:lnSpc>
            </a:pPr>
            <a:r>
              <a:rPr sz="1050" b="0">
                <a:solidFill>
                  <a:srgbClr val="6E6E73"/>
                </a:solidFill>
                <a:latin typeface="Segoe UI"/>
              </a:rPr>
              <a:t>1,841 hospitals, about 17.5 million inpatient cases in Germany, 2024. 280,000 to 690,000 nursing staff expected to be missing by 2049.</a:t>
            </a:r>
          </a:p>
        </p:txBody>
      </p:sp>
      <p:sp>
        <p:nvSpPr>
          <p:cNvPr id="14" name="Rectangle 13"/>
          <p:cNvSpPr/>
          <p:nvPr/>
        </p:nvSpPr>
        <p:spPr>
          <a:xfrm>
            <a:off x="685800" y="2935224"/>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026664"/>
            <a:ext cx="3840480" cy="502920"/>
          </a:xfrm>
          <a:prstGeom prst="rect">
            <a:avLst/>
          </a:prstGeom>
          <a:noFill/>
        </p:spPr>
        <p:txBody>
          <a:bodyPr wrap="square" lIns="0" tIns="0" rIns="0" bIns="0" anchor="t"/>
          <a:lstStyle/>
          <a:p>
            <a:pPr algn="l">
              <a:lnSpc>
                <a:spcPct val="110000"/>
              </a:lnSpc>
            </a:pPr>
            <a:r>
              <a:rPr sz="1050" b="0">
                <a:solidFill>
                  <a:srgbClr val="0A0A0A"/>
                </a:solidFill>
                <a:latin typeface="Segoe UI Semibold"/>
              </a:rPr>
              <a:t>Destatis table 23131-b01 (own calculation)</a:t>
            </a:r>
          </a:p>
        </p:txBody>
      </p:sp>
      <p:sp>
        <p:nvSpPr>
          <p:cNvPr id="16" name="TextBox 15"/>
          <p:cNvSpPr txBox="1"/>
          <p:nvPr/>
        </p:nvSpPr>
        <p:spPr>
          <a:xfrm>
            <a:off x="4709160" y="3026664"/>
            <a:ext cx="6796735" cy="548640"/>
          </a:xfrm>
          <a:prstGeom prst="rect">
            <a:avLst/>
          </a:prstGeom>
          <a:noFill/>
        </p:spPr>
        <p:txBody>
          <a:bodyPr wrap="square" lIns="0" tIns="0" rIns="0" bIns="0" anchor="t"/>
          <a:lstStyle/>
          <a:p>
            <a:pPr algn="l">
              <a:lnSpc>
                <a:spcPct val="115000"/>
              </a:lnSpc>
            </a:pPr>
            <a:r>
              <a:rPr sz="1050" b="0">
                <a:solidFill>
                  <a:srgbClr val="6E6E73"/>
                </a:solidFill>
                <a:latin typeface="Segoe UI"/>
              </a:rPr>
              <a:t>47 % of 2024 inpatient cases were people aged 65+.</a:t>
            </a:r>
          </a:p>
        </p:txBody>
      </p:sp>
      <p:sp>
        <p:nvSpPr>
          <p:cNvPr id="17" name="Rectangle 16"/>
          <p:cNvSpPr/>
          <p:nvPr/>
        </p:nvSpPr>
        <p:spPr>
          <a:xfrm>
            <a:off x="685800" y="3557016"/>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3648456"/>
            <a:ext cx="3840480" cy="502920"/>
          </a:xfrm>
          <a:prstGeom prst="rect">
            <a:avLst/>
          </a:prstGeom>
          <a:noFill/>
        </p:spPr>
        <p:txBody>
          <a:bodyPr wrap="square" lIns="0" tIns="0" rIns="0" bIns="0" anchor="t"/>
          <a:lstStyle/>
          <a:p>
            <a:pPr algn="l">
              <a:lnSpc>
                <a:spcPct val="110000"/>
              </a:lnSpc>
            </a:pPr>
            <a:r>
              <a:rPr sz="1050" b="0">
                <a:solidFill>
                  <a:srgbClr val="0A0A0A"/>
                </a:solidFill>
                <a:latin typeface="Segoe UI Semibold"/>
              </a:rPr>
              <a:t>EDPB Guidelines 3/2019 · MDR (EU) 2017/745</a:t>
            </a:r>
          </a:p>
        </p:txBody>
      </p:sp>
      <p:sp>
        <p:nvSpPr>
          <p:cNvPr id="19" name="TextBox 18"/>
          <p:cNvSpPr txBox="1"/>
          <p:nvPr/>
        </p:nvSpPr>
        <p:spPr>
          <a:xfrm>
            <a:off x="4709160" y="3648456"/>
            <a:ext cx="6796735" cy="548640"/>
          </a:xfrm>
          <a:prstGeom prst="rect">
            <a:avLst/>
          </a:prstGeom>
          <a:noFill/>
        </p:spPr>
        <p:txBody>
          <a:bodyPr wrap="square" lIns="0" tIns="0" rIns="0" bIns="0" anchor="t"/>
          <a:lstStyle/>
          <a:p>
            <a:pPr algn="l">
              <a:lnSpc>
                <a:spcPct val="115000"/>
              </a:lnSpc>
            </a:pPr>
            <a:r>
              <a:rPr sz="1050" b="0">
                <a:solidFill>
                  <a:srgbClr val="6E6E73"/>
                </a:solidFill>
                <a:latin typeface="Segoe UI"/>
              </a:rPr>
              <a:t>Detecting a person without identifying them is not Art. 9 biometric data. Navigation-only is likely not a medical device (Art. 2(1), Recital 19); needs a proper check.</a:t>
            </a:r>
          </a:p>
        </p:txBody>
      </p:sp>
      <p:sp>
        <p:nvSpPr>
          <p:cNvPr id="20" name="Rectangle 19"/>
          <p:cNvSpPr/>
          <p:nvPr/>
        </p:nvSpPr>
        <p:spPr>
          <a:xfrm>
            <a:off x="685800" y="4178808"/>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4270248"/>
            <a:ext cx="3840480" cy="502920"/>
          </a:xfrm>
          <a:prstGeom prst="rect">
            <a:avLst/>
          </a:prstGeom>
          <a:noFill/>
        </p:spPr>
        <p:txBody>
          <a:bodyPr wrap="square" lIns="0" tIns="0" rIns="0" bIns="0" anchor="t"/>
          <a:lstStyle/>
          <a:p>
            <a:pPr algn="l">
              <a:lnSpc>
                <a:spcPct val="110000"/>
              </a:lnSpc>
            </a:pPr>
            <a:r>
              <a:rPr sz="1050" b="0">
                <a:solidFill>
                  <a:srgbClr val="0A0A0A"/>
                </a:solidFill>
                <a:latin typeface="Segoe UI Semibold"/>
              </a:rPr>
              <a:t>IFR World Robotics 2025, press release 7 Oct 2025</a:t>
            </a:r>
          </a:p>
        </p:txBody>
      </p:sp>
      <p:sp>
        <p:nvSpPr>
          <p:cNvPr id="22" name="TextBox 21"/>
          <p:cNvSpPr txBox="1"/>
          <p:nvPr/>
        </p:nvSpPr>
        <p:spPr>
          <a:xfrm>
            <a:off x="4709160" y="4270248"/>
            <a:ext cx="6796735" cy="548640"/>
          </a:xfrm>
          <a:prstGeom prst="rect">
            <a:avLst/>
          </a:prstGeom>
          <a:noFill/>
        </p:spPr>
        <p:txBody>
          <a:bodyPr wrap="square" lIns="0" tIns="0" rIns="0" bIns="0" anchor="t"/>
          <a:lstStyle/>
          <a:p>
            <a:pPr algn="l">
              <a:lnSpc>
                <a:spcPct val="115000"/>
              </a:lnSpc>
            </a:pPr>
            <a:r>
              <a:rPr sz="1050" b="0">
                <a:solidFill>
                  <a:srgbClr val="6E6E73"/>
                </a:solidFill>
                <a:latin typeface="Segoe UI"/>
              </a:rPr>
              <a:t>Almost 200,000 professional service robots sold in 2024 (+9 %); medical robots +91 % to about 16,700; robot-as-a-service fleet +31 %.</a:t>
            </a:r>
          </a:p>
        </p:txBody>
      </p:sp>
      <p:sp>
        <p:nvSpPr>
          <p:cNvPr id="23" name="Rectangle 22"/>
          <p:cNvSpPr/>
          <p:nvPr/>
        </p:nvSpPr>
        <p:spPr>
          <a:xfrm>
            <a:off x="685800" y="4800600"/>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4892040"/>
            <a:ext cx="3840480" cy="502920"/>
          </a:xfrm>
          <a:prstGeom prst="rect">
            <a:avLst/>
          </a:prstGeom>
          <a:noFill/>
        </p:spPr>
        <p:txBody>
          <a:bodyPr wrap="square" lIns="0" tIns="0" rIns="0" bIns="0" anchor="t"/>
          <a:lstStyle/>
          <a:p>
            <a:pPr algn="l">
              <a:lnSpc>
                <a:spcPct val="110000"/>
              </a:lnSpc>
            </a:pPr>
            <a:r>
              <a:rPr sz="1050" b="0">
                <a:solidFill>
                  <a:srgbClr val="0A0A0A"/>
                </a:solidFill>
                <a:latin typeface="Segoe UI Semibold"/>
              </a:rPr>
              <a:t>The Business Research Company, Smart Hospital Wayfinding Robot Global Market Report</a:t>
            </a:r>
          </a:p>
        </p:txBody>
      </p:sp>
      <p:sp>
        <p:nvSpPr>
          <p:cNvPr id="25" name="TextBox 24"/>
          <p:cNvSpPr txBox="1"/>
          <p:nvPr/>
        </p:nvSpPr>
        <p:spPr>
          <a:xfrm>
            <a:off x="4709160" y="4892040"/>
            <a:ext cx="6796735" cy="548640"/>
          </a:xfrm>
          <a:prstGeom prst="rect">
            <a:avLst/>
          </a:prstGeom>
          <a:noFill/>
        </p:spPr>
        <p:txBody>
          <a:bodyPr wrap="square" lIns="0" tIns="0" rIns="0" bIns="0" anchor="t"/>
          <a:lstStyle/>
          <a:p>
            <a:pPr algn="l">
              <a:lnSpc>
                <a:spcPct val="115000"/>
              </a:lnSpc>
            </a:pPr>
            <a:r>
              <a:rPr sz="1050" b="0">
                <a:solidFill>
                  <a:srgbClr val="6E6E73"/>
                </a:solidFill>
                <a:latin typeface="Segoe UI"/>
              </a:rPr>
              <a:t>$1.0B in 2025, $1.17B in 2026, $2.17B in 2030 (CAGR about 17 %). A single market-report estimate.</a:t>
            </a:r>
          </a:p>
        </p:txBody>
      </p:sp>
      <p:sp>
        <p:nvSpPr>
          <p:cNvPr id="26" name="Rectangle 25"/>
          <p:cNvSpPr/>
          <p:nvPr/>
        </p:nvSpPr>
        <p:spPr>
          <a:xfrm>
            <a:off x="685800" y="5422392"/>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5513831"/>
            <a:ext cx="3840480" cy="502920"/>
          </a:xfrm>
          <a:prstGeom prst="rect">
            <a:avLst/>
          </a:prstGeom>
          <a:noFill/>
        </p:spPr>
        <p:txBody>
          <a:bodyPr wrap="square" lIns="0" tIns="0" rIns="0" bIns="0" anchor="t"/>
          <a:lstStyle/>
          <a:p>
            <a:pPr algn="l">
              <a:lnSpc>
                <a:spcPct val="110000"/>
              </a:lnSpc>
            </a:pPr>
            <a:r>
              <a:rPr sz="1050" b="0">
                <a:solidFill>
                  <a:srgbClr val="0A0A0A"/>
                </a:solidFill>
                <a:latin typeface="Segoe UI Semibold"/>
              </a:rPr>
              <a:t>Illustrative value, not measured</a:t>
            </a:r>
          </a:p>
        </p:txBody>
      </p:sp>
      <p:sp>
        <p:nvSpPr>
          <p:cNvPr id="28" name="TextBox 27"/>
          <p:cNvSpPr txBox="1"/>
          <p:nvPr/>
        </p:nvSpPr>
        <p:spPr>
          <a:xfrm>
            <a:off x="4709160" y="5513831"/>
            <a:ext cx="6796735" cy="548640"/>
          </a:xfrm>
          <a:prstGeom prst="rect">
            <a:avLst/>
          </a:prstGeom>
          <a:noFill/>
        </p:spPr>
        <p:txBody>
          <a:bodyPr wrap="square" lIns="0" tIns="0" rIns="0" bIns="0" anchor="t"/>
          <a:lstStyle/>
          <a:p>
            <a:pPr algn="l">
              <a:lnSpc>
                <a:spcPct val="115000"/>
              </a:lnSpc>
            </a:pPr>
            <a:r>
              <a:rPr sz="1050" b="0">
                <a:solidFill>
                  <a:srgbClr val="6E6E73"/>
                </a:solidFill>
                <a:latin typeface="Segoe UI"/>
              </a:rPr>
              <a:t>25 walks a day × 3 min saved × 250 days ≈ 312 h staff time per robot per year (≈ €9,375 at €30/h). Robot cost not included.</a:t>
            </a:r>
          </a:p>
        </p:txBody>
      </p:sp>
      <p:sp>
        <p:nvSpPr>
          <p:cNvPr id="29" name="Rectangle 28"/>
          <p:cNvSpPr/>
          <p:nvPr/>
        </p:nvSpPr>
        <p:spPr>
          <a:xfrm>
            <a:off x="685800" y="6044183"/>
            <a:ext cx="10820095" cy="9525"/>
          </a:xfrm>
          <a:prstGeom prst="rect">
            <a:avLst/>
          </a:prstGeom>
          <a:solidFill>
            <a:srgbClr val="E5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3165</Words>
  <Application>Microsoft Office PowerPoint</Application>
  <PresentationFormat>Widescreen</PresentationFormat>
  <Paragraphs>456</Paragraphs>
  <Slides>21</Slides>
  <Notes>21</Notes>
  <HiddenSlides>0</HiddenSlides>
  <MMClips>4</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Calibri</vt:lpstr>
      <vt:lpstr>Segoe UI</vt:lpstr>
      <vt:lpstr>Arial</vt:lpstr>
      <vt:lpstr>Segoe UI Semibold</vt:lpstr>
      <vt:lpstr>Segoe UI Semilight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Nguyen Trong The Vinh</cp:lastModifiedBy>
  <cp:revision>5</cp:revision>
  <dcterms:created xsi:type="dcterms:W3CDTF">2013-01-27T09:14:16Z</dcterms:created>
  <dcterms:modified xsi:type="dcterms:W3CDTF">2026-10-18T08:29:30Z</dcterms:modified>
  <cp:category/>
</cp:coreProperties>
</file>